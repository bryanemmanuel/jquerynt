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9" r:id="rId32"/>
    <p:sldId id="290" r:id="rId33"/>
    <p:sldId id="291" r:id="rId34"/>
    <p:sldId id="292" r:id="rId35"/>
    <p:sldId id="293" r:id="rId36"/>
    <p:sldId id="294" r:id="rId37"/>
    <p:sldId id="286" r:id="rId38"/>
    <p:sldId id="287" r:id="rId39"/>
    <p:sldId id="288"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embeddedFontLst>
    <p:embeddedFont>
      <p:font typeface="Aldrich" panose="020B0604020202020204" charset="0"/>
      <p:regular r:id="rId69"/>
    </p:embeddedFont>
    <p:embeddedFont>
      <p:font typeface="Consolas" panose="020B0609020204030204" pitchFamily="49" charset="0"/>
      <p:regular r:id="rId70"/>
      <p:bold r:id="rId71"/>
      <p:italic r:id="rId72"/>
      <p:boldItalic r:id="rId73"/>
    </p:embeddedFont>
    <p:embeddedFont>
      <p:font typeface="Open Sans" panose="020B0606030504020204" pitchFamily="34" charset="0"/>
      <p:regular r:id="rId74"/>
      <p:bold r:id="rId75"/>
      <p:italic r:id="rId76"/>
      <p:boldItalic r:id="rId77"/>
    </p:embeddedFont>
    <p:embeddedFont>
      <p:font typeface="Poppins" panose="00000500000000000000" pitchFamily="2" charset="0"/>
      <p:regular r:id="rId78"/>
      <p:bold r:id="rId79"/>
      <p:italic r:id="rId80"/>
      <p:boldItalic r:id="rId81"/>
    </p:embeddedFont>
    <p:embeddedFont>
      <p:font typeface="Verdana" panose="020B060403050404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6" roundtripDataSignature="AMtx7mhY+Eennwy5zo1+Ey7g33gU9jZD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84" Type="http://schemas.openxmlformats.org/officeDocument/2006/relationships/font" Target="fonts/font16.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font" Target="fonts/font11.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font" Target="fonts/font12.fntdata"/><Relationship Id="rId85"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font" Target="fonts/font15.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font" Target="fonts/font13.fntdata"/><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14.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6550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93033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82272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8" name="Google Shape;438;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 name="Google Shape;44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6" name="Google Shape;486;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1" name="Google Shape;51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9" name="Google Shape;519;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8" name="Google Shape;53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8" name="Google Shape;54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1" name="Google Shape;561;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0" name="Google Shape;570;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0" name="Google Shape;590;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0" name="Google Shape;610;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9" name="Google Shape;619;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5" name="Google Shape;625;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8" name="Google Shape;638;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9" name="Google Shape;649;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0" name="Google Shape;660;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0" name="Google Shape;670;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1" name="Google Shape;691;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68"/>
          <p:cNvGrpSpPr/>
          <p:nvPr/>
        </p:nvGrpSpPr>
        <p:grpSpPr>
          <a:xfrm>
            <a:off x="346800" y="255600"/>
            <a:ext cx="8450400" cy="4632300"/>
            <a:chOff x="346800" y="255600"/>
            <a:chExt cx="8450400" cy="4632300"/>
          </a:xfrm>
        </p:grpSpPr>
        <p:sp>
          <p:nvSpPr>
            <p:cNvPr id="10" name="Google Shape;10;p68"/>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1" name="Google Shape;11;p68"/>
            <p:cNvSpPr/>
            <p:nvPr/>
          </p:nvSpPr>
          <p:spPr>
            <a:xfrm>
              <a:off x="346800" y="255600"/>
              <a:ext cx="8450400" cy="4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2" name="Google Shape;12;p68"/>
            <p:cNvGrpSpPr/>
            <p:nvPr/>
          </p:nvGrpSpPr>
          <p:grpSpPr>
            <a:xfrm>
              <a:off x="8111150" y="433000"/>
              <a:ext cx="426200" cy="106500"/>
              <a:chOff x="1739575" y="4109150"/>
              <a:chExt cx="426200" cy="106500"/>
            </a:xfrm>
          </p:grpSpPr>
          <p:sp>
            <p:nvSpPr>
              <p:cNvPr id="13" name="Google Shape;13;p68"/>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4" name="Google Shape;14;p68"/>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5" name="Google Shape;15;p68"/>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16" name="Google Shape;16;p68"/>
          <p:cNvSpPr txBox="1">
            <a:spLocks noGrp="1"/>
          </p:cNvSpPr>
          <p:nvPr>
            <p:ph type="ctrTitle"/>
          </p:nvPr>
        </p:nvSpPr>
        <p:spPr>
          <a:xfrm>
            <a:off x="1244925" y="1205975"/>
            <a:ext cx="3542100" cy="30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7" name="Google Shape;17;p68"/>
          <p:cNvSpPr txBox="1">
            <a:spLocks noGrp="1"/>
          </p:cNvSpPr>
          <p:nvPr>
            <p:ph type="subTitle" idx="1"/>
          </p:nvPr>
        </p:nvSpPr>
        <p:spPr>
          <a:xfrm>
            <a:off x="5318725" y="3074550"/>
            <a:ext cx="2497200" cy="1044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8" name="Google Shape;18;p68"/>
          <p:cNvGrpSpPr/>
          <p:nvPr/>
        </p:nvGrpSpPr>
        <p:grpSpPr>
          <a:xfrm>
            <a:off x="496925" y="855351"/>
            <a:ext cx="8150150" cy="3748650"/>
            <a:chOff x="496925" y="855351"/>
            <a:chExt cx="8150150" cy="3748650"/>
          </a:xfrm>
        </p:grpSpPr>
        <p:sp>
          <p:nvSpPr>
            <p:cNvPr id="19" name="Google Shape;19;p68"/>
            <p:cNvSpPr txBox="1"/>
            <p:nvPr/>
          </p:nvSpPr>
          <p:spPr>
            <a:xfrm>
              <a:off x="8430775" y="85535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1010010101001010</a:t>
              </a:r>
              <a:endParaRPr sz="1000" b="0" i="0" u="none" strike="noStrike" cap="none">
                <a:solidFill>
                  <a:schemeClr val="dk1"/>
                </a:solidFill>
                <a:latin typeface="Open Sans"/>
                <a:ea typeface="Open Sans"/>
                <a:cs typeface="Open Sans"/>
                <a:sym typeface="Open Sans"/>
              </a:endParaRPr>
            </a:p>
          </p:txBody>
        </p:sp>
        <p:sp>
          <p:nvSpPr>
            <p:cNvPr id="20" name="Google Shape;20;p68"/>
            <p:cNvSpPr txBox="1"/>
            <p:nvPr/>
          </p:nvSpPr>
          <p:spPr>
            <a:xfrm>
              <a:off x="496925" y="204620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1001010101010100</a:t>
              </a:r>
              <a:endParaRPr sz="1000" b="0" i="0" u="none" strike="noStrike" cap="none">
                <a:solidFill>
                  <a:schemeClr val="dk1"/>
                </a:solidFill>
                <a:latin typeface="Open Sans"/>
                <a:ea typeface="Open Sans"/>
                <a:cs typeface="Open Sans"/>
                <a:sym typeface="Open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1"/>
        <p:cNvGrpSpPr/>
        <p:nvPr/>
      </p:nvGrpSpPr>
      <p:grpSpPr>
        <a:xfrm>
          <a:off x="0" y="0"/>
          <a:ext cx="0" cy="0"/>
          <a:chOff x="0" y="0"/>
          <a:chExt cx="0" cy="0"/>
        </a:xfrm>
      </p:grpSpPr>
      <p:grpSp>
        <p:nvGrpSpPr>
          <p:cNvPr id="22" name="Google Shape;22;p69"/>
          <p:cNvGrpSpPr/>
          <p:nvPr/>
        </p:nvGrpSpPr>
        <p:grpSpPr>
          <a:xfrm>
            <a:off x="346800" y="255600"/>
            <a:ext cx="8450400" cy="4632300"/>
            <a:chOff x="346800" y="255600"/>
            <a:chExt cx="8450400" cy="4632300"/>
          </a:xfrm>
        </p:grpSpPr>
        <p:sp>
          <p:nvSpPr>
            <p:cNvPr id="23" name="Google Shape;23;p69"/>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4" name="Google Shape;24;p69"/>
            <p:cNvSpPr/>
            <p:nvPr/>
          </p:nvSpPr>
          <p:spPr>
            <a:xfrm>
              <a:off x="346800" y="255600"/>
              <a:ext cx="8450400" cy="4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5" name="Google Shape;25;p69"/>
            <p:cNvGrpSpPr/>
            <p:nvPr/>
          </p:nvGrpSpPr>
          <p:grpSpPr>
            <a:xfrm>
              <a:off x="8111150" y="433000"/>
              <a:ext cx="426200" cy="106500"/>
              <a:chOff x="1739575" y="4109150"/>
              <a:chExt cx="426200" cy="106500"/>
            </a:xfrm>
          </p:grpSpPr>
          <p:sp>
            <p:nvSpPr>
              <p:cNvPr id="26" name="Google Shape;26;p69"/>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7" name="Google Shape;27;p69"/>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8" name="Google Shape;28;p69"/>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29" name="Google Shape;29;p69"/>
          <p:cNvSpPr txBox="1">
            <a:spLocks noGrp="1"/>
          </p:cNvSpPr>
          <p:nvPr>
            <p:ph type="subTitle" idx="1"/>
          </p:nvPr>
        </p:nvSpPr>
        <p:spPr>
          <a:xfrm>
            <a:off x="851225" y="3081200"/>
            <a:ext cx="2348100" cy="1294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30" name="Google Shape;30;p69"/>
          <p:cNvSpPr txBox="1">
            <a:spLocks noGrp="1"/>
          </p:cNvSpPr>
          <p:nvPr>
            <p:ph type="subTitle" idx="2"/>
          </p:nvPr>
        </p:nvSpPr>
        <p:spPr>
          <a:xfrm>
            <a:off x="3397950" y="3081200"/>
            <a:ext cx="2348100" cy="1294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31" name="Google Shape;31;p69"/>
          <p:cNvSpPr txBox="1">
            <a:spLocks noGrp="1"/>
          </p:cNvSpPr>
          <p:nvPr>
            <p:ph type="subTitle" idx="3"/>
          </p:nvPr>
        </p:nvSpPr>
        <p:spPr>
          <a:xfrm>
            <a:off x="5944675" y="3081201"/>
            <a:ext cx="2348100" cy="1294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32" name="Google Shape;32;p69"/>
          <p:cNvSpPr txBox="1">
            <a:spLocks noGrp="1"/>
          </p:cNvSpPr>
          <p:nvPr>
            <p:ph type="subTitle" idx="4"/>
          </p:nvPr>
        </p:nvSpPr>
        <p:spPr>
          <a:xfrm>
            <a:off x="851225" y="2256425"/>
            <a:ext cx="2348100" cy="80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Aldrich"/>
              <a:buNone/>
              <a:defRPr sz="2000" b="1">
                <a:solidFill>
                  <a:schemeClr val="dk1"/>
                </a:solidFill>
                <a:latin typeface="Aldrich"/>
                <a:ea typeface="Aldrich"/>
                <a:cs typeface="Aldrich"/>
                <a:sym typeface="Aldrich"/>
              </a:defRPr>
            </a:lvl1pPr>
            <a:lvl2pPr lvl="1" algn="ctr">
              <a:lnSpc>
                <a:spcPct val="100000"/>
              </a:lnSpc>
              <a:spcBef>
                <a:spcPts val="0"/>
              </a:spcBef>
              <a:spcAft>
                <a:spcPts val="0"/>
              </a:spcAft>
              <a:buSzPts val="2400"/>
              <a:buFont typeface="Aldrich"/>
              <a:buNone/>
              <a:defRPr sz="2400" b="1">
                <a:latin typeface="Aldrich"/>
                <a:ea typeface="Aldrich"/>
                <a:cs typeface="Aldrich"/>
                <a:sym typeface="Aldrich"/>
              </a:defRPr>
            </a:lvl2pPr>
            <a:lvl3pPr lvl="2" algn="ctr">
              <a:lnSpc>
                <a:spcPct val="100000"/>
              </a:lnSpc>
              <a:spcBef>
                <a:spcPts val="0"/>
              </a:spcBef>
              <a:spcAft>
                <a:spcPts val="0"/>
              </a:spcAft>
              <a:buSzPts val="2400"/>
              <a:buFont typeface="Aldrich"/>
              <a:buNone/>
              <a:defRPr sz="2400" b="1">
                <a:latin typeface="Aldrich"/>
                <a:ea typeface="Aldrich"/>
                <a:cs typeface="Aldrich"/>
                <a:sym typeface="Aldrich"/>
              </a:defRPr>
            </a:lvl3pPr>
            <a:lvl4pPr lvl="3" algn="ctr">
              <a:lnSpc>
                <a:spcPct val="100000"/>
              </a:lnSpc>
              <a:spcBef>
                <a:spcPts val="0"/>
              </a:spcBef>
              <a:spcAft>
                <a:spcPts val="0"/>
              </a:spcAft>
              <a:buSzPts val="2400"/>
              <a:buFont typeface="Aldrich"/>
              <a:buNone/>
              <a:defRPr sz="2400" b="1">
                <a:latin typeface="Aldrich"/>
                <a:ea typeface="Aldrich"/>
                <a:cs typeface="Aldrich"/>
                <a:sym typeface="Aldrich"/>
              </a:defRPr>
            </a:lvl4pPr>
            <a:lvl5pPr lvl="4" algn="ctr">
              <a:lnSpc>
                <a:spcPct val="100000"/>
              </a:lnSpc>
              <a:spcBef>
                <a:spcPts val="0"/>
              </a:spcBef>
              <a:spcAft>
                <a:spcPts val="0"/>
              </a:spcAft>
              <a:buSzPts val="2400"/>
              <a:buFont typeface="Aldrich"/>
              <a:buNone/>
              <a:defRPr sz="2400" b="1">
                <a:latin typeface="Aldrich"/>
                <a:ea typeface="Aldrich"/>
                <a:cs typeface="Aldrich"/>
                <a:sym typeface="Aldrich"/>
              </a:defRPr>
            </a:lvl5pPr>
            <a:lvl6pPr lvl="5" algn="ctr">
              <a:lnSpc>
                <a:spcPct val="100000"/>
              </a:lnSpc>
              <a:spcBef>
                <a:spcPts val="0"/>
              </a:spcBef>
              <a:spcAft>
                <a:spcPts val="0"/>
              </a:spcAft>
              <a:buSzPts val="2400"/>
              <a:buFont typeface="Aldrich"/>
              <a:buNone/>
              <a:defRPr sz="2400" b="1">
                <a:latin typeface="Aldrich"/>
                <a:ea typeface="Aldrich"/>
                <a:cs typeface="Aldrich"/>
                <a:sym typeface="Aldrich"/>
              </a:defRPr>
            </a:lvl6pPr>
            <a:lvl7pPr lvl="6" algn="ctr">
              <a:lnSpc>
                <a:spcPct val="100000"/>
              </a:lnSpc>
              <a:spcBef>
                <a:spcPts val="0"/>
              </a:spcBef>
              <a:spcAft>
                <a:spcPts val="0"/>
              </a:spcAft>
              <a:buSzPts val="2400"/>
              <a:buFont typeface="Aldrich"/>
              <a:buNone/>
              <a:defRPr sz="2400" b="1">
                <a:latin typeface="Aldrich"/>
                <a:ea typeface="Aldrich"/>
                <a:cs typeface="Aldrich"/>
                <a:sym typeface="Aldrich"/>
              </a:defRPr>
            </a:lvl7pPr>
            <a:lvl8pPr lvl="7" algn="ctr">
              <a:lnSpc>
                <a:spcPct val="100000"/>
              </a:lnSpc>
              <a:spcBef>
                <a:spcPts val="0"/>
              </a:spcBef>
              <a:spcAft>
                <a:spcPts val="0"/>
              </a:spcAft>
              <a:buSzPts val="2400"/>
              <a:buFont typeface="Aldrich"/>
              <a:buNone/>
              <a:defRPr sz="2400" b="1">
                <a:latin typeface="Aldrich"/>
                <a:ea typeface="Aldrich"/>
                <a:cs typeface="Aldrich"/>
                <a:sym typeface="Aldrich"/>
              </a:defRPr>
            </a:lvl8pPr>
            <a:lvl9pPr lvl="8" algn="ctr">
              <a:lnSpc>
                <a:spcPct val="100000"/>
              </a:lnSpc>
              <a:spcBef>
                <a:spcPts val="0"/>
              </a:spcBef>
              <a:spcAft>
                <a:spcPts val="0"/>
              </a:spcAft>
              <a:buSzPts val="2400"/>
              <a:buFont typeface="Aldrich"/>
              <a:buNone/>
              <a:defRPr sz="2400" b="1">
                <a:latin typeface="Aldrich"/>
                <a:ea typeface="Aldrich"/>
                <a:cs typeface="Aldrich"/>
                <a:sym typeface="Aldrich"/>
              </a:defRPr>
            </a:lvl9pPr>
          </a:lstStyle>
          <a:p>
            <a:endParaRPr/>
          </a:p>
        </p:txBody>
      </p:sp>
      <p:sp>
        <p:nvSpPr>
          <p:cNvPr id="33" name="Google Shape;33;p69"/>
          <p:cNvSpPr txBox="1">
            <a:spLocks noGrp="1"/>
          </p:cNvSpPr>
          <p:nvPr>
            <p:ph type="subTitle" idx="5"/>
          </p:nvPr>
        </p:nvSpPr>
        <p:spPr>
          <a:xfrm>
            <a:off x="3397954" y="2256425"/>
            <a:ext cx="2348100" cy="80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Aldrich"/>
              <a:buNone/>
              <a:defRPr sz="2000" b="1">
                <a:solidFill>
                  <a:schemeClr val="dk1"/>
                </a:solidFill>
                <a:latin typeface="Aldrich"/>
                <a:ea typeface="Aldrich"/>
                <a:cs typeface="Aldrich"/>
                <a:sym typeface="Aldrich"/>
              </a:defRPr>
            </a:lvl1pPr>
            <a:lvl2pPr lvl="1" algn="ctr">
              <a:lnSpc>
                <a:spcPct val="100000"/>
              </a:lnSpc>
              <a:spcBef>
                <a:spcPts val="0"/>
              </a:spcBef>
              <a:spcAft>
                <a:spcPts val="0"/>
              </a:spcAft>
              <a:buSzPts val="2400"/>
              <a:buFont typeface="Aldrich"/>
              <a:buNone/>
              <a:defRPr sz="2400" b="1">
                <a:latin typeface="Aldrich"/>
                <a:ea typeface="Aldrich"/>
                <a:cs typeface="Aldrich"/>
                <a:sym typeface="Aldrich"/>
              </a:defRPr>
            </a:lvl2pPr>
            <a:lvl3pPr lvl="2" algn="ctr">
              <a:lnSpc>
                <a:spcPct val="100000"/>
              </a:lnSpc>
              <a:spcBef>
                <a:spcPts val="0"/>
              </a:spcBef>
              <a:spcAft>
                <a:spcPts val="0"/>
              </a:spcAft>
              <a:buSzPts val="2400"/>
              <a:buFont typeface="Aldrich"/>
              <a:buNone/>
              <a:defRPr sz="2400" b="1">
                <a:latin typeface="Aldrich"/>
                <a:ea typeface="Aldrich"/>
                <a:cs typeface="Aldrich"/>
                <a:sym typeface="Aldrich"/>
              </a:defRPr>
            </a:lvl3pPr>
            <a:lvl4pPr lvl="3" algn="ctr">
              <a:lnSpc>
                <a:spcPct val="100000"/>
              </a:lnSpc>
              <a:spcBef>
                <a:spcPts val="0"/>
              </a:spcBef>
              <a:spcAft>
                <a:spcPts val="0"/>
              </a:spcAft>
              <a:buSzPts val="2400"/>
              <a:buFont typeface="Aldrich"/>
              <a:buNone/>
              <a:defRPr sz="2400" b="1">
                <a:latin typeface="Aldrich"/>
                <a:ea typeface="Aldrich"/>
                <a:cs typeface="Aldrich"/>
                <a:sym typeface="Aldrich"/>
              </a:defRPr>
            </a:lvl4pPr>
            <a:lvl5pPr lvl="4" algn="ctr">
              <a:lnSpc>
                <a:spcPct val="100000"/>
              </a:lnSpc>
              <a:spcBef>
                <a:spcPts val="0"/>
              </a:spcBef>
              <a:spcAft>
                <a:spcPts val="0"/>
              </a:spcAft>
              <a:buSzPts val="2400"/>
              <a:buFont typeface="Aldrich"/>
              <a:buNone/>
              <a:defRPr sz="2400" b="1">
                <a:latin typeface="Aldrich"/>
                <a:ea typeface="Aldrich"/>
                <a:cs typeface="Aldrich"/>
                <a:sym typeface="Aldrich"/>
              </a:defRPr>
            </a:lvl5pPr>
            <a:lvl6pPr lvl="5" algn="ctr">
              <a:lnSpc>
                <a:spcPct val="100000"/>
              </a:lnSpc>
              <a:spcBef>
                <a:spcPts val="0"/>
              </a:spcBef>
              <a:spcAft>
                <a:spcPts val="0"/>
              </a:spcAft>
              <a:buSzPts val="2400"/>
              <a:buFont typeface="Aldrich"/>
              <a:buNone/>
              <a:defRPr sz="2400" b="1">
                <a:latin typeface="Aldrich"/>
                <a:ea typeface="Aldrich"/>
                <a:cs typeface="Aldrich"/>
                <a:sym typeface="Aldrich"/>
              </a:defRPr>
            </a:lvl6pPr>
            <a:lvl7pPr lvl="6" algn="ctr">
              <a:lnSpc>
                <a:spcPct val="100000"/>
              </a:lnSpc>
              <a:spcBef>
                <a:spcPts val="0"/>
              </a:spcBef>
              <a:spcAft>
                <a:spcPts val="0"/>
              </a:spcAft>
              <a:buSzPts val="2400"/>
              <a:buFont typeface="Aldrich"/>
              <a:buNone/>
              <a:defRPr sz="2400" b="1">
                <a:latin typeface="Aldrich"/>
                <a:ea typeface="Aldrich"/>
                <a:cs typeface="Aldrich"/>
                <a:sym typeface="Aldrich"/>
              </a:defRPr>
            </a:lvl7pPr>
            <a:lvl8pPr lvl="7" algn="ctr">
              <a:lnSpc>
                <a:spcPct val="100000"/>
              </a:lnSpc>
              <a:spcBef>
                <a:spcPts val="0"/>
              </a:spcBef>
              <a:spcAft>
                <a:spcPts val="0"/>
              </a:spcAft>
              <a:buSzPts val="2400"/>
              <a:buFont typeface="Aldrich"/>
              <a:buNone/>
              <a:defRPr sz="2400" b="1">
                <a:latin typeface="Aldrich"/>
                <a:ea typeface="Aldrich"/>
                <a:cs typeface="Aldrich"/>
                <a:sym typeface="Aldrich"/>
              </a:defRPr>
            </a:lvl8pPr>
            <a:lvl9pPr lvl="8" algn="ctr">
              <a:lnSpc>
                <a:spcPct val="100000"/>
              </a:lnSpc>
              <a:spcBef>
                <a:spcPts val="0"/>
              </a:spcBef>
              <a:spcAft>
                <a:spcPts val="0"/>
              </a:spcAft>
              <a:buSzPts val="2400"/>
              <a:buFont typeface="Aldrich"/>
              <a:buNone/>
              <a:defRPr sz="2400" b="1">
                <a:latin typeface="Aldrich"/>
                <a:ea typeface="Aldrich"/>
                <a:cs typeface="Aldrich"/>
                <a:sym typeface="Aldrich"/>
              </a:defRPr>
            </a:lvl9pPr>
          </a:lstStyle>
          <a:p>
            <a:endParaRPr/>
          </a:p>
        </p:txBody>
      </p:sp>
      <p:sp>
        <p:nvSpPr>
          <p:cNvPr id="34" name="Google Shape;34;p69"/>
          <p:cNvSpPr txBox="1">
            <a:spLocks noGrp="1"/>
          </p:cNvSpPr>
          <p:nvPr>
            <p:ph type="subTitle" idx="6"/>
          </p:nvPr>
        </p:nvSpPr>
        <p:spPr>
          <a:xfrm>
            <a:off x="5944675" y="2256425"/>
            <a:ext cx="2348100" cy="807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Aldrich"/>
              <a:buNone/>
              <a:defRPr sz="2000" b="1">
                <a:solidFill>
                  <a:schemeClr val="dk1"/>
                </a:solidFill>
                <a:latin typeface="Aldrich"/>
                <a:ea typeface="Aldrich"/>
                <a:cs typeface="Aldrich"/>
                <a:sym typeface="Aldrich"/>
              </a:defRPr>
            </a:lvl1pPr>
            <a:lvl2pPr lvl="1" algn="ctr">
              <a:lnSpc>
                <a:spcPct val="100000"/>
              </a:lnSpc>
              <a:spcBef>
                <a:spcPts val="0"/>
              </a:spcBef>
              <a:spcAft>
                <a:spcPts val="0"/>
              </a:spcAft>
              <a:buSzPts val="2400"/>
              <a:buFont typeface="Aldrich"/>
              <a:buNone/>
              <a:defRPr sz="2400" b="1">
                <a:latin typeface="Aldrich"/>
                <a:ea typeface="Aldrich"/>
                <a:cs typeface="Aldrich"/>
                <a:sym typeface="Aldrich"/>
              </a:defRPr>
            </a:lvl2pPr>
            <a:lvl3pPr lvl="2" algn="ctr">
              <a:lnSpc>
                <a:spcPct val="100000"/>
              </a:lnSpc>
              <a:spcBef>
                <a:spcPts val="0"/>
              </a:spcBef>
              <a:spcAft>
                <a:spcPts val="0"/>
              </a:spcAft>
              <a:buSzPts val="2400"/>
              <a:buFont typeface="Aldrich"/>
              <a:buNone/>
              <a:defRPr sz="2400" b="1">
                <a:latin typeface="Aldrich"/>
                <a:ea typeface="Aldrich"/>
                <a:cs typeface="Aldrich"/>
                <a:sym typeface="Aldrich"/>
              </a:defRPr>
            </a:lvl3pPr>
            <a:lvl4pPr lvl="3" algn="ctr">
              <a:lnSpc>
                <a:spcPct val="100000"/>
              </a:lnSpc>
              <a:spcBef>
                <a:spcPts val="0"/>
              </a:spcBef>
              <a:spcAft>
                <a:spcPts val="0"/>
              </a:spcAft>
              <a:buSzPts val="2400"/>
              <a:buFont typeface="Aldrich"/>
              <a:buNone/>
              <a:defRPr sz="2400" b="1">
                <a:latin typeface="Aldrich"/>
                <a:ea typeface="Aldrich"/>
                <a:cs typeface="Aldrich"/>
                <a:sym typeface="Aldrich"/>
              </a:defRPr>
            </a:lvl4pPr>
            <a:lvl5pPr lvl="4" algn="ctr">
              <a:lnSpc>
                <a:spcPct val="100000"/>
              </a:lnSpc>
              <a:spcBef>
                <a:spcPts val="0"/>
              </a:spcBef>
              <a:spcAft>
                <a:spcPts val="0"/>
              </a:spcAft>
              <a:buSzPts val="2400"/>
              <a:buFont typeface="Aldrich"/>
              <a:buNone/>
              <a:defRPr sz="2400" b="1">
                <a:latin typeface="Aldrich"/>
                <a:ea typeface="Aldrich"/>
                <a:cs typeface="Aldrich"/>
                <a:sym typeface="Aldrich"/>
              </a:defRPr>
            </a:lvl5pPr>
            <a:lvl6pPr lvl="5" algn="ctr">
              <a:lnSpc>
                <a:spcPct val="100000"/>
              </a:lnSpc>
              <a:spcBef>
                <a:spcPts val="0"/>
              </a:spcBef>
              <a:spcAft>
                <a:spcPts val="0"/>
              </a:spcAft>
              <a:buSzPts val="2400"/>
              <a:buFont typeface="Aldrich"/>
              <a:buNone/>
              <a:defRPr sz="2400" b="1">
                <a:latin typeface="Aldrich"/>
                <a:ea typeface="Aldrich"/>
                <a:cs typeface="Aldrich"/>
                <a:sym typeface="Aldrich"/>
              </a:defRPr>
            </a:lvl6pPr>
            <a:lvl7pPr lvl="6" algn="ctr">
              <a:lnSpc>
                <a:spcPct val="100000"/>
              </a:lnSpc>
              <a:spcBef>
                <a:spcPts val="0"/>
              </a:spcBef>
              <a:spcAft>
                <a:spcPts val="0"/>
              </a:spcAft>
              <a:buSzPts val="2400"/>
              <a:buFont typeface="Aldrich"/>
              <a:buNone/>
              <a:defRPr sz="2400" b="1">
                <a:latin typeface="Aldrich"/>
                <a:ea typeface="Aldrich"/>
                <a:cs typeface="Aldrich"/>
                <a:sym typeface="Aldrich"/>
              </a:defRPr>
            </a:lvl7pPr>
            <a:lvl8pPr lvl="7" algn="ctr">
              <a:lnSpc>
                <a:spcPct val="100000"/>
              </a:lnSpc>
              <a:spcBef>
                <a:spcPts val="0"/>
              </a:spcBef>
              <a:spcAft>
                <a:spcPts val="0"/>
              </a:spcAft>
              <a:buSzPts val="2400"/>
              <a:buFont typeface="Aldrich"/>
              <a:buNone/>
              <a:defRPr sz="2400" b="1">
                <a:latin typeface="Aldrich"/>
                <a:ea typeface="Aldrich"/>
                <a:cs typeface="Aldrich"/>
                <a:sym typeface="Aldrich"/>
              </a:defRPr>
            </a:lvl8pPr>
            <a:lvl9pPr lvl="8" algn="ctr">
              <a:lnSpc>
                <a:spcPct val="100000"/>
              </a:lnSpc>
              <a:spcBef>
                <a:spcPts val="0"/>
              </a:spcBef>
              <a:spcAft>
                <a:spcPts val="0"/>
              </a:spcAft>
              <a:buSzPts val="2400"/>
              <a:buFont typeface="Aldrich"/>
              <a:buNone/>
              <a:defRPr sz="2400" b="1">
                <a:latin typeface="Aldrich"/>
                <a:ea typeface="Aldrich"/>
                <a:cs typeface="Aldrich"/>
                <a:sym typeface="Aldrich"/>
              </a:defRPr>
            </a:lvl9pPr>
          </a:lstStyle>
          <a:p>
            <a:endParaRPr/>
          </a:p>
        </p:txBody>
      </p:sp>
      <p:sp>
        <p:nvSpPr>
          <p:cNvPr id="35" name="Google Shape;35;p69"/>
          <p:cNvSpPr txBox="1">
            <a:spLocks noGrp="1"/>
          </p:cNvSpPr>
          <p:nvPr>
            <p:ph type="title"/>
          </p:nvPr>
        </p:nvSpPr>
        <p:spPr>
          <a:xfrm>
            <a:off x="720000" y="826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3000"/>
              <a:buFont typeface="Aldrich"/>
              <a:buNone/>
              <a:defRPr>
                <a:latin typeface="Aldrich"/>
                <a:ea typeface="Aldrich"/>
                <a:cs typeface="Aldrich"/>
                <a:sym typeface="Aldrich"/>
              </a:defRPr>
            </a:lvl2pPr>
            <a:lvl3pPr lvl="2" algn="l">
              <a:lnSpc>
                <a:spcPct val="100000"/>
              </a:lnSpc>
              <a:spcBef>
                <a:spcPts val="0"/>
              </a:spcBef>
              <a:spcAft>
                <a:spcPts val="0"/>
              </a:spcAft>
              <a:buSzPts val="3000"/>
              <a:buFont typeface="Aldrich"/>
              <a:buNone/>
              <a:defRPr>
                <a:latin typeface="Aldrich"/>
                <a:ea typeface="Aldrich"/>
                <a:cs typeface="Aldrich"/>
                <a:sym typeface="Aldrich"/>
              </a:defRPr>
            </a:lvl3pPr>
            <a:lvl4pPr lvl="3" algn="l">
              <a:lnSpc>
                <a:spcPct val="100000"/>
              </a:lnSpc>
              <a:spcBef>
                <a:spcPts val="0"/>
              </a:spcBef>
              <a:spcAft>
                <a:spcPts val="0"/>
              </a:spcAft>
              <a:buSzPts val="3000"/>
              <a:buFont typeface="Aldrich"/>
              <a:buNone/>
              <a:defRPr>
                <a:latin typeface="Aldrich"/>
                <a:ea typeface="Aldrich"/>
                <a:cs typeface="Aldrich"/>
                <a:sym typeface="Aldrich"/>
              </a:defRPr>
            </a:lvl4pPr>
            <a:lvl5pPr lvl="4" algn="l">
              <a:lnSpc>
                <a:spcPct val="100000"/>
              </a:lnSpc>
              <a:spcBef>
                <a:spcPts val="0"/>
              </a:spcBef>
              <a:spcAft>
                <a:spcPts val="0"/>
              </a:spcAft>
              <a:buSzPts val="3000"/>
              <a:buFont typeface="Aldrich"/>
              <a:buNone/>
              <a:defRPr>
                <a:latin typeface="Aldrich"/>
                <a:ea typeface="Aldrich"/>
                <a:cs typeface="Aldrich"/>
                <a:sym typeface="Aldrich"/>
              </a:defRPr>
            </a:lvl5pPr>
            <a:lvl6pPr lvl="5" algn="l">
              <a:lnSpc>
                <a:spcPct val="100000"/>
              </a:lnSpc>
              <a:spcBef>
                <a:spcPts val="0"/>
              </a:spcBef>
              <a:spcAft>
                <a:spcPts val="0"/>
              </a:spcAft>
              <a:buSzPts val="3000"/>
              <a:buFont typeface="Aldrich"/>
              <a:buNone/>
              <a:defRPr>
                <a:latin typeface="Aldrich"/>
                <a:ea typeface="Aldrich"/>
                <a:cs typeface="Aldrich"/>
                <a:sym typeface="Aldrich"/>
              </a:defRPr>
            </a:lvl6pPr>
            <a:lvl7pPr lvl="6" algn="l">
              <a:lnSpc>
                <a:spcPct val="100000"/>
              </a:lnSpc>
              <a:spcBef>
                <a:spcPts val="0"/>
              </a:spcBef>
              <a:spcAft>
                <a:spcPts val="0"/>
              </a:spcAft>
              <a:buSzPts val="3000"/>
              <a:buFont typeface="Aldrich"/>
              <a:buNone/>
              <a:defRPr>
                <a:latin typeface="Aldrich"/>
                <a:ea typeface="Aldrich"/>
                <a:cs typeface="Aldrich"/>
                <a:sym typeface="Aldrich"/>
              </a:defRPr>
            </a:lvl7pPr>
            <a:lvl8pPr lvl="7" algn="l">
              <a:lnSpc>
                <a:spcPct val="100000"/>
              </a:lnSpc>
              <a:spcBef>
                <a:spcPts val="0"/>
              </a:spcBef>
              <a:spcAft>
                <a:spcPts val="0"/>
              </a:spcAft>
              <a:buSzPts val="3000"/>
              <a:buFont typeface="Aldrich"/>
              <a:buNone/>
              <a:defRPr>
                <a:latin typeface="Aldrich"/>
                <a:ea typeface="Aldrich"/>
                <a:cs typeface="Aldrich"/>
                <a:sym typeface="Aldrich"/>
              </a:defRPr>
            </a:lvl8pPr>
            <a:lvl9pPr lvl="8" algn="l">
              <a:lnSpc>
                <a:spcPct val="100000"/>
              </a:lnSpc>
              <a:spcBef>
                <a:spcPts val="0"/>
              </a:spcBef>
              <a:spcAft>
                <a:spcPts val="0"/>
              </a:spcAft>
              <a:buSzPts val="3000"/>
              <a:buFont typeface="Aldrich"/>
              <a:buNone/>
              <a:defRPr>
                <a:latin typeface="Aldrich"/>
                <a:ea typeface="Aldrich"/>
                <a:cs typeface="Aldrich"/>
                <a:sym typeface="Aldrich"/>
              </a:defRPr>
            </a:lvl9pPr>
          </a:lstStyle>
          <a:p>
            <a:endParaRPr/>
          </a:p>
        </p:txBody>
      </p:sp>
      <p:grpSp>
        <p:nvGrpSpPr>
          <p:cNvPr id="36" name="Google Shape;36;p69"/>
          <p:cNvGrpSpPr/>
          <p:nvPr/>
        </p:nvGrpSpPr>
        <p:grpSpPr>
          <a:xfrm>
            <a:off x="496925" y="1436601"/>
            <a:ext cx="8150150" cy="3151497"/>
            <a:chOff x="496925" y="1436601"/>
            <a:chExt cx="8150150" cy="3151497"/>
          </a:xfrm>
        </p:grpSpPr>
        <p:sp>
          <p:nvSpPr>
            <p:cNvPr id="37" name="Google Shape;37;p69"/>
            <p:cNvSpPr txBox="1"/>
            <p:nvPr/>
          </p:nvSpPr>
          <p:spPr>
            <a:xfrm>
              <a:off x="8430775" y="2030298"/>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1010010010110111</a:t>
              </a:r>
              <a:endParaRPr sz="1000" b="0" i="0" u="none" strike="noStrike" cap="none">
                <a:solidFill>
                  <a:schemeClr val="dk1"/>
                </a:solidFill>
                <a:latin typeface="Open Sans"/>
                <a:ea typeface="Open Sans"/>
                <a:cs typeface="Open Sans"/>
                <a:sym typeface="Open Sans"/>
              </a:endParaRPr>
            </a:p>
          </p:txBody>
        </p:sp>
        <p:sp>
          <p:nvSpPr>
            <p:cNvPr id="38" name="Google Shape;38;p69"/>
            <p:cNvSpPr txBox="1"/>
            <p:nvPr/>
          </p:nvSpPr>
          <p:spPr>
            <a:xfrm>
              <a:off x="496925" y="143660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1001010100101010</a:t>
              </a:r>
              <a:endParaRPr sz="1000" b="0" i="0" u="none" strike="noStrike" cap="none">
                <a:solidFill>
                  <a:schemeClr val="dk1"/>
                </a:solidFill>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grpSp>
        <p:nvGrpSpPr>
          <p:cNvPr id="40" name="Google Shape;40;p70"/>
          <p:cNvGrpSpPr/>
          <p:nvPr/>
        </p:nvGrpSpPr>
        <p:grpSpPr>
          <a:xfrm>
            <a:off x="346800" y="255600"/>
            <a:ext cx="8450400" cy="4632300"/>
            <a:chOff x="346800" y="255600"/>
            <a:chExt cx="8450400" cy="4632300"/>
          </a:xfrm>
        </p:grpSpPr>
        <p:sp>
          <p:nvSpPr>
            <p:cNvPr id="41" name="Google Shape;41;p70"/>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42" name="Google Shape;42;p70"/>
            <p:cNvSpPr/>
            <p:nvPr/>
          </p:nvSpPr>
          <p:spPr>
            <a:xfrm>
              <a:off x="346800" y="255600"/>
              <a:ext cx="8450400" cy="4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43" name="Google Shape;43;p70"/>
            <p:cNvGrpSpPr/>
            <p:nvPr/>
          </p:nvGrpSpPr>
          <p:grpSpPr>
            <a:xfrm>
              <a:off x="8111150" y="433000"/>
              <a:ext cx="426200" cy="106500"/>
              <a:chOff x="1739575" y="4109150"/>
              <a:chExt cx="426200" cy="106500"/>
            </a:xfrm>
          </p:grpSpPr>
          <p:sp>
            <p:nvSpPr>
              <p:cNvPr id="44" name="Google Shape;44;p70"/>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45" name="Google Shape;45;p70"/>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46" name="Google Shape;46;p70"/>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47" name="Google Shape;47;p70"/>
          <p:cNvSpPr txBox="1">
            <a:spLocks noGrp="1"/>
          </p:cNvSpPr>
          <p:nvPr>
            <p:ph type="title"/>
          </p:nvPr>
        </p:nvSpPr>
        <p:spPr>
          <a:xfrm>
            <a:off x="4867150" y="3453725"/>
            <a:ext cx="3258000" cy="84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Font typeface="Aldrich"/>
              <a:buNone/>
              <a:defRPr sz="3600">
                <a:latin typeface="Aldrich"/>
                <a:ea typeface="Aldrich"/>
                <a:cs typeface="Aldrich"/>
                <a:sym typeface="Aldrich"/>
              </a:defRPr>
            </a:lvl2pPr>
            <a:lvl3pPr lvl="2" algn="ctr">
              <a:lnSpc>
                <a:spcPct val="100000"/>
              </a:lnSpc>
              <a:spcBef>
                <a:spcPts val="0"/>
              </a:spcBef>
              <a:spcAft>
                <a:spcPts val="0"/>
              </a:spcAft>
              <a:buSzPts val="3600"/>
              <a:buFont typeface="Aldrich"/>
              <a:buNone/>
              <a:defRPr sz="3600">
                <a:latin typeface="Aldrich"/>
                <a:ea typeface="Aldrich"/>
                <a:cs typeface="Aldrich"/>
                <a:sym typeface="Aldrich"/>
              </a:defRPr>
            </a:lvl3pPr>
            <a:lvl4pPr lvl="3" algn="ctr">
              <a:lnSpc>
                <a:spcPct val="100000"/>
              </a:lnSpc>
              <a:spcBef>
                <a:spcPts val="0"/>
              </a:spcBef>
              <a:spcAft>
                <a:spcPts val="0"/>
              </a:spcAft>
              <a:buSzPts val="3600"/>
              <a:buFont typeface="Aldrich"/>
              <a:buNone/>
              <a:defRPr sz="3600">
                <a:latin typeface="Aldrich"/>
                <a:ea typeface="Aldrich"/>
                <a:cs typeface="Aldrich"/>
                <a:sym typeface="Aldrich"/>
              </a:defRPr>
            </a:lvl4pPr>
            <a:lvl5pPr lvl="4" algn="ctr">
              <a:lnSpc>
                <a:spcPct val="100000"/>
              </a:lnSpc>
              <a:spcBef>
                <a:spcPts val="0"/>
              </a:spcBef>
              <a:spcAft>
                <a:spcPts val="0"/>
              </a:spcAft>
              <a:buSzPts val="3600"/>
              <a:buFont typeface="Aldrich"/>
              <a:buNone/>
              <a:defRPr sz="3600">
                <a:latin typeface="Aldrich"/>
                <a:ea typeface="Aldrich"/>
                <a:cs typeface="Aldrich"/>
                <a:sym typeface="Aldrich"/>
              </a:defRPr>
            </a:lvl5pPr>
            <a:lvl6pPr lvl="5" algn="ctr">
              <a:lnSpc>
                <a:spcPct val="100000"/>
              </a:lnSpc>
              <a:spcBef>
                <a:spcPts val="0"/>
              </a:spcBef>
              <a:spcAft>
                <a:spcPts val="0"/>
              </a:spcAft>
              <a:buSzPts val="3600"/>
              <a:buFont typeface="Aldrich"/>
              <a:buNone/>
              <a:defRPr sz="3600">
                <a:latin typeface="Aldrich"/>
                <a:ea typeface="Aldrich"/>
                <a:cs typeface="Aldrich"/>
                <a:sym typeface="Aldrich"/>
              </a:defRPr>
            </a:lvl6pPr>
            <a:lvl7pPr lvl="6" algn="ctr">
              <a:lnSpc>
                <a:spcPct val="100000"/>
              </a:lnSpc>
              <a:spcBef>
                <a:spcPts val="0"/>
              </a:spcBef>
              <a:spcAft>
                <a:spcPts val="0"/>
              </a:spcAft>
              <a:buSzPts val="3600"/>
              <a:buFont typeface="Aldrich"/>
              <a:buNone/>
              <a:defRPr sz="3600">
                <a:latin typeface="Aldrich"/>
                <a:ea typeface="Aldrich"/>
                <a:cs typeface="Aldrich"/>
                <a:sym typeface="Aldrich"/>
              </a:defRPr>
            </a:lvl7pPr>
            <a:lvl8pPr lvl="7" algn="ctr">
              <a:lnSpc>
                <a:spcPct val="100000"/>
              </a:lnSpc>
              <a:spcBef>
                <a:spcPts val="0"/>
              </a:spcBef>
              <a:spcAft>
                <a:spcPts val="0"/>
              </a:spcAft>
              <a:buSzPts val="3600"/>
              <a:buFont typeface="Aldrich"/>
              <a:buNone/>
              <a:defRPr sz="3600">
                <a:latin typeface="Aldrich"/>
                <a:ea typeface="Aldrich"/>
                <a:cs typeface="Aldrich"/>
                <a:sym typeface="Aldrich"/>
              </a:defRPr>
            </a:lvl8pPr>
            <a:lvl9pPr lvl="8" algn="ctr">
              <a:lnSpc>
                <a:spcPct val="100000"/>
              </a:lnSpc>
              <a:spcBef>
                <a:spcPts val="0"/>
              </a:spcBef>
              <a:spcAft>
                <a:spcPts val="0"/>
              </a:spcAft>
              <a:buSzPts val="3600"/>
              <a:buFont typeface="Aldrich"/>
              <a:buNone/>
              <a:defRPr sz="3600">
                <a:latin typeface="Aldrich"/>
                <a:ea typeface="Aldrich"/>
                <a:cs typeface="Aldrich"/>
                <a:sym typeface="Aldrich"/>
              </a:defRPr>
            </a:lvl9pPr>
          </a:lstStyle>
          <a:p>
            <a:endParaRPr/>
          </a:p>
        </p:txBody>
      </p:sp>
      <p:sp>
        <p:nvSpPr>
          <p:cNvPr id="48" name="Google Shape;48;p70"/>
          <p:cNvSpPr txBox="1">
            <a:spLocks noGrp="1"/>
          </p:cNvSpPr>
          <p:nvPr>
            <p:ph type="title" idx="2"/>
          </p:nvPr>
        </p:nvSpPr>
        <p:spPr>
          <a:xfrm>
            <a:off x="4867150" y="2296925"/>
            <a:ext cx="1724700" cy="928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2pPr>
            <a:lvl3pPr lvl="2"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3pPr>
            <a:lvl4pPr lvl="3"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4pPr>
            <a:lvl5pPr lvl="4"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5pPr>
            <a:lvl6pPr lvl="5"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6pPr>
            <a:lvl7pPr lvl="6"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7pPr>
            <a:lvl8pPr lvl="7"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8pPr>
            <a:lvl9pPr lvl="8" algn="ctr">
              <a:lnSpc>
                <a:spcPct val="100000"/>
              </a:lnSpc>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9pPr>
          </a:lstStyle>
          <a:p>
            <a:endParaRPr/>
          </a:p>
        </p:txBody>
      </p:sp>
      <p:sp>
        <p:nvSpPr>
          <p:cNvPr id="49" name="Google Shape;49;p70"/>
          <p:cNvSpPr>
            <a:spLocks noGrp="1"/>
          </p:cNvSpPr>
          <p:nvPr>
            <p:ph type="pic" idx="3"/>
          </p:nvPr>
        </p:nvSpPr>
        <p:spPr>
          <a:xfrm>
            <a:off x="946250" y="1075925"/>
            <a:ext cx="2818200" cy="3295800"/>
          </a:xfrm>
          <a:prstGeom prst="rect">
            <a:avLst/>
          </a:prstGeom>
          <a:noFill/>
          <a:ln w="9525" cap="flat" cmpd="sng">
            <a:solidFill>
              <a:schemeClr val="dk1"/>
            </a:solidFill>
            <a:prstDash val="solid"/>
            <a:round/>
            <a:headEnd type="none" w="sm" len="sm"/>
            <a:tailEnd type="none" w="sm" len="sm"/>
          </a:ln>
        </p:spPr>
      </p:sp>
      <p:grpSp>
        <p:nvGrpSpPr>
          <p:cNvPr id="50" name="Google Shape;50;p70"/>
          <p:cNvGrpSpPr/>
          <p:nvPr/>
        </p:nvGrpSpPr>
        <p:grpSpPr>
          <a:xfrm>
            <a:off x="496925" y="1007751"/>
            <a:ext cx="8150150" cy="3215250"/>
            <a:chOff x="496925" y="1007751"/>
            <a:chExt cx="8150150" cy="3215250"/>
          </a:xfrm>
        </p:grpSpPr>
        <p:sp>
          <p:nvSpPr>
            <p:cNvPr id="51" name="Google Shape;51;p70"/>
            <p:cNvSpPr txBox="1"/>
            <p:nvPr/>
          </p:nvSpPr>
          <p:spPr>
            <a:xfrm>
              <a:off x="8430775" y="100775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1100101010101110</a:t>
              </a:r>
              <a:endParaRPr sz="1000" b="0" i="0" u="none" strike="noStrike" cap="none">
                <a:solidFill>
                  <a:schemeClr val="dk1"/>
                </a:solidFill>
                <a:latin typeface="Open Sans"/>
                <a:ea typeface="Open Sans"/>
                <a:cs typeface="Open Sans"/>
                <a:sym typeface="Open Sans"/>
              </a:endParaRPr>
            </a:p>
          </p:txBody>
        </p:sp>
        <p:sp>
          <p:nvSpPr>
            <p:cNvPr id="52" name="Google Shape;52;p70"/>
            <p:cNvSpPr txBox="1"/>
            <p:nvPr/>
          </p:nvSpPr>
          <p:spPr>
            <a:xfrm>
              <a:off x="496925" y="166520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101010111000111</a:t>
              </a:r>
              <a:endParaRPr sz="1000" b="0" i="0" u="none" strike="noStrike" cap="none">
                <a:solidFill>
                  <a:schemeClr val="dk1"/>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0</a:t>
              </a:r>
              <a:endParaRPr sz="1000" b="0" i="0" u="none" strike="noStrike" cap="none">
                <a:solidFill>
                  <a:schemeClr val="dk1"/>
                </a:solidFill>
                <a:latin typeface="Open Sans"/>
                <a:ea typeface="Open Sans"/>
                <a:cs typeface="Open Sans"/>
                <a:sym typeface="Open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grpSp>
        <p:nvGrpSpPr>
          <p:cNvPr id="54" name="Google Shape;54;p71"/>
          <p:cNvGrpSpPr/>
          <p:nvPr/>
        </p:nvGrpSpPr>
        <p:grpSpPr>
          <a:xfrm>
            <a:off x="346800" y="255600"/>
            <a:ext cx="8450400" cy="4632300"/>
            <a:chOff x="346800" y="255600"/>
            <a:chExt cx="8450400" cy="4632300"/>
          </a:xfrm>
        </p:grpSpPr>
        <p:sp>
          <p:nvSpPr>
            <p:cNvPr id="55" name="Google Shape;55;p71"/>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56" name="Google Shape;56;p71"/>
            <p:cNvSpPr/>
            <p:nvPr/>
          </p:nvSpPr>
          <p:spPr>
            <a:xfrm>
              <a:off x="346800" y="255600"/>
              <a:ext cx="8450400" cy="4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57" name="Google Shape;57;p71"/>
            <p:cNvGrpSpPr/>
            <p:nvPr/>
          </p:nvGrpSpPr>
          <p:grpSpPr>
            <a:xfrm>
              <a:off x="8111150" y="433000"/>
              <a:ext cx="426200" cy="106500"/>
              <a:chOff x="1739575" y="4109150"/>
              <a:chExt cx="426200" cy="106500"/>
            </a:xfrm>
          </p:grpSpPr>
          <p:sp>
            <p:nvSpPr>
              <p:cNvPr id="58" name="Google Shape;58;p71"/>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59" name="Google Shape;59;p71"/>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60" name="Google Shape;60;p71"/>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61" name="Google Shape;61;p71"/>
          <p:cNvSpPr txBox="1">
            <a:spLocks noGrp="1"/>
          </p:cNvSpPr>
          <p:nvPr>
            <p:ph type="title"/>
          </p:nvPr>
        </p:nvSpPr>
        <p:spPr>
          <a:xfrm>
            <a:off x="2317950" y="1307100"/>
            <a:ext cx="4508100" cy="2529300"/>
          </a:xfrm>
          <a:prstGeom prst="rect">
            <a:avLst/>
          </a:prstGeom>
          <a:noFill/>
          <a:ln>
            <a:noFill/>
          </a:ln>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
        <p:cNvGrpSpPr/>
        <p:nvPr/>
      </p:nvGrpSpPr>
      <p:grpSpPr>
        <a:xfrm>
          <a:off x="0" y="0"/>
          <a:ext cx="0" cy="0"/>
          <a:chOff x="0" y="0"/>
          <a:chExt cx="0" cy="0"/>
        </a:xfrm>
      </p:grpSpPr>
      <p:grpSp>
        <p:nvGrpSpPr>
          <p:cNvPr id="63" name="Google Shape;63;p72"/>
          <p:cNvGrpSpPr/>
          <p:nvPr/>
        </p:nvGrpSpPr>
        <p:grpSpPr>
          <a:xfrm>
            <a:off x="346800" y="255600"/>
            <a:ext cx="8450400" cy="4632300"/>
            <a:chOff x="346800" y="255600"/>
            <a:chExt cx="8450400" cy="4632300"/>
          </a:xfrm>
        </p:grpSpPr>
        <p:sp>
          <p:nvSpPr>
            <p:cNvPr id="64" name="Google Shape;64;p72"/>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65" name="Google Shape;65;p72"/>
            <p:cNvSpPr/>
            <p:nvPr/>
          </p:nvSpPr>
          <p:spPr>
            <a:xfrm>
              <a:off x="346800" y="255600"/>
              <a:ext cx="8450400" cy="4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66" name="Google Shape;66;p72"/>
            <p:cNvGrpSpPr/>
            <p:nvPr/>
          </p:nvGrpSpPr>
          <p:grpSpPr>
            <a:xfrm>
              <a:off x="8111150" y="433000"/>
              <a:ext cx="426200" cy="106500"/>
              <a:chOff x="1739575" y="4109150"/>
              <a:chExt cx="426200" cy="106500"/>
            </a:xfrm>
          </p:grpSpPr>
          <p:sp>
            <p:nvSpPr>
              <p:cNvPr id="67" name="Google Shape;67;p72"/>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68" name="Google Shape;68;p72"/>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69" name="Google Shape;69;p72"/>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70" name="Google Shape;70;p72"/>
          <p:cNvSpPr txBox="1">
            <a:spLocks noGrp="1"/>
          </p:cNvSpPr>
          <p:nvPr>
            <p:ph type="title"/>
          </p:nvPr>
        </p:nvSpPr>
        <p:spPr>
          <a:xfrm>
            <a:off x="2135550" y="1189100"/>
            <a:ext cx="4872900" cy="196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71" name="Google Shape;71;p72"/>
          <p:cNvSpPr txBox="1">
            <a:spLocks noGrp="1"/>
          </p:cNvSpPr>
          <p:nvPr>
            <p:ph type="subTitle" idx="1"/>
          </p:nvPr>
        </p:nvSpPr>
        <p:spPr>
          <a:xfrm>
            <a:off x="2135550" y="3153500"/>
            <a:ext cx="4872900" cy="671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3"/>
        <p:cNvGrpSpPr/>
        <p:nvPr/>
      </p:nvGrpSpPr>
      <p:grpSpPr>
        <a:xfrm>
          <a:off x="0" y="0"/>
          <a:ext cx="0" cy="0"/>
          <a:chOff x="0" y="0"/>
          <a:chExt cx="0" cy="0"/>
        </a:xfrm>
      </p:grpSpPr>
      <p:grpSp>
        <p:nvGrpSpPr>
          <p:cNvPr id="74" name="Google Shape;74;p74"/>
          <p:cNvGrpSpPr/>
          <p:nvPr/>
        </p:nvGrpSpPr>
        <p:grpSpPr>
          <a:xfrm>
            <a:off x="346800" y="255600"/>
            <a:ext cx="8450400" cy="4632300"/>
            <a:chOff x="346800" y="255600"/>
            <a:chExt cx="8450400" cy="4632300"/>
          </a:xfrm>
        </p:grpSpPr>
        <p:sp>
          <p:nvSpPr>
            <p:cNvPr id="75" name="Google Shape;75;p74"/>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76" name="Google Shape;76;p74"/>
            <p:cNvSpPr/>
            <p:nvPr/>
          </p:nvSpPr>
          <p:spPr>
            <a:xfrm>
              <a:off x="346800" y="255600"/>
              <a:ext cx="8450400" cy="4260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77" name="Google Shape;77;p74"/>
            <p:cNvGrpSpPr/>
            <p:nvPr/>
          </p:nvGrpSpPr>
          <p:grpSpPr>
            <a:xfrm>
              <a:off x="8111150" y="433000"/>
              <a:ext cx="426200" cy="106500"/>
              <a:chOff x="1739575" y="4109150"/>
              <a:chExt cx="426200" cy="106500"/>
            </a:xfrm>
          </p:grpSpPr>
          <p:sp>
            <p:nvSpPr>
              <p:cNvPr id="78" name="Google Shape;78;p74"/>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79" name="Google Shape;79;p74"/>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0" name="Google Shape;80;p74"/>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81" name="Google Shape;81;p74"/>
          <p:cNvGrpSpPr/>
          <p:nvPr/>
        </p:nvGrpSpPr>
        <p:grpSpPr>
          <a:xfrm>
            <a:off x="496925" y="1007751"/>
            <a:ext cx="8150150" cy="3215250"/>
            <a:chOff x="496925" y="1007751"/>
            <a:chExt cx="8150150" cy="3215250"/>
          </a:xfrm>
        </p:grpSpPr>
        <p:sp>
          <p:nvSpPr>
            <p:cNvPr id="82" name="Google Shape;82;p74"/>
            <p:cNvSpPr txBox="1"/>
            <p:nvPr/>
          </p:nvSpPr>
          <p:spPr>
            <a:xfrm>
              <a:off x="8430775" y="100775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1100101010101110</a:t>
              </a:r>
              <a:endParaRPr sz="1000" b="0" i="0" u="none" strike="noStrike" cap="none">
                <a:solidFill>
                  <a:schemeClr val="dk1"/>
                </a:solidFill>
                <a:latin typeface="Open Sans"/>
                <a:ea typeface="Open Sans"/>
                <a:cs typeface="Open Sans"/>
                <a:sym typeface="Open Sans"/>
              </a:endParaRPr>
            </a:p>
          </p:txBody>
        </p:sp>
        <p:sp>
          <p:nvSpPr>
            <p:cNvPr id="83" name="Google Shape;83;p74"/>
            <p:cNvSpPr txBox="1"/>
            <p:nvPr/>
          </p:nvSpPr>
          <p:spPr>
            <a:xfrm>
              <a:off x="496925" y="166520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101010111000111</a:t>
              </a:r>
              <a:endParaRPr sz="1000" b="0" i="0" u="none" strike="noStrike" cap="none">
                <a:solidFill>
                  <a:schemeClr val="dk1"/>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0</a:t>
              </a:r>
              <a:endParaRPr sz="1000" b="0" i="0" u="none" strike="noStrike" cap="none">
                <a:solidFill>
                  <a:schemeClr val="dk1"/>
                </a:solidFill>
                <a:latin typeface="Open Sans"/>
                <a:ea typeface="Open Sans"/>
                <a:cs typeface="Open Sans"/>
                <a:sym typeface="Open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4"/>
        <p:cNvGrpSpPr/>
        <p:nvPr/>
      </p:nvGrpSpPr>
      <p:grpSpPr>
        <a:xfrm>
          <a:off x="0" y="0"/>
          <a:ext cx="0" cy="0"/>
          <a:chOff x="0" y="0"/>
          <a:chExt cx="0" cy="0"/>
        </a:xfrm>
      </p:grpSpPr>
      <p:grpSp>
        <p:nvGrpSpPr>
          <p:cNvPr id="85" name="Google Shape;85;p75"/>
          <p:cNvGrpSpPr/>
          <p:nvPr/>
        </p:nvGrpSpPr>
        <p:grpSpPr>
          <a:xfrm>
            <a:off x="346800" y="255600"/>
            <a:ext cx="8450400" cy="4632300"/>
            <a:chOff x="346800" y="255600"/>
            <a:chExt cx="8450400" cy="4632300"/>
          </a:xfrm>
        </p:grpSpPr>
        <p:sp>
          <p:nvSpPr>
            <p:cNvPr id="86" name="Google Shape;86;p75"/>
            <p:cNvSpPr/>
            <p:nvPr/>
          </p:nvSpPr>
          <p:spPr>
            <a:xfrm>
              <a:off x="346800" y="255600"/>
              <a:ext cx="8450400" cy="463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7" name="Google Shape;87;p75"/>
            <p:cNvSpPr/>
            <p:nvPr/>
          </p:nvSpPr>
          <p:spPr>
            <a:xfrm>
              <a:off x="346800" y="255600"/>
              <a:ext cx="8450400" cy="426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88" name="Google Shape;88;p75"/>
            <p:cNvGrpSpPr/>
            <p:nvPr/>
          </p:nvGrpSpPr>
          <p:grpSpPr>
            <a:xfrm>
              <a:off x="8111150" y="433000"/>
              <a:ext cx="426200" cy="106500"/>
              <a:chOff x="1739575" y="4109150"/>
              <a:chExt cx="426200" cy="106500"/>
            </a:xfrm>
          </p:grpSpPr>
          <p:sp>
            <p:nvSpPr>
              <p:cNvPr id="89" name="Google Shape;89;p75"/>
              <p:cNvSpPr/>
              <p:nvPr/>
            </p:nvSpPr>
            <p:spPr>
              <a:xfrm>
                <a:off x="17395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90" name="Google Shape;90;p75"/>
              <p:cNvSpPr/>
              <p:nvPr/>
            </p:nvSpPr>
            <p:spPr>
              <a:xfrm>
                <a:off x="189942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91" name="Google Shape;91;p75"/>
              <p:cNvSpPr/>
              <p:nvPr/>
            </p:nvSpPr>
            <p:spPr>
              <a:xfrm>
                <a:off x="2059275" y="4109150"/>
                <a:ext cx="106500" cy="106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92" name="Google Shape;92;p75"/>
          <p:cNvGrpSpPr/>
          <p:nvPr/>
        </p:nvGrpSpPr>
        <p:grpSpPr>
          <a:xfrm>
            <a:off x="496925" y="1436601"/>
            <a:ext cx="8150150" cy="3151497"/>
            <a:chOff x="496925" y="1436601"/>
            <a:chExt cx="8150150" cy="3151497"/>
          </a:xfrm>
        </p:grpSpPr>
        <p:sp>
          <p:nvSpPr>
            <p:cNvPr id="93" name="Google Shape;93;p75"/>
            <p:cNvSpPr txBox="1"/>
            <p:nvPr/>
          </p:nvSpPr>
          <p:spPr>
            <a:xfrm>
              <a:off x="8430775" y="2030298"/>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1010010010110111</a:t>
              </a:r>
              <a:endParaRPr sz="1000" b="0" i="0" u="none" strike="noStrike" cap="none">
                <a:solidFill>
                  <a:schemeClr val="dk1"/>
                </a:solidFill>
                <a:latin typeface="Open Sans"/>
                <a:ea typeface="Open Sans"/>
                <a:cs typeface="Open Sans"/>
                <a:sym typeface="Open Sans"/>
              </a:endParaRPr>
            </a:p>
          </p:txBody>
        </p:sp>
        <p:sp>
          <p:nvSpPr>
            <p:cNvPr id="94" name="Google Shape;94;p75"/>
            <p:cNvSpPr txBox="1"/>
            <p:nvPr/>
          </p:nvSpPr>
          <p:spPr>
            <a:xfrm>
              <a:off x="496925" y="1436601"/>
              <a:ext cx="216300" cy="255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Open Sans"/>
                  <a:ea typeface="Open Sans"/>
                  <a:cs typeface="Open Sans"/>
                  <a:sym typeface="Open Sans"/>
                </a:rPr>
                <a:t>1001010100101010</a:t>
              </a:r>
              <a:endParaRPr sz="1000" b="0" i="0" u="none" strike="noStrike" cap="none">
                <a:solidFill>
                  <a:schemeClr val="dk1"/>
                </a:solidFill>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ldrich"/>
              <a:buNone/>
              <a:defRPr sz="2800" b="1" i="0" u="none" strike="noStrike" cap="none">
                <a:solidFill>
                  <a:schemeClr val="dk1"/>
                </a:solidFill>
                <a:latin typeface="Aldrich"/>
                <a:ea typeface="Aldrich"/>
                <a:cs typeface="Aldrich"/>
                <a:sym typeface="Aldrich"/>
              </a:defRPr>
            </a:lvl1pPr>
            <a:lvl2pPr marR="0" lvl="1"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2pPr>
            <a:lvl3pPr marR="0" lvl="2"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3pPr>
            <a:lvl4pPr marR="0" lvl="3"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4pPr>
            <a:lvl5pPr marR="0" lvl="4"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5pPr>
            <a:lvl6pPr marR="0" lvl="5"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6pPr>
            <a:lvl7pPr marR="0" lvl="6"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7pPr>
            <a:lvl8pPr marR="0" lvl="7"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8pPr>
            <a:lvl9pPr marR="0" lvl="8" algn="l" rtl="0">
              <a:lnSpc>
                <a:spcPct val="100000"/>
              </a:lnSpc>
              <a:spcBef>
                <a:spcPts val="0"/>
              </a:spcBef>
              <a:spcAft>
                <a:spcPts val="0"/>
              </a:spcAft>
              <a:buClr>
                <a:schemeClr val="dk1"/>
              </a:buClr>
              <a:buSzPts val="3000"/>
              <a:buFont typeface="Aldrich"/>
              <a:buNone/>
              <a:defRPr sz="3000" b="1" i="0" u="none" strike="noStrike" cap="none">
                <a:solidFill>
                  <a:schemeClr val="dk1"/>
                </a:solidFill>
                <a:latin typeface="Aldrich"/>
                <a:ea typeface="Aldrich"/>
                <a:cs typeface="Aldrich"/>
                <a:sym typeface="Aldrich"/>
              </a:defRPr>
            </a:lvl9pPr>
          </a:lstStyle>
          <a:p>
            <a:endParaRPr/>
          </a:p>
        </p:txBody>
      </p:sp>
      <p:sp>
        <p:nvSpPr>
          <p:cNvPr id="7" name="Google Shape;7;p6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1600"/>
              </a:spcBef>
              <a:spcAft>
                <a:spcPts val="160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w3schools.com/php/php_variables_scope.as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w3schools.com/php/php_datatypes.as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w3schools.com/php/php_variables_scope.asp"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w3schools.com/php/php_datatypes.asp"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apachefriends.org/index.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127.0.0.1/php-demon/index.php" TargetMode="External"/><Relationship Id="rId4" Type="http://schemas.openxmlformats.org/officeDocument/2006/relationships/hyperlink" Target="http://localhost/php-demo/index.php"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1"/>
          <p:cNvGrpSpPr/>
          <p:nvPr/>
        </p:nvGrpSpPr>
        <p:grpSpPr>
          <a:xfrm>
            <a:off x="6442850" y="1530900"/>
            <a:ext cx="1625700" cy="1625700"/>
            <a:chOff x="4653650" y="1256600"/>
            <a:chExt cx="1625700" cy="1625700"/>
          </a:xfrm>
        </p:grpSpPr>
        <p:sp>
          <p:nvSpPr>
            <p:cNvPr id="100" name="Google Shape;100;p1"/>
            <p:cNvSpPr/>
            <p:nvPr/>
          </p:nvSpPr>
          <p:spPr>
            <a:xfrm>
              <a:off x="4653650" y="1256600"/>
              <a:ext cx="1625700" cy="1625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01" name="Google Shape;101;p1"/>
            <p:cNvSpPr/>
            <p:nvPr/>
          </p:nvSpPr>
          <p:spPr>
            <a:xfrm>
              <a:off x="4653650" y="1256600"/>
              <a:ext cx="1625700" cy="1596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
        <p:nvSpPr>
          <p:cNvPr id="102" name="Google Shape;102;p1"/>
          <p:cNvSpPr txBox="1">
            <a:spLocks noGrp="1"/>
          </p:cNvSpPr>
          <p:nvPr>
            <p:ph type="ctrTitle"/>
          </p:nvPr>
        </p:nvSpPr>
        <p:spPr>
          <a:xfrm>
            <a:off x="1075450" y="392375"/>
            <a:ext cx="3916337" cy="309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r>
              <a:rPr lang="en-US"/>
              <a:t>Introduction to PHP</a:t>
            </a:r>
            <a:endParaRPr/>
          </a:p>
        </p:txBody>
      </p:sp>
      <p:sp>
        <p:nvSpPr>
          <p:cNvPr id="103" name="Google Shape;103;p1"/>
          <p:cNvSpPr/>
          <p:nvPr/>
        </p:nvSpPr>
        <p:spPr>
          <a:xfrm>
            <a:off x="6820498" y="2096271"/>
            <a:ext cx="880576" cy="474590"/>
          </a:xfrm>
          <a:custGeom>
            <a:avLst/>
            <a:gdLst/>
            <a:ahLst/>
            <a:cxnLst/>
            <a:rect l="l" t="t" r="r" b="b"/>
            <a:pathLst>
              <a:path w="1618" h="872" extrusionOk="0">
                <a:moveTo>
                  <a:pt x="1093" y="11"/>
                </a:moveTo>
                <a:cubicBezTo>
                  <a:pt x="1064" y="-8"/>
                  <a:pt x="1024" y="0"/>
                  <a:pt x="1005" y="29"/>
                </a:cubicBezTo>
                <a:lnTo>
                  <a:pt x="508" y="774"/>
                </a:lnTo>
                <a:cubicBezTo>
                  <a:pt x="488" y="803"/>
                  <a:pt x="496" y="842"/>
                  <a:pt x="525" y="861"/>
                </a:cubicBezTo>
                <a:cubicBezTo>
                  <a:pt x="554" y="881"/>
                  <a:pt x="593" y="873"/>
                  <a:pt x="613" y="844"/>
                </a:cubicBezTo>
                <a:lnTo>
                  <a:pt x="1110" y="99"/>
                </a:lnTo>
                <a:cubicBezTo>
                  <a:pt x="1130" y="70"/>
                  <a:pt x="1122" y="31"/>
                  <a:pt x="1093" y="11"/>
                </a:cubicBezTo>
                <a:moveTo>
                  <a:pt x="1607" y="401"/>
                </a:moveTo>
                <a:lnTo>
                  <a:pt x="1359" y="29"/>
                </a:lnTo>
                <a:cubicBezTo>
                  <a:pt x="1339" y="0"/>
                  <a:pt x="1300" y="-8"/>
                  <a:pt x="1271" y="11"/>
                </a:cubicBezTo>
                <a:cubicBezTo>
                  <a:pt x="1242" y="31"/>
                  <a:pt x="1234" y="70"/>
                  <a:pt x="1254" y="99"/>
                </a:cubicBezTo>
                <a:lnTo>
                  <a:pt x="1479" y="436"/>
                </a:lnTo>
                <a:lnTo>
                  <a:pt x="1254" y="774"/>
                </a:lnTo>
                <a:cubicBezTo>
                  <a:pt x="1234" y="803"/>
                  <a:pt x="1242" y="842"/>
                  <a:pt x="1271" y="861"/>
                </a:cubicBezTo>
                <a:cubicBezTo>
                  <a:pt x="1300" y="881"/>
                  <a:pt x="1339" y="873"/>
                  <a:pt x="1359" y="844"/>
                </a:cubicBezTo>
                <a:lnTo>
                  <a:pt x="1607" y="471"/>
                </a:lnTo>
                <a:cubicBezTo>
                  <a:pt x="1622" y="450"/>
                  <a:pt x="1622" y="422"/>
                  <a:pt x="1607" y="401"/>
                </a:cubicBezTo>
                <a:moveTo>
                  <a:pt x="364" y="99"/>
                </a:moveTo>
                <a:lnTo>
                  <a:pt x="139" y="436"/>
                </a:lnTo>
                <a:lnTo>
                  <a:pt x="364" y="774"/>
                </a:lnTo>
                <a:cubicBezTo>
                  <a:pt x="384" y="803"/>
                  <a:pt x="376" y="842"/>
                  <a:pt x="347" y="861"/>
                </a:cubicBezTo>
                <a:cubicBezTo>
                  <a:pt x="318" y="881"/>
                  <a:pt x="279" y="873"/>
                  <a:pt x="259" y="844"/>
                </a:cubicBezTo>
                <a:lnTo>
                  <a:pt x="10" y="471"/>
                </a:lnTo>
                <a:cubicBezTo>
                  <a:pt x="-4" y="450"/>
                  <a:pt x="-4" y="422"/>
                  <a:pt x="10" y="401"/>
                </a:cubicBezTo>
                <a:lnTo>
                  <a:pt x="259" y="29"/>
                </a:lnTo>
                <a:cubicBezTo>
                  <a:pt x="278" y="0"/>
                  <a:pt x="318" y="-8"/>
                  <a:pt x="347" y="11"/>
                </a:cubicBezTo>
                <a:cubicBezTo>
                  <a:pt x="376" y="31"/>
                  <a:pt x="384" y="70"/>
                  <a:pt x="364" y="9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4" name="Google Shape;104;p1"/>
          <p:cNvSpPr txBox="1">
            <a:spLocks noGrp="1"/>
          </p:cNvSpPr>
          <p:nvPr>
            <p:ph type="subTitle" idx="1"/>
          </p:nvPr>
        </p:nvSpPr>
        <p:spPr>
          <a:xfrm>
            <a:off x="5318725" y="3074550"/>
            <a:ext cx="2497200" cy="1044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
              <a:buNone/>
            </a:pPr>
            <a:r>
              <a:rPr lang="en-US"/>
              <a:t>#Start</a:t>
            </a:r>
            <a:endParaRPr/>
          </a:p>
        </p:txBody>
      </p:sp>
      <p:sp>
        <p:nvSpPr>
          <p:cNvPr id="105" name="Google Shape;105;p1"/>
          <p:cNvSpPr/>
          <p:nvPr/>
        </p:nvSpPr>
        <p:spPr>
          <a:xfrm>
            <a:off x="5318787" y="2914950"/>
            <a:ext cx="2497200" cy="159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06" name="Google Shape;106;p1"/>
          <p:cNvSpPr txBox="1"/>
          <p:nvPr/>
        </p:nvSpPr>
        <p:spPr>
          <a:xfrm>
            <a:off x="472750" y="4597236"/>
            <a:ext cx="335902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dk1"/>
                </a:solidFill>
                <a:latin typeface="Consolas"/>
                <a:ea typeface="Consolas"/>
                <a:cs typeface="Consolas"/>
                <a:sym typeface="Consolas"/>
              </a:rPr>
              <a:t>Prepared by: Bryan Emmanuel Paz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Client-Side Programming</a:t>
            </a:r>
            <a:endParaRPr b="1"/>
          </a:p>
        </p:txBody>
      </p:sp>
      <p:sp>
        <p:nvSpPr>
          <p:cNvPr id="112" name="Google Shape;112;p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13" name="Google Shape;113;p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 name="Google Shape;114;p2"/>
          <p:cNvSpPr txBox="1"/>
          <p:nvPr/>
        </p:nvSpPr>
        <p:spPr>
          <a:xfrm>
            <a:off x="555454" y="988892"/>
            <a:ext cx="8055746" cy="40010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3D3D3D"/>
                </a:solidFill>
                <a:latin typeface="Poppins"/>
                <a:ea typeface="Poppins"/>
                <a:cs typeface="Poppins"/>
                <a:sym typeface="Poppins"/>
              </a:rPr>
              <a:t>Refers to </a:t>
            </a:r>
            <a:r>
              <a:rPr lang="en-US" sz="1600" b="1" i="0" u="none" strike="noStrike" cap="none">
                <a:solidFill>
                  <a:srgbClr val="3D3D3D"/>
                </a:solidFill>
                <a:latin typeface="Poppins"/>
                <a:ea typeface="Poppins"/>
                <a:cs typeface="Poppins"/>
                <a:sym typeface="Poppins"/>
              </a:rPr>
              <a:t>scripts that run in the user's web browser</a:t>
            </a:r>
            <a:r>
              <a:rPr lang="en-US" sz="1600" b="0" i="0" u="none" strike="noStrike" cap="none">
                <a:solidFill>
                  <a:srgbClr val="3D3D3D"/>
                </a:solidFill>
                <a:latin typeface="Poppins"/>
                <a:ea typeface="Poppins"/>
                <a:cs typeface="Poppins"/>
                <a:sym typeface="Poppins"/>
              </a:rPr>
              <a:t>. The primary purpose is to create a responsive and interactive user experience.</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3D3D3D"/>
                </a:solidFill>
                <a:latin typeface="Poppins"/>
                <a:ea typeface="Poppins"/>
                <a:cs typeface="Poppins"/>
                <a:sym typeface="Poppins"/>
              </a:rPr>
              <a:t>Commonly includes </a:t>
            </a:r>
            <a:r>
              <a:rPr lang="en-US" sz="1600" b="1" i="0" u="none" strike="noStrike" cap="none">
                <a:solidFill>
                  <a:srgbClr val="3D3D3D"/>
                </a:solidFill>
                <a:latin typeface="Poppins"/>
                <a:ea typeface="Poppins"/>
                <a:cs typeface="Poppins"/>
                <a:sym typeface="Poppins"/>
              </a:rPr>
              <a:t>HTML, CSS, and JavaScript</a:t>
            </a:r>
            <a:r>
              <a:rPr lang="en-US" sz="1600" b="0" i="0" u="none" strike="noStrike" cap="none">
                <a:solidFill>
                  <a:srgbClr val="3D3D3D"/>
                </a:solidFill>
                <a:latin typeface="Poppins"/>
                <a:ea typeface="Poppins"/>
                <a:cs typeface="Poppins"/>
                <a:sym typeface="Poppins"/>
              </a:rPr>
              <a:t>. Frameworks and libraries like React, Angular, and Vue.js are also widely used.</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None/>
            </a:pPr>
            <a:r>
              <a:rPr lang="en-US" sz="1600" b="1" i="0" u="none" strike="noStrike" cap="none">
                <a:solidFill>
                  <a:srgbClr val="000000"/>
                </a:solidFill>
                <a:latin typeface="Poppins"/>
                <a:ea typeface="Poppins"/>
                <a:cs typeface="Poppins"/>
                <a:sym typeface="Poppins"/>
              </a:rPr>
              <a:t>Functionality</a:t>
            </a:r>
            <a:r>
              <a:rPr lang="en-US" sz="1600" b="0" i="0" u="none" strike="noStrike" cap="none">
                <a:solidFill>
                  <a:srgbClr val="000000"/>
                </a:solidFill>
                <a:latin typeface="Poppins"/>
                <a:ea typeface="Poppins"/>
                <a:cs typeface="Poppins"/>
                <a:sym typeface="Poppins"/>
              </a:rPr>
              <a:t>:</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Manipulates the Document Object Model (DOM) to change content and styles dynamically.</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Handles user interactions (like clicks and keyboard input).</a:t>
            </a:r>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1600" b="1" i="0" u="none" strike="noStrike" cap="none">
                <a:solidFill>
                  <a:srgbClr val="000000"/>
                </a:solidFill>
                <a:latin typeface="Poppins"/>
                <a:ea typeface="Poppins"/>
                <a:cs typeface="Poppins"/>
                <a:sym typeface="Poppins"/>
              </a:rPr>
              <a:t>Advantages</a:t>
            </a:r>
            <a:r>
              <a:rPr lang="en-US" sz="1600" b="0" i="0" u="none" strike="noStrike" cap="none">
                <a:solidFill>
                  <a:srgbClr val="000000"/>
                </a:solidFill>
                <a:latin typeface="Poppins"/>
                <a:ea typeface="Poppins"/>
                <a:cs typeface="Poppins"/>
                <a:sym typeface="Poppins"/>
              </a:rPr>
              <a:t>:</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Reduces server load since some processing is done on the client’s side.</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Provides a more interactive and responsive user experience.</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Server-Side Programming</a:t>
            </a:r>
            <a:endParaRPr/>
          </a:p>
        </p:txBody>
      </p:sp>
      <p:sp>
        <p:nvSpPr>
          <p:cNvPr id="120" name="Google Shape;120;p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21" name="Google Shape;121;p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2" name="Google Shape;122;p3"/>
          <p:cNvSpPr txBox="1"/>
          <p:nvPr/>
        </p:nvSpPr>
        <p:spPr>
          <a:xfrm>
            <a:off x="425327" y="684000"/>
            <a:ext cx="8055746"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3D3D3D"/>
                </a:solidFill>
                <a:latin typeface="Poppins"/>
                <a:ea typeface="Poppins"/>
                <a:cs typeface="Poppins"/>
                <a:sym typeface="Poppins"/>
              </a:rPr>
              <a:t>Involves scripts that </a:t>
            </a:r>
            <a:r>
              <a:rPr lang="en-US" sz="1600" b="1" i="0" u="none" strike="noStrike" cap="none">
                <a:solidFill>
                  <a:srgbClr val="3D3D3D"/>
                </a:solidFill>
                <a:latin typeface="Poppins"/>
                <a:ea typeface="Poppins"/>
                <a:cs typeface="Poppins"/>
                <a:sym typeface="Poppins"/>
              </a:rPr>
              <a:t>run on the server before the content is sent to the user's browser</a:t>
            </a:r>
            <a:r>
              <a:rPr lang="en-US" sz="1600" b="0" i="0" u="none" strike="noStrike" cap="none">
                <a:solidFill>
                  <a:srgbClr val="3D3D3D"/>
                </a:solidFill>
                <a:latin typeface="Poppins"/>
                <a:ea typeface="Poppins"/>
                <a:cs typeface="Poppins"/>
                <a:sym typeface="Poppins"/>
              </a:rPr>
              <a:t>. It's responsible for managing and processing data, handling business logic, and serving web pages.</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3D3D3D"/>
                </a:solidFill>
                <a:latin typeface="Poppins"/>
                <a:ea typeface="Poppins"/>
                <a:cs typeface="Poppins"/>
                <a:sym typeface="Poppins"/>
              </a:rPr>
              <a:t>Languages: Common languages include PHP, Python, Ruby, Java, and Node.js (JavaScript on the server side).</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None/>
            </a:pPr>
            <a:r>
              <a:rPr lang="en-US" sz="1600" b="1" i="0" u="none" strike="noStrike" cap="none">
                <a:solidFill>
                  <a:srgbClr val="000000"/>
                </a:solidFill>
                <a:latin typeface="Poppins"/>
                <a:ea typeface="Poppins"/>
                <a:cs typeface="Poppins"/>
                <a:sym typeface="Poppins"/>
              </a:rPr>
              <a:t>Functionality</a:t>
            </a:r>
            <a:r>
              <a:rPr lang="en-US" sz="1800" b="0" i="0" u="none" strike="noStrike" cap="none">
                <a:solidFill>
                  <a:srgbClr val="000000"/>
                </a:solidFill>
                <a:latin typeface="Poppins"/>
                <a:ea typeface="Poppins"/>
                <a:cs typeface="Poppins"/>
                <a:sym typeface="Poppins"/>
              </a:rPr>
              <a:t>:</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Interacts with databases to retrieve, manipulate, and store data.</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Authenticates and authorizes users.</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Generates dynamic content based on user requests and server-side logic.</a:t>
            </a:r>
            <a:endParaRPr/>
          </a:p>
          <a:p>
            <a:pPr marL="0" marR="0" lvl="0" indent="0" algn="l" rtl="0">
              <a:lnSpc>
                <a:spcPct val="100000"/>
              </a:lnSpc>
              <a:spcBef>
                <a:spcPts val="0"/>
              </a:spcBef>
              <a:spcAft>
                <a:spcPts val="0"/>
              </a:spcAft>
              <a:buNone/>
            </a:pPr>
            <a:endParaRPr sz="14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1600" b="1" i="0" u="none" strike="noStrike" cap="none">
                <a:solidFill>
                  <a:srgbClr val="000000"/>
                </a:solidFill>
                <a:latin typeface="Poppins"/>
                <a:ea typeface="Poppins"/>
                <a:cs typeface="Poppins"/>
                <a:sym typeface="Poppins"/>
              </a:rPr>
              <a:t>Advantages</a:t>
            </a:r>
            <a:r>
              <a:rPr lang="en-US" sz="1600" b="0" i="0" u="none" strike="noStrike" cap="none">
                <a:solidFill>
                  <a:srgbClr val="000000"/>
                </a:solidFill>
                <a:latin typeface="Poppins"/>
                <a:ea typeface="Poppins"/>
                <a:cs typeface="Poppins"/>
                <a:sym typeface="Poppins"/>
              </a:rPr>
              <a:t>:</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Can handle complex processing and data management that cannot be performed on the client side.</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Poppins"/>
                <a:ea typeface="Poppins"/>
                <a:cs typeface="Poppins"/>
                <a:sym typeface="Poppins"/>
              </a:rPr>
              <a:t>Maintains a higher level of security since sensitive operations and data are kept on the server.</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oppins"/>
              <a:ea typeface="Poppins"/>
              <a:cs typeface="Poppins"/>
              <a:sym typeface="Poppins"/>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3D3D3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Advantages of PHP over Other Languages</a:t>
            </a:r>
            <a:endParaRPr b="1"/>
          </a:p>
        </p:txBody>
      </p:sp>
      <p:sp>
        <p:nvSpPr>
          <p:cNvPr id="128" name="Google Shape;128;p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29" name="Google Shape;129;p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 name="Google Shape;130;p4"/>
          <p:cNvSpPr txBox="1"/>
          <p:nvPr/>
        </p:nvSpPr>
        <p:spPr>
          <a:xfrm>
            <a:off x="353854" y="820370"/>
            <a:ext cx="8436292"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Easy to learn: </a:t>
            </a:r>
            <a:r>
              <a:rPr lang="en-US" sz="1600" b="0" i="0" u="none" strike="noStrike" cap="none">
                <a:solidFill>
                  <a:schemeClr val="lt1"/>
                </a:solidFill>
                <a:latin typeface="Arial"/>
                <a:ea typeface="Arial"/>
                <a:cs typeface="Arial"/>
                <a:sym typeface="Arial"/>
              </a:rPr>
              <a:t>PHP is easy to learn and use. For beginner programmers who just started out in web development, PHP is often considered as the preferable choice of language to learn.</a:t>
            </a:r>
            <a:endParaRPr/>
          </a:p>
          <a:p>
            <a:pPr marL="0" marR="0" lvl="0" indent="0" algn="l"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Open source</a:t>
            </a:r>
            <a:r>
              <a:rPr lang="en-US" sz="1600" b="0" i="0" u="none" strike="noStrike" cap="none">
                <a:solidFill>
                  <a:schemeClr val="lt1"/>
                </a:solidFill>
                <a:latin typeface="Arial"/>
                <a:ea typeface="Arial"/>
                <a:cs typeface="Arial"/>
                <a:sym typeface="Arial"/>
              </a:rPr>
              <a:t>: PHP is an open-source project. It is developed and maintained by a worldwide community of developers who make its source code freely available to download and use.</a:t>
            </a:r>
            <a:endParaRPr/>
          </a:p>
          <a:p>
            <a:pPr marL="0" marR="0" lvl="0" indent="0" algn="l"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Portability</a:t>
            </a:r>
            <a:r>
              <a:rPr lang="en-US" sz="1600" b="0" i="0" u="none" strike="noStrike" cap="none">
                <a:solidFill>
                  <a:schemeClr val="lt1"/>
                </a:solidFill>
                <a:latin typeface="Arial"/>
                <a:ea typeface="Arial"/>
                <a:cs typeface="Arial"/>
                <a:sym typeface="Arial"/>
              </a:rPr>
              <a:t>: PHP runs on various platforms such as </a:t>
            </a:r>
            <a:r>
              <a:rPr lang="en-US" sz="1600" b="1" i="0" u="none" strike="noStrike" cap="none">
                <a:solidFill>
                  <a:schemeClr val="lt1"/>
                </a:solidFill>
                <a:latin typeface="Arial"/>
                <a:ea typeface="Arial"/>
                <a:cs typeface="Arial"/>
                <a:sym typeface="Arial"/>
              </a:rPr>
              <a:t>Microsoft</a:t>
            </a: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Windows</a:t>
            </a: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Linux</a:t>
            </a: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Mac OS</a:t>
            </a:r>
            <a:r>
              <a:rPr lang="en-US" sz="1600" b="0" i="0" u="none" strike="noStrike" cap="none">
                <a:solidFill>
                  <a:schemeClr val="lt1"/>
                </a:solidFill>
                <a:latin typeface="Arial"/>
                <a:ea typeface="Arial"/>
                <a:cs typeface="Arial"/>
                <a:sym typeface="Arial"/>
              </a:rPr>
              <a:t>, etc. and it is compatible with almost all servers used today such </a:t>
            </a:r>
            <a:r>
              <a:rPr lang="en-US" sz="1600" b="1" i="0" u="none" strike="noStrike" cap="none">
                <a:solidFill>
                  <a:schemeClr val="lt1"/>
                </a:solidFill>
                <a:latin typeface="Arial"/>
                <a:ea typeface="Arial"/>
                <a:cs typeface="Arial"/>
                <a:sym typeface="Arial"/>
              </a:rPr>
              <a:t>Apache</a:t>
            </a: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IIS</a:t>
            </a:r>
            <a:r>
              <a:rPr lang="en-US" sz="1600" b="0" i="0" u="none" strike="noStrike" cap="none">
                <a:solidFill>
                  <a:schemeClr val="lt1"/>
                </a:solidFill>
                <a:latin typeface="Arial"/>
                <a:ea typeface="Arial"/>
                <a:cs typeface="Arial"/>
                <a:sym typeface="Arial"/>
              </a:rPr>
              <a:t>, etc.</a:t>
            </a:r>
            <a:endParaRPr/>
          </a:p>
          <a:p>
            <a:pPr marL="0" marR="0" lvl="0" indent="0" algn="l"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Fast Performance</a:t>
            </a:r>
            <a:r>
              <a:rPr lang="en-US" sz="1600" b="0" i="0" u="none" strike="noStrike" cap="none">
                <a:solidFill>
                  <a:schemeClr val="lt1"/>
                </a:solidFill>
                <a:latin typeface="Arial"/>
                <a:ea typeface="Arial"/>
                <a:cs typeface="Arial"/>
                <a:sym typeface="Arial"/>
              </a:rPr>
              <a:t>: Scripts written in PHP usually execute or runs faster than those written in other scripting languages like ASP, Ruby, Java, etc.</a:t>
            </a:r>
            <a:endParaRPr/>
          </a:p>
          <a:p>
            <a:pPr marL="0" marR="0" lvl="0" indent="0" algn="l" rtl="0">
              <a:lnSpc>
                <a:spcPct val="100000"/>
              </a:lnSpc>
              <a:spcBef>
                <a:spcPts val="0"/>
              </a:spcBef>
              <a:spcAft>
                <a:spcPts val="0"/>
              </a:spcAft>
              <a:buNone/>
            </a:pPr>
            <a:endParaRPr sz="16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a:solidFill>
                  <a:schemeClr val="lt1"/>
                </a:solidFill>
                <a:latin typeface="Arial"/>
                <a:ea typeface="Arial"/>
                <a:cs typeface="Arial"/>
                <a:sym typeface="Arial"/>
              </a:rPr>
              <a:t>• </a:t>
            </a:r>
            <a:r>
              <a:rPr lang="en-US" sz="1600" b="1" i="0" u="none" strike="noStrike" cap="none">
                <a:solidFill>
                  <a:schemeClr val="lt1"/>
                </a:solidFill>
                <a:latin typeface="Arial"/>
                <a:ea typeface="Arial"/>
                <a:cs typeface="Arial"/>
                <a:sym typeface="Arial"/>
              </a:rPr>
              <a:t>Vast Community</a:t>
            </a:r>
            <a:r>
              <a:rPr lang="en-US" sz="1600" b="0" i="0" u="none" strike="noStrike" cap="none">
                <a:solidFill>
                  <a:schemeClr val="lt1"/>
                </a:solidFill>
                <a:latin typeface="Arial"/>
                <a:ea typeface="Arial"/>
                <a:cs typeface="Arial"/>
                <a:sym typeface="Arial"/>
              </a:rPr>
              <a:t>: Since PHP is supported by the worldwide community, finding help or documentation related to PHP online is extremely easy.</a:t>
            </a:r>
            <a:endParaRPr sz="1600" b="0" i="0" u="none" strike="noStrike" cap="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WHAT IS PHP</a:t>
            </a:r>
            <a:endParaRPr/>
          </a:p>
        </p:txBody>
      </p:sp>
      <p:sp>
        <p:nvSpPr>
          <p:cNvPr id="136" name="Google Shape;136;p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37" name="Google Shape;137;p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8" name="Google Shape;138;p5"/>
          <p:cNvSpPr txBox="1"/>
          <p:nvPr/>
        </p:nvSpPr>
        <p:spPr>
          <a:xfrm>
            <a:off x="544127" y="981625"/>
            <a:ext cx="8055746"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D3D3D"/>
                </a:solidFill>
                <a:latin typeface="Poppins"/>
                <a:ea typeface="Poppins"/>
                <a:cs typeface="Poppins"/>
                <a:sym typeface="Poppins"/>
              </a:rPr>
              <a:t>• PHP stands for </a:t>
            </a:r>
            <a:r>
              <a:rPr lang="en-US" sz="2000" b="1" i="0" u="none" strike="noStrike" cap="none">
                <a:solidFill>
                  <a:srgbClr val="3D3D3D"/>
                </a:solidFill>
                <a:latin typeface="Poppins"/>
                <a:ea typeface="Poppins"/>
                <a:cs typeface="Poppins"/>
                <a:sym typeface="Poppins"/>
              </a:rPr>
              <a:t>Hypertext Preprocessor</a:t>
            </a:r>
            <a:r>
              <a:rPr lang="en-US" sz="2000" b="0" i="0" u="none" strike="noStrike" cap="none">
                <a:solidFill>
                  <a:srgbClr val="3D3D3D"/>
                </a:solidFill>
                <a:latin typeface="Poppins"/>
                <a:ea typeface="Poppins"/>
                <a:cs typeface="Poppins"/>
                <a:sym typeface="Poppins"/>
              </a:rPr>
              <a:t>. PHP is a very popular and widely-used open-source </a:t>
            </a:r>
            <a:r>
              <a:rPr lang="en-US" sz="2000" b="1" i="0" u="none" strike="noStrike" cap="none">
                <a:solidFill>
                  <a:srgbClr val="3D3D3D"/>
                </a:solidFill>
                <a:latin typeface="Poppins"/>
                <a:ea typeface="Poppins"/>
                <a:cs typeface="Poppins"/>
                <a:sym typeface="Poppins"/>
              </a:rPr>
              <a:t>server-side scripting language</a:t>
            </a:r>
            <a:r>
              <a:rPr lang="en-US" sz="2000" b="0" i="0" u="none" strike="noStrike" cap="none">
                <a:solidFill>
                  <a:srgbClr val="3D3D3D"/>
                </a:solidFill>
                <a:latin typeface="Poppins"/>
                <a:ea typeface="Poppins"/>
                <a:cs typeface="Poppins"/>
                <a:sym typeface="Poppins"/>
              </a:rPr>
              <a:t> to write dynamically generated web pages. PHP was originally created by </a:t>
            </a:r>
            <a:r>
              <a:rPr lang="en-US" sz="2000" b="1" i="0" u="none" strike="noStrike" cap="none">
                <a:solidFill>
                  <a:srgbClr val="3D3D3D"/>
                </a:solidFill>
                <a:latin typeface="Poppins"/>
                <a:ea typeface="Poppins"/>
                <a:cs typeface="Poppins"/>
                <a:sym typeface="Poppins"/>
              </a:rPr>
              <a:t>Rasmus Lerdorf in 1994</a:t>
            </a:r>
            <a:r>
              <a:rPr lang="en-US" sz="2000" b="0" i="0" u="none" strike="noStrike" cap="none">
                <a:solidFill>
                  <a:srgbClr val="3D3D3D"/>
                </a:solidFill>
                <a:latin typeface="Poppins"/>
                <a:ea typeface="Poppins"/>
                <a:cs typeface="Poppins"/>
                <a:sym typeface="Poppins"/>
              </a:rPr>
              <a:t>. It was initially known as </a:t>
            </a:r>
            <a:r>
              <a:rPr lang="en-US" sz="2000" b="1" i="0" u="none" strike="noStrike" cap="none">
                <a:solidFill>
                  <a:srgbClr val="3D3D3D"/>
                </a:solidFill>
                <a:latin typeface="Poppins"/>
                <a:ea typeface="Poppins"/>
                <a:cs typeface="Poppins"/>
                <a:sym typeface="Poppins"/>
              </a:rPr>
              <a:t>Personal Home Page</a:t>
            </a:r>
            <a:r>
              <a:rPr lang="en-US" sz="2000" b="0" i="0" u="none" strike="noStrike" cap="none">
                <a:solidFill>
                  <a:srgbClr val="3D3D3D"/>
                </a:solidFill>
                <a:latin typeface="Poppins"/>
                <a:ea typeface="Poppins"/>
                <a:cs typeface="Poppins"/>
                <a:sym typeface="Poppins"/>
              </a:rPr>
              <a:t>. </a:t>
            </a:r>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D3D3D"/>
                </a:solidFill>
                <a:latin typeface="Poppins"/>
                <a:ea typeface="Poppins"/>
                <a:cs typeface="Poppins"/>
                <a:sym typeface="Poppins"/>
              </a:rPr>
              <a:t>• PHP scripts are </a:t>
            </a:r>
            <a:r>
              <a:rPr lang="en-US" sz="2000" b="1" i="0" u="none" strike="noStrike" cap="none">
                <a:solidFill>
                  <a:srgbClr val="3D3D3D"/>
                </a:solidFill>
                <a:latin typeface="Poppins"/>
                <a:ea typeface="Poppins"/>
                <a:cs typeface="Poppins"/>
                <a:sym typeface="Poppins"/>
              </a:rPr>
              <a:t>executed on the server </a:t>
            </a:r>
            <a:r>
              <a:rPr lang="en-US" sz="2000" b="0" i="0" u="none" strike="noStrike" cap="none">
                <a:solidFill>
                  <a:srgbClr val="3D3D3D"/>
                </a:solidFill>
                <a:latin typeface="Poppins"/>
                <a:ea typeface="Poppins"/>
                <a:cs typeface="Poppins"/>
                <a:sym typeface="Poppins"/>
              </a:rPr>
              <a:t>and </a:t>
            </a:r>
            <a:r>
              <a:rPr lang="en-US" sz="2000" b="1" i="0" u="none" strike="noStrike" cap="none">
                <a:solidFill>
                  <a:srgbClr val="3D3D3D"/>
                </a:solidFill>
                <a:latin typeface="Poppins"/>
                <a:ea typeface="Poppins"/>
                <a:cs typeface="Poppins"/>
                <a:sym typeface="Poppins"/>
              </a:rPr>
              <a:t>the result is sent to the web browser as plain HTML.</a:t>
            </a:r>
            <a:r>
              <a:rPr lang="en-US" sz="2000" b="0" i="0" u="none" strike="noStrike" cap="none">
                <a:solidFill>
                  <a:srgbClr val="3D3D3D"/>
                </a:solidFill>
                <a:latin typeface="Poppins"/>
                <a:ea typeface="Poppins"/>
                <a:cs typeface="Poppins"/>
                <a:sym typeface="Poppins"/>
              </a:rPr>
              <a:t> PHP can be integrated with the number of popular databases, including MySQL, PostgreSQL, Oracle, Microsoft SQL Server, Sybase, and so on.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800">
                <a:solidFill>
                  <a:schemeClr val="dk1"/>
                </a:solidFill>
              </a:rPr>
              <a:t>What is a PHP File?</a:t>
            </a:r>
            <a:endParaRPr/>
          </a:p>
        </p:txBody>
      </p:sp>
      <p:sp>
        <p:nvSpPr>
          <p:cNvPr id="144" name="Google Shape;144;p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45" name="Google Shape;145;p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6" name="Google Shape;146;p6"/>
          <p:cNvSpPr txBox="1"/>
          <p:nvPr/>
        </p:nvSpPr>
        <p:spPr>
          <a:xfrm>
            <a:off x="703800" y="1037791"/>
            <a:ext cx="7988400"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3D3D3D"/>
                </a:solidFill>
                <a:latin typeface="Poppins"/>
                <a:ea typeface="Poppins"/>
                <a:cs typeface="Poppins"/>
                <a:sym typeface="Poppins"/>
              </a:rPr>
              <a:t>• PHP files may contain text, HTML tags and scripts. </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3D3D3D"/>
                </a:solidFill>
                <a:latin typeface="Poppins"/>
                <a:ea typeface="Poppins"/>
                <a:cs typeface="Poppins"/>
                <a:sym typeface="Poppins"/>
              </a:rPr>
              <a:t>• PHP files are returned to the browser as plain HTML.</a:t>
            </a:r>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3D3D3D"/>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3D3D3D"/>
                </a:solidFill>
                <a:latin typeface="Poppins"/>
                <a:ea typeface="Poppins"/>
                <a:cs typeface="Poppins"/>
                <a:sym typeface="Poppins"/>
              </a:rPr>
              <a:t>• PHP files have a file extension of ".php", ".php3", or ".phtml"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52" name="Google Shape;152;p7"/>
          <p:cNvSpPr txBox="1">
            <a:spLocks noGrp="1"/>
          </p:cNvSpPr>
          <p:nvPr>
            <p:ph type="title"/>
          </p:nvPr>
        </p:nvSpPr>
        <p:spPr>
          <a:xfrm>
            <a:off x="2926800" y="2150850"/>
            <a:ext cx="32904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PHP Syntax</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Basic PHP Syntax </a:t>
            </a:r>
            <a:endParaRPr b="1"/>
          </a:p>
        </p:txBody>
      </p:sp>
      <p:sp>
        <p:nvSpPr>
          <p:cNvPr id="158" name="Google Shape;158;p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59" name="Google Shape;159;p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0" name="Google Shape;160;p8"/>
          <p:cNvSpPr txBox="1"/>
          <p:nvPr/>
        </p:nvSpPr>
        <p:spPr>
          <a:xfrm>
            <a:off x="525600" y="1447572"/>
            <a:ext cx="8092800"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Consolas"/>
                <a:ea typeface="Consolas"/>
                <a:cs typeface="Consolas"/>
                <a:sym typeface="Consolas"/>
              </a:rPr>
              <a:t>A PHP script starts with the </a:t>
            </a:r>
            <a:r>
              <a:rPr lang="en-US" sz="2400" b="1" i="0" u="none" strike="noStrike" cap="none">
                <a:solidFill>
                  <a:srgbClr val="00B0F0"/>
                </a:solidFill>
                <a:latin typeface="Consolas"/>
                <a:ea typeface="Consolas"/>
                <a:cs typeface="Consolas"/>
                <a:sym typeface="Consolas"/>
              </a:rPr>
              <a:t>&lt;?php </a:t>
            </a:r>
            <a:r>
              <a:rPr lang="en-US" sz="2400" b="0" i="0" u="none" strike="noStrike" cap="none">
                <a:solidFill>
                  <a:srgbClr val="000000"/>
                </a:solidFill>
                <a:latin typeface="Consolas"/>
                <a:ea typeface="Consolas"/>
                <a:cs typeface="Consolas"/>
                <a:sym typeface="Consolas"/>
              </a:rPr>
              <a:t>and ends with the </a:t>
            </a:r>
            <a:r>
              <a:rPr lang="en-US" sz="2400" b="1" i="0" u="none" strike="noStrike" cap="none">
                <a:solidFill>
                  <a:srgbClr val="00B0F0"/>
                </a:solidFill>
                <a:latin typeface="Consolas"/>
                <a:ea typeface="Consolas"/>
                <a:cs typeface="Consolas"/>
                <a:sym typeface="Consolas"/>
              </a:rPr>
              <a:t>?&gt;</a:t>
            </a:r>
            <a:r>
              <a:rPr lang="en-US" sz="2400" b="0" i="0" u="none" strike="noStrike" cap="none">
                <a:solidFill>
                  <a:srgbClr val="000000"/>
                </a:solidFill>
                <a:latin typeface="Consolas"/>
                <a:ea typeface="Consolas"/>
                <a:cs typeface="Consolas"/>
                <a:sym typeface="Consolas"/>
              </a:rPr>
              <a:t> tag.</a:t>
            </a:r>
            <a:endParaRPr/>
          </a:p>
          <a:p>
            <a:pPr marL="0" marR="0" lvl="0" indent="0" algn="l" rtl="0">
              <a:lnSpc>
                <a:spcPct val="100000"/>
              </a:lnSpc>
              <a:spcBef>
                <a:spcPts val="0"/>
              </a:spcBef>
              <a:spcAft>
                <a:spcPts val="0"/>
              </a:spcAft>
              <a:buNone/>
            </a:pPr>
            <a:endParaRPr sz="2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400" b="0" i="0" u="none" strike="noStrike" cap="none">
                <a:solidFill>
                  <a:srgbClr val="000000"/>
                </a:solidFill>
                <a:latin typeface="Consolas"/>
                <a:ea typeface="Consolas"/>
                <a:cs typeface="Consolas"/>
                <a:sym typeface="Consolas"/>
              </a:rPr>
              <a:t>The PHP </a:t>
            </a:r>
            <a:r>
              <a:rPr lang="en-US" sz="2400" b="1" i="0" u="none" strike="noStrike" cap="none">
                <a:solidFill>
                  <a:srgbClr val="000000"/>
                </a:solidFill>
                <a:latin typeface="Consolas"/>
                <a:ea typeface="Consolas"/>
                <a:cs typeface="Consolas"/>
                <a:sym typeface="Consolas"/>
              </a:rPr>
              <a:t>delimiter</a:t>
            </a:r>
            <a:r>
              <a:rPr lang="en-US" sz="2400" b="0" i="0" u="none" strike="noStrike" cap="none">
                <a:solidFill>
                  <a:srgbClr val="000000"/>
                </a:solidFill>
                <a:latin typeface="Consolas"/>
                <a:ea typeface="Consolas"/>
                <a:cs typeface="Consolas"/>
                <a:sym typeface="Consolas"/>
              </a:rPr>
              <a:t> </a:t>
            </a:r>
            <a:r>
              <a:rPr lang="en-US" sz="2400" b="1" i="0" u="none" strike="noStrike" cap="none">
                <a:solidFill>
                  <a:srgbClr val="00B0F0"/>
                </a:solidFill>
                <a:latin typeface="Consolas"/>
                <a:ea typeface="Consolas"/>
                <a:cs typeface="Consolas"/>
                <a:sym typeface="Consolas"/>
              </a:rPr>
              <a:t>&lt;?php </a:t>
            </a:r>
            <a:r>
              <a:rPr lang="en-US" sz="2400" b="0" i="0" u="none" strike="noStrike" cap="none">
                <a:solidFill>
                  <a:srgbClr val="000000"/>
                </a:solidFill>
                <a:latin typeface="Consolas"/>
                <a:ea typeface="Consolas"/>
                <a:cs typeface="Consolas"/>
                <a:sym typeface="Consolas"/>
              </a:rPr>
              <a:t>and </a:t>
            </a:r>
            <a:r>
              <a:rPr lang="en-US" sz="2400" b="1" i="0" u="none" strike="noStrike" cap="none">
                <a:solidFill>
                  <a:srgbClr val="00B0F0"/>
                </a:solidFill>
                <a:latin typeface="Consolas"/>
                <a:ea typeface="Consolas"/>
                <a:cs typeface="Consolas"/>
                <a:sym typeface="Consolas"/>
              </a:rPr>
              <a:t>?&gt;</a:t>
            </a:r>
            <a:r>
              <a:rPr lang="en-US" sz="2400" b="0" i="0" u="none" strike="noStrike" cap="none">
                <a:solidFill>
                  <a:srgbClr val="000000"/>
                </a:solidFill>
                <a:latin typeface="Consolas"/>
                <a:ea typeface="Consolas"/>
                <a:cs typeface="Consolas"/>
                <a:sym typeface="Consolas"/>
              </a:rPr>
              <a:t> in the following example simply tells the </a:t>
            </a:r>
            <a:r>
              <a:rPr lang="en-US" sz="2400" b="1" i="0" u="none" strike="noStrike" cap="none">
                <a:solidFill>
                  <a:srgbClr val="000000"/>
                </a:solidFill>
                <a:latin typeface="Consolas"/>
                <a:ea typeface="Consolas"/>
                <a:cs typeface="Consolas"/>
                <a:sym typeface="Consolas"/>
              </a:rPr>
              <a:t>PHP engine to treat </a:t>
            </a:r>
            <a:endParaRPr/>
          </a:p>
          <a:p>
            <a:pPr marL="0" marR="0" lvl="0" indent="0" algn="l" rtl="0">
              <a:lnSpc>
                <a:spcPct val="100000"/>
              </a:lnSpc>
              <a:spcBef>
                <a:spcPts val="0"/>
              </a:spcBef>
              <a:spcAft>
                <a:spcPts val="0"/>
              </a:spcAft>
              <a:buNone/>
            </a:pPr>
            <a:r>
              <a:rPr lang="en-US" sz="2400" b="1" i="0" u="none" strike="noStrike" cap="none">
                <a:solidFill>
                  <a:srgbClr val="000000"/>
                </a:solidFill>
                <a:latin typeface="Consolas"/>
                <a:ea typeface="Consolas"/>
                <a:cs typeface="Consolas"/>
                <a:sym typeface="Consolas"/>
              </a:rPr>
              <a:t>the enclosed code block as PHP code</a:t>
            </a:r>
            <a:r>
              <a:rPr lang="en-US" sz="2400" b="0" i="0" u="none" strike="noStrike" cap="none">
                <a:solidFill>
                  <a:srgbClr val="000000"/>
                </a:solidFill>
                <a:latin typeface="Consolas"/>
                <a:ea typeface="Consolas"/>
                <a:cs typeface="Consolas"/>
                <a:sym typeface="Consolas"/>
              </a:rPr>
              <a:t>, rather than simple HTML</a:t>
            </a:r>
            <a:endParaRPr sz="24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Basic PHP Syntax </a:t>
            </a:r>
            <a:endParaRPr b="1"/>
          </a:p>
        </p:txBody>
      </p:sp>
      <p:sp>
        <p:nvSpPr>
          <p:cNvPr id="166" name="Google Shape;166;p9"/>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67" name="Google Shape;167;p9"/>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8" name="Google Shape;168;p9"/>
          <p:cNvSpPr txBox="1"/>
          <p:nvPr/>
        </p:nvSpPr>
        <p:spPr>
          <a:xfrm>
            <a:off x="525600" y="981625"/>
            <a:ext cx="8092800"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In PHP, there are </a:t>
            </a:r>
            <a:r>
              <a:rPr lang="en-US" sz="2000" b="1" i="0" u="none" strike="noStrike" cap="none">
                <a:solidFill>
                  <a:srgbClr val="000000"/>
                </a:solidFill>
                <a:latin typeface="Consolas"/>
                <a:ea typeface="Consolas"/>
                <a:cs typeface="Consolas"/>
                <a:sym typeface="Consolas"/>
              </a:rPr>
              <a:t>two basic ways to get output</a:t>
            </a:r>
            <a:r>
              <a:rPr lang="en-US" sz="2000" b="0" i="0"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FF0000"/>
                </a:solidFill>
                <a:latin typeface="Consolas"/>
                <a:ea typeface="Consolas"/>
                <a:cs typeface="Consolas"/>
                <a:sym typeface="Consolas"/>
              </a:rPr>
              <a:t>echo</a:t>
            </a:r>
            <a:r>
              <a:rPr lang="en-US" sz="2000" b="0" i="0" u="none" strike="noStrike" cap="none">
                <a:solidFill>
                  <a:srgbClr val="000000"/>
                </a:solidFill>
                <a:latin typeface="Consolas"/>
                <a:ea typeface="Consolas"/>
                <a:cs typeface="Consolas"/>
                <a:sym typeface="Consolas"/>
              </a:rPr>
              <a:t> and </a:t>
            </a:r>
            <a:r>
              <a:rPr lang="en-US" sz="2000" b="0" i="0" u="none" strike="noStrike" cap="none">
                <a:solidFill>
                  <a:srgbClr val="FF0000"/>
                </a:solidFill>
                <a:latin typeface="Consolas"/>
                <a:ea typeface="Consolas"/>
                <a:cs typeface="Consolas"/>
                <a:sym typeface="Consolas"/>
              </a:rPr>
              <a:t>print</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FF0000"/>
                </a:solidFill>
                <a:latin typeface="Consolas"/>
                <a:ea typeface="Consolas"/>
                <a:cs typeface="Consolas"/>
                <a:sym typeface="Consolas"/>
              </a:rPr>
              <a:t>echo</a:t>
            </a:r>
            <a:r>
              <a:rPr lang="en-US" sz="2000" b="0" i="0" u="none" strike="noStrike" cap="none">
                <a:solidFill>
                  <a:srgbClr val="000000"/>
                </a:solidFill>
                <a:latin typeface="Consolas"/>
                <a:ea typeface="Consolas"/>
                <a:cs typeface="Consolas"/>
                <a:sym typeface="Consolas"/>
              </a:rPr>
              <a:t> and </a:t>
            </a:r>
            <a:r>
              <a:rPr lang="en-US" sz="2000" b="0" i="0" u="none" strike="noStrike" cap="none">
                <a:solidFill>
                  <a:srgbClr val="FF0000"/>
                </a:solidFill>
                <a:latin typeface="Consolas"/>
                <a:ea typeface="Consolas"/>
                <a:cs typeface="Consolas"/>
                <a:sym typeface="Consolas"/>
              </a:rPr>
              <a:t>print</a:t>
            </a:r>
            <a:r>
              <a:rPr lang="en-US" sz="2000" b="0" i="0" u="none" strike="noStrike" cap="none">
                <a:solidFill>
                  <a:srgbClr val="000000"/>
                </a:solidFill>
                <a:latin typeface="Consolas"/>
                <a:ea typeface="Consolas"/>
                <a:cs typeface="Consolas"/>
                <a:sym typeface="Consolas"/>
              </a:rPr>
              <a:t> are </a:t>
            </a:r>
            <a:r>
              <a:rPr lang="en-US" sz="2000" b="1" i="0" u="none" strike="noStrike" cap="none">
                <a:solidFill>
                  <a:srgbClr val="000000"/>
                </a:solidFill>
                <a:latin typeface="Consolas"/>
                <a:ea typeface="Consolas"/>
                <a:cs typeface="Consolas"/>
                <a:sym typeface="Consolas"/>
              </a:rPr>
              <a:t>more or less the same</a:t>
            </a:r>
            <a:r>
              <a:rPr lang="en-US" sz="2000" b="0" i="0" u="none" strike="noStrike" cap="none">
                <a:solidFill>
                  <a:srgbClr val="000000"/>
                </a:solidFill>
                <a:latin typeface="Consolas"/>
                <a:ea typeface="Consolas"/>
                <a:cs typeface="Consolas"/>
                <a:sym typeface="Consolas"/>
              </a:rPr>
              <a:t>. They are both used to output data to the screen.</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The </a:t>
            </a:r>
            <a:r>
              <a:rPr lang="en-US" sz="2000" b="1" i="0" u="none" strike="noStrike" cap="none">
                <a:solidFill>
                  <a:srgbClr val="000000"/>
                </a:solidFill>
                <a:latin typeface="Consolas"/>
                <a:ea typeface="Consolas"/>
                <a:cs typeface="Consolas"/>
                <a:sym typeface="Consolas"/>
              </a:rPr>
              <a:t>differences are small</a:t>
            </a:r>
            <a:r>
              <a:rPr lang="en-US" sz="2000" b="0" i="0" u="none" strike="noStrike" cap="none">
                <a:solidFill>
                  <a:srgbClr val="000000"/>
                </a:solidFill>
                <a:latin typeface="Consolas"/>
                <a:ea typeface="Consolas"/>
                <a:cs typeface="Consolas"/>
                <a:sym typeface="Consolas"/>
              </a:rPr>
              <a:t>: </a:t>
            </a:r>
            <a:r>
              <a:rPr lang="en-US" sz="2000" b="0" i="0" u="none" strike="noStrike" cap="none">
                <a:solidFill>
                  <a:srgbClr val="FF0000"/>
                </a:solidFill>
                <a:latin typeface="Consolas"/>
                <a:ea typeface="Consolas"/>
                <a:cs typeface="Consolas"/>
                <a:sym typeface="Consolas"/>
              </a:rPr>
              <a:t>echo</a:t>
            </a:r>
            <a:r>
              <a:rPr lang="en-US" sz="2000" b="0" i="0" u="none" strike="noStrike" cap="none">
                <a:solidFill>
                  <a:srgbClr val="000000"/>
                </a:solidFill>
                <a:latin typeface="Consolas"/>
                <a:ea typeface="Consolas"/>
                <a:cs typeface="Consolas"/>
                <a:sym typeface="Consolas"/>
              </a:rPr>
              <a:t> has </a:t>
            </a:r>
            <a:r>
              <a:rPr lang="en-US" sz="2000" b="1" i="0" u="none" strike="noStrike" cap="none">
                <a:solidFill>
                  <a:srgbClr val="000000"/>
                </a:solidFill>
                <a:latin typeface="Consolas"/>
                <a:ea typeface="Consolas"/>
                <a:cs typeface="Consolas"/>
                <a:sym typeface="Consolas"/>
              </a:rPr>
              <a:t>no return value </a:t>
            </a:r>
            <a:r>
              <a:rPr lang="en-US" sz="2000" b="0" i="0" u="none" strike="noStrike" cap="none">
                <a:solidFill>
                  <a:srgbClr val="000000"/>
                </a:solidFill>
                <a:latin typeface="Consolas"/>
                <a:ea typeface="Consolas"/>
                <a:cs typeface="Consolas"/>
                <a:sym typeface="Consolas"/>
              </a:rPr>
              <a:t>while </a:t>
            </a:r>
            <a:r>
              <a:rPr lang="en-US" sz="2000" b="0" i="0" u="none" strike="noStrike" cap="none">
                <a:solidFill>
                  <a:srgbClr val="FF0000"/>
                </a:solidFill>
                <a:latin typeface="Consolas"/>
                <a:ea typeface="Consolas"/>
                <a:cs typeface="Consolas"/>
                <a:sym typeface="Consolas"/>
              </a:rPr>
              <a:t>print</a:t>
            </a:r>
            <a:r>
              <a:rPr lang="en-US" sz="2000" b="0" i="0" u="none" strike="noStrike" cap="none">
                <a:solidFill>
                  <a:srgbClr val="000000"/>
                </a:solidFill>
                <a:latin typeface="Consolas"/>
                <a:ea typeface="Consolas"/>
                <a:cs typeface="Consolas"/>
                <a:sym typeface="Consolas"/>
              </a:rPr>
              <a:t> has a </a:t>
            </a:r>
            <a:r>
              <a:rPr lang="en-US" sz="2000" b="1" i="0" u="none" strike="noStrike" cap="none">
                <a:solidFill>
                  <a:srgbClr val="000000"/>
                </a:solidFill>
                <a:latin typeface="Consolas"/>
                <a:ea typeface="Consolas"/>
                <a:cs typeface="Consolas"/>
                <a:sym typeface="Consolas"/>
              </a:rPr>
              <a:t>return value of 1 </a:t>
            </a:r>
            <a:r>
              <a:rPr lang="en-US" sz="2000" b="0" i="0" u="none" strike="noStrike" cap="none">
                <a:solidFill>
                  <a:srgbClr val="000000"/>
                </a:solidFill>
                <a:latin typeface="Consolas"/>
                <a:ea typeface="Consolas"/>
                <a:cs typeface="Consolas"/>
                <a:sym typeface="Consolas"/>
              </a:rPr>
              <a:t>so it can be used in expressions. </a:t>
            </a:r>
            <a:r>
              <a:rPr lang="en-US" sz="2000" b="0" i="0" u="none" strike="noStrike" cap="none">
                <a:solidFill>
                  <a:srgbClr val="FF0000"/>
                </a:solidFill>
                <a:latin typeface="Consolas"/>
                <a:ea typeface="Consolas"/>
                <a:cs typeface="Consolas"/>
                <a:sym typeface="Consolas"/>
              </a:rPr>
              <a:t>echo</a:t>
            </a: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000000"/>
                </a:solidFill>
                <a:latin typeface="Consolas"/>
                <a:ea typeface="Consolas"/>
                <a:cs typeface="Consolas"/>
                <a:sym typeface="Consolas"/>
              </a:rPr>
              <a:t>can take multiple parameters </a:t>
            </a:r>
            <a:r>
              <a:rPr lang="en-US" sz="2000" b="0" i="0" u="none" strike="noStrike" cap="none">
                <a:solidFill>
                  <a:srgbClr val="000000"/>
                </a:solidFill>
                <a:latin typeface="Consolas"/>
                <a:ea typeface="Consolas"/>
                <a:cs typeface="Consolas"/>
                <a:sym typeface="Consolas"/>
              </a:rPr>
              <a:t>(although such usage is rare) while </a:t>
            </a:r>
            <a:r>
              <a:rPr lang="en-US" sz="2000" b="0" i="0" u="none" strike="noStrike" cap="none">
                <a:solidFill>
                  <a:srgbClr val="FF0000"/>
                </a:solidFill>
                <a:latin typeface="Consolas"/>
                <a:ea typeface="Consolas"/>
                <a:cs typeface="Consolas"/>
                <a:sym typeface="Consolas"/>
              </a:rPr>
              <a:t>print</a:t>
            </a:r>
            <a:r>
              <a:rPr lang="en-US" sz="2000" b="0" i="0" u="none" strike="noStrike" cap="none">
                <a:solidFill>
                  <a:srgbClr val="000000"/>
                </a:solidFill>
                <a:latin typeface="Consolas"/>
                <a:ea typeface="Consolas"/>
                <a:cs typeface="Consolas"/>
                <a:sym typeface="Consolas"/>
              </a:rPr>
              <a:t> can </a:t>
            </a:r>
            <a:r>
              <a:rPr lang="en-US" sz="2000" b="1" i="0" u="none" strike="noStrike" cap="none">
                <a:solidFill>
                  <a:srgbClr val="000000"/>
                </a:solidFill>
                <a:latin typeface="Consolas"/>
                <a:ea typeface="Consolas"/>
                <a:cs typeface="Consolas"/>
                <a:sym typeface="Consolas"/>
              </a:rPr>
              <a:t>take one argument</a:t>
            </a:r>
            <a:r>
              <a:rPr lang="en-US" sz="2000" b="0" i="0" u="none" strike="noStrike" cap="none">
                <a:solidFill>
                  <a:srgbClr val="000000"/>
                </a:solidFill>
                <a:latin typeface="Consolas"/>
                <a:ea typeface="Consolas"/>
                <a:cs typeface="Consolas"/>
                <a:sym typeface="Consolas"/>
              </a:rPr>
              <a:t>. echo is marginally faster than print.</a:t>
            </a:r>
            <a:endParaRPr sz="20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echo and print Statements</a:t>
            </a:r>
            <a:br>
              <a:rPr lang="en-US" i="0">
                <a:solidFill>
                  <a:schemeClr val="dk1"/>
                </a:solidFill>
              </a:rPr>
            </a:br>
            <a:r>
              <a:rPr lang="en-US" i="0" u="sng" strike="noStrike">
                <a:solidFill>
                  <a:srgbClr val="FFFFFF"/>
                </a:solidFill>
                <a:hlinkClick r:id="rId3">
                  <a:extLst>
                    <a:ext uri="{A12FA001-AC4F-418D-AE19-62706E023703}">
                      <ahyp:hlinkClr xmlns:ahyp="http://schemas.microsoft.com/office/drawing/2018/hyperlinkcolor" val="tx"/>
                    </a:ext>
                  </a:extLst>
                </a:hlinkClick>
              </a:rPr>
              <a:t>❮ </a:t>
            </a:r>
            <a:r>
              <a:rPr lang="en-US" i="0" u="sng" strike="noStrike">
                <a:solidFill>
                  <a:schemeClr val="dk1"/>
                </a:solidFill>
                <a:hlinkClick r:id="rId3">
                  <a:extLst>
                    <a:ext uri="{A12FA001-AC4F-418D-AE19-62706E023703}">
                      <ahyp:hlinkClr xmlns:ahyp="http://schemas.microsoft.com/office/drawing/2018/hyperlinkcolor" val="tx"/>
                    </a:ext>
                  </a:extLst>
                </a:hlinkClick>
              </a:rPr>
              <a:t>Previous</a:t>
            </a:r>
            <a:r>
              <a:rPr lang="en-US" i="0" u="sng" strike="noStrike">
                <a:solidFill>
                  <a:srgbClr val="FFFFFF"/>
                </a:solidFill>
                <a:hlinkClick r:id="rId4">
                  <a:extLst>
                    <a:ext uri="{A12FA001-AC4F-418D-AE19-62706E023703}">
                      <ahyp:hlinkClr xmlns:ahyp="http://schemas.microsoft.com/office/drawing/2018/hyperlinkcolor" val="tx"/>
                    </a:ext>
                  </a:extLst>
                </a:hlinkClick>
              </a:rPr>
              <a:t>Next</a:t>
            </a:r>
            <a:r>
              <a:rPr lang="en-US" i="0" u="sng" strike="noStrike">
                <a:solidFill>
                  <a:schemeClr val="dk1"/>
                </a:solidFill>
                <a:hlinkClick r:id="rId4">
                  <a:extLst>
                    <a:ext uri="{A12FA001-AC4F-418D-AE19-62706E023703}">
                      <ahyp:hlinkClr xmlns:ahyp="http://schemas.microsoft.com/office/drawing/2018/hyperlinkcolor" val="tx"/>
                    </a:ext>
                  </a:extLst>
                </a:hlinkClick>
              </a:rPr>
              <a:t> ❯</a:t>
            </a:r>
            <a:br>
              <a:rPr lang="en-US" i="0">
                <a:solidFill>
                  <a:schemeClr val="dk1"/>
                </a:solidFill>
              </a:rPr>
            </a:br>
            <a:br>
              <a:rPr lang="en-US">
                <a:solidFill>
                  <a:schemeClr val="dk1"/>
                </a:solidFill>
              </a:rPr>
            </a:br>
            <a:endParaRPr>
              <a:solidFill>
                <a:schemeClr val="dk1"/>
              </a:solidFill>
            </a:endParaRPr>
          </a:p>
        </p:txBody>
      </p:sp>
      <p:sp>
        <p:nvSpPr>
          <p:cNvPr id="174" name="Google Shape;174;p10"/>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75" name="Google Shape;175;p10"/>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76" name="Google Shape;176;p10"/>
          <p:cNvPicPr preferRelativeResize="0"/>
          <p:nvPr/>
        </p:nvPicPr>
        <p:blipFill rotWithShape="1">
          <a:blip r:embed="rId5">
            <a:alphaModFix/>
          </a:blip>
          <a:srcRect/>
          <a:stretch/>
        </p:blipFill>
        <p:spPr>
          <a:xfrm>
            <a:off x="946800" y="1101643"/>
            <a:ext cx="7250400" cy="3265396"/>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1"/>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echo and print Statements</a:t>
            </a:r>
            <a:br>
              <a:rPr lang="en-US" i="0">
                <a:solidFill>
                  <a:schemeClr val="dk1"/>
                </a:solidFill>
              </a:rPr>
            </a:br>
            <a:r>
              <a:rPr lang="en-US" i="0" u="sng" strike="noStrike">
                <a:solidFill>
                  <a:srgbClr val="FFFFFF"/>
                </a:solidFill>
                <a:hlinkClick r:id="rId3">
                  <a:extLst>
                    <a:ext uri="{A12FA001-AC4F-418D-AE19-62706E023703}">
                      <ahyp:hlinkClr xmlns:ahyp="http://schemas.microsoft.com/office/drawing/2018/hyperlinkcolor" val="tx"/>
                    </a:ext>
                  </a:extLst>
                </a:hlinkClick>
              </a:rPr>
              <a:t>❮ </a:t>
            </a:r>
            <a:r>
              <a:rPr lang="en-US" i="0" u="sng" strike="noStrike">
                <a:solidFill>
                  <a:schemeClr val="dk1"/>
                </a:solidFill>
                <a:hlinkClick r:id="rId3">
                  <a:extLst>
                    <a:ext uri="{A12FA001-AC4F-418D-AE19-62706E023703}">
                      <ahyp:hlinkClr xmlns:ahyp="http://schemas.microsoft.com/office/drawing/2018/hyperlinkcolor" val="tx"/>
                    </a:ext>
                  </a:extLst>
                </a:hlinkClick>
              </a:rPr>
              <a:t>Previous</a:t>
            </a:r>
            <a:r>
              <a:rPr lang="en-US" i="0" u="sng" strike="noStrike">
                <a:solidFill>
                  <a:srgbClr val="FFFFFF"/>
                </a:solidFill>
                <a:hlinkClick r:id="rId4">
                  <a:extLst>
                    <a:ext uri="{A12FA001-AC4F-418D-AE19-62706E023703}">
                      <ahyp:hlinkClr xmlns:ahyp="http://schemas.microsoft.com/office/drawing/2018/hyperlinkcolor" val="tx"/>
                    </a:ext>
                  </a:extLst>
                </a:hlinkClick>
              </a:rPr>
              <a:t>Next</a:t>
            </a:r>
            <a:r>
              <a:rPr lang="en-US" i="0" u="sng" strike="noStrike">
                <a:solidFill>
                  <a:schemeClr val="dk1"/>
                </a:solidFill>
                <a:hlinkClick r:id="rId4">
                  <a:extLst>
                    <a:ext uri="{A12FA001-AC4F-418D-AE19-62706E023703}">
                      <ahyp:hlinkClr xmlns:ahyp="http://schemas.microsoft.com/office/drawing/2018/hyperlinkcolor" val="tx"/>
                    </a:ext>
                  </a:extLst>
                </a:hlinkClick>
              </a:rPr>
              <a:t> ❯</a:t>
            </a:r>
            <a:br>
              <a:rPr lang="en-US" i="0">
                <a:solidFill>
                  <a:schemeClr val="dk1"/>
                </a:solidFill>
              </a:rPr>
            </a:br>
            <a:br>
              <a:rPr lang="en-US">
                <a:solidFill>
                  <a:schemeClr val="dk1"/>
                </a:solidFill>
              </a:rPr>
            </a:br>
            <a:endParaRPr b="1"/>
          </a:p>
        </p:txBody>
      </p:sp>
      <p:sp>
        <p:nvSpPr>
          <p:cNvPr id="182" name="Google Shape;182;p11"/>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83" name="Google Shape;183;p11"/>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4" name="Google Shape;184;p11"/>
          <p:cNvSpPr txBox="1"/>
          <p:nvPr/>
        </p:nvSpPr>
        <p:spPr>
          <a:xfrm>
            <a:off x="4917600" y="2386922"/>
            <a:ext cx="3708000" cy="24622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endParaRPr sz="1400" b="0" i="0" u="none" strike="noStrike" cap="none">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$result</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print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"Hello"</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$result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Outputs 1</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9CDCFE"/>
                </a:solidFill>
                <a:latin typeface="Consolas"/>
                <a:ea typeface="Consolas"/>
                <a:cs typeface="Consolas"/>
                <a:sym typeface="Consolas"/>
              </a:rPr>
              <a:t>$result</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"Hello"</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$result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endParaRPr sz="1400" b="0" i="0" u="none" strike="noStrike" cap="none">
              <a:solidFill>
                <a:srgbClr val="D4D4D4"/>
              </a:solidFill>
              <a:latin typeface="Consolas"/>
              <a:ea typeface="Consolas"/>
              <a:cs typeface="Consolas"/>
              <a:sym typeface="Consolas"/>
            </a:endParaRPr>
          </a:p>
        </p:txBody>
      </p:sp>
      <p:sp>
        <p:nvSpPr>
          <p:cNvPr id="185" name="Google Shape;185;p11"/>
          <p:cNvSpPr txBox="1"/>
          <p:nvPr/>
        </p:nvSpPr>
        <p:spPr>
          <a:xfrm>
            <a:off x="518400" y="2388272"/>
            <a:ext cx="3708000" cy="24622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CDCAA"/>
                </a:solidFill>
                <a:latin typeface="Consolas"/>
                <a:ea typeface="Consolas"/>
                <a:cs typeface="Consolas"/>
                <a:sym typeface="Consolas"/>
              </a:rPr>
              <a:t>print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print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186" name="Google Shape;186;p11"/>
          <p:cNvSpPr txBox="1"/>
          <p:nvPr/>
        </p:nvSpPr>
        <p:spPr>
          <a:xfrm>
            <a:off x="361054" y="814307"/>
            <a:ext cx="6782400"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PHP echo Statement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echo statement can be used with or without parentheses: echo or echo().</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PHP print Statement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print statement can be used with or without parentheses: print or print().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92" name="Google Shape;192;p12"/>
          <p:cNvSpPr txBox="1">
            <a:spLocks noGrp="1"/>
          </p:cNvSpPr>
          <p:nvPr>
            <p:ph type="title"/>
          </p:nvPr>
        </p:nvSpPr>
        <p:spPr>
          <a:xfrm>
            <a:off x="993600" y="2208450"/>
            <a:ext cx="82296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sz="4400" b="1"/>
              <a:t>Setting Up a Local Web Server</a:t>
            </a:r>
            <a:endParaRPr sz="4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Setting Up a Local Web Server</a:t>
            </a:r>
            <a:endParaRPr/>
          </a:p>
        </p:txBody>
      </p:sp>
      <p:sp>
        <p:nvSpPr>
          <p:cNvPr id="198" name="Google Shape;198;p1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199" name="Google Shape;199;p1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0" name="Google Shape;200;p13"/>
          <p:cNvSpPr txBox="1"/>
          <p:nvPr/>
        </p:nvSpPr>
        <p:spPr>
          <a:xfrm>
            <a:off x="493200" y="808127"/>
            <a:ext cx="8092800"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0" i="0" u="none" strike="noStrike" cap="none">
                <a:solidFill>
                  <a:srgbClr val="000000"/>
                </a:solidFill>
                <a:latin typeface="Poppins"/>
                <a:ea typeface="Poppins"/>
                <a:cs typeface="Poppins"/>
                <a:sym typeface="Poppins"/>
              </a:rPr>
              <a:t>PHP script execute on a </a:t>
            </a:r>
            <a:r>
              <a:rPr lang="en-US" sz="2000" b="1" i="0" u="none" strike="noStrike" cap="none">
                <a:solidFill>
                  <a:srgbClr val="000000"/>
                </a:solidFill>
                <a:latin typeface="Poppins"/>
                <a:ea typeface="Poppins"/>
                <a:cs typeface="Poppins"/>
                <a:sym typeface="Poppins"/>
              </a:rPr>
              <a:t>web server </a:t>
            </a:r>
            <a:r>
              <a:rPr lang="en-US" sz="2000" b="0" i="0" u="none" strike="noStrike" cap="none">
                <a:solidFill>
                  <a:srgbClr val="000000"/>
                </a:solidFill>
                <a:latin typeface="Poppins"/>
                <a:ea typeface="Poppins"/>
                <a:cs typeface="Poppins"/>
                <a:sym typeface="Poppins"/>
              </a:rPr>
              <a:t>running PHP. So, before We start writing any PHP program you need the following program installed on your computer. </a:t>
            </a:r>
            <a:endParaRPr sz="2000" b="0" i="0" u="none" strike="noStrike" cap="none">
              <a:solidFill>
                <a:srgbClr val="000000"/>
              </a:solidFill>
              <a:latin typeface="Poppins"/>
              <a:ea typeface="Poppins"/>
              <a:cs typeface="Poppins"/>
              <a:sym typeface="Poppins"/>
            </a:endParaRPr>
          </a:p>
        </p:txBody>
      </p:sp>
      <p:sp>
        <p:nvSpPr>
          <p:cNvPr id="201" name="Google Shape;201;p13"/>
          <p:cNvSpPr txBox="1"/>
          <p:nvPr/>
        </p:nvSpPr>
        <p:spPr>
          <a:xfrm>
            <a:off x="1580400" y="2126407"/>
            <a:ext cx="5983200"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The Apache Web server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The PHP engine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The MySQL database server</a:t>
            </a:r>
            <a:endParaRPr sz="1800" b="0" i="0" u="none" strike="noStrike" cap="none">
              <a:solidFill>
                <a:srgbClr val="000000"/>
              </a:solidFill>
              <a:latin typeface="Arial"/>
              <a:ea typeface="Arial"/>
              <a:cs typeface="Arial"/>
              <a:sym typeface="Arial"/>
            </a:endParaRPr>
          </a:p>
        </p:txBody>
      </p:sp>
      <p:sp>
        <p:nvSpPr>
          <p:cNvPr id="202" name="Google Shape;202;p13"/>
          <p:cNvSpPr txBox="1"/>
          <p:nvPr/>
        </p:nvSpPr>
        <p:spPr>
          <a:xfrm>
            <a:off x="493200" y="3873708"/>
            <a:ext cx="8028000"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800" b="0" i="0" u="none" strike="noStrike" cap="none">
                <a:solidFill>
                  <a:srgbClr val="000000"/>
                </a:solidFill>
                <a:latin typeface="Poppins"/>
                <a:ea typeface="Poppins"/>
                <a:cs typeface="Poppins"/>
                <a:sym typeface="Poppins"/>
              </a:rPr>
              <a:t>You can either install them individually or choose a pre-configured package for your operating system like Linux and Windows. Popular pre-configured package are </a:t>
            </a:r>
            <a:r>
              <a:rPr lang="en-US" sz="1800" b="1" i="0" u="none" strike="noStrike" cap="none">
                <a:solidFill>
                  <a:srgbClr val="000000"/>
                </a:solidFill>
                <a:latin typeface="Poppins"/>
                <a:ea typeface="Poppins"/>
                <a:cs typeface="Poppins"/>
                <a:sym typeface="Poppins"/>
              </a:rPr>
              <a:t>XAMPP and WampServer</a:t>
            </a:r>
            <a:r>
              <a:rPr lang="en-US" sz="1800" b="0" i="0" u="none" strike="noStrike" cap="none">
                <a:solidFill>
                  <a:srgbClr val="000000"/>
                </a:solidFill>
                <a:latin typeface="Poppins"/>
                <a:ea typeface="Poppins"/>
                <a:cs typeface="Poppins"/>
                <a:sym typeface="Poppins"/>
              </a:rPr>
              <a:t>.</a:t>
            </a:r>
            <a:endParaRPr sz="18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4"/>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Setting Up a Local Web Server</a:t>
            </a:r>
            <a:endParaRPr/>
          </a:p>
        </p:txBody>
      </p:sp>
      <p:sp>
        <p:nvSpPr>
          <p:cNvPr id="208" name="Google Shape;208;p1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09" name="Google Shape;209;p1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0" name="Google Shape;210;p14"/>
          <p:cNvSpPr txBox="1"/>
          <p:nvPr/>
        </p:nvSpPr>
        <p:spPr>
          <a:xfrm>
            <a:off x="525600" y="964800"/>
            <a:ext cx="8092800" cy="40011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0" i="0" u="none" strike="noStrike" cap="none">
                <a:solidFill>
                  <a:schemeClr val="lt1"/>
                </a:solidFill>
                <a:latin typeface="Consolas"/>
                <a:ea typeface="Consolas"/>
                <a:cs typeface="Consolas"/>
                <a:sym typeface="Consolas"/>
              </a:rPr>
              <a:t>Download Here: </a:t>
            </a:r>
            <a:r>
              <a:rPr lang="en-US" sz="2000" b="0" i="0" u="sng" strike="noStrike" cap="none">
                <a:solidFill>
                  <a:schemeClr val="lt1"/>
                </a:solidFill>
                <a:latin typeface="Consolas"/>
                <a:ea typeface="Consolas"/>
                <a:cs typeface="Consolas"/>
                <a:sym typeface="Consolas"/>
                <a:hlinkClick r:id="rId3">
                  <a:extLst>
                    <a:ext uri="{A12FA001-AC4F-418D-AE19-62706E023703}">
                      <ahyp:hlinkClr xmlns:ahyp="http://schemas.microsoft.com/office/drawing/2018/hyperlinkcolor" val="tx"/>
                    </a:ext>
                  </a:extLst>
                </a:hlinkClick>
              </a:rPr>
              <a:t>https://www.apachefriends.org/index.html</a:t>
            </a:r>
            <a:endParaRPr sz="2000" b="0" i="0" u="none" strike="noStrike" cap="none">
              <a:solidFill>
                <a:schemeClr val="lt1"/>
              </a:solidFill>
              <a:latin typeface="Consolas"/>
              <a:ea typeface="Consolas"/>
              <a:cs typeface="Consolas"/>
              <a:sym typeface="Consolas"/>
            </a:endParaRPr>
          </a:p>
        </p:txBody>
      </p:sp>
      <p:pic>
        <p:nvPicPr>
          <p:cNvPr id="211" name="Google Shape;211;p14"/>
          <p:cNvPicPr preferRelativeResize="0"/>
          <p:nvPr/>
        </p:nvPicPr>
        <p:blipFill rotWithShape="1">
          <a:blip r:embed="rId4">
            <a:alphaModFix/>
          </a:blip>
          <a:srcRect/>
          <a:stretch/>
        </p:blipFill>
        <p:spPr>
          <a:xfrm>
            <a:off x="576000" y="1456325"/>
            <a:ext cx="7879513" cy="3288695"/>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5"/>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Example. Follow the steps below.</a:t>
            </a:r>
            <a:endParaRPr b="1"/>
          </a:p>
        </p:txBody>
      </p:sp>
      <p:sp>
        <p:nvSpPr>
          <p:cNvPr id="217" name="Google Shape;217;p1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18" name="Google Shape;218;p1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9" name="Google Shape;219;p15"/>
          <p:cNvSpPr txBox="1"/>
          <p:nvPr/>
        </p:nvSpPr>
        <p:spPr>
          <a:xfrm>
            <a:off x="472349" y="3122060"/>
            <a:ext cx="455505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Each code line in PHP must end with a semicolon. The semicolon is a separator and is used to distinguish one set of instructions from another.</a:t>
            </a:r>
            <a:endParaRPr sz="1400" b="0" i="0" u="none" strike="noStrike" cap="none">
              <a:solidFill>
                <a:srgbClr val="000000"/>
              </a:solidFill>
              <a:latin typeface="Poppins"/>
              <a:ea typeface="Poppins"/>
              <a:cs typeface="Poppins"/>
              <a:sym typeface="Poppins"/>
            </a:endParaRPr>
          </a:p>
        </p:txBody>
      </p:sp>
      <p:sp>
        <p:nvSpPr>
          <p:cNvPr id="220" name="Google Shape;220;p15"/>
          <p:cNvSpPr txBox="1"/>
          <p:nvPr/>
        </p:nvSpPr>
        <p:spPr>
          <a:xfrm>
            <a:off x="500925" y="1456325"/>
            <a:ext cx="4477345" cy="160043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808080"/>
                </a:solidFill>
                <a:latin typeface="Consolas"/>
                <a:ea typeface="Consolas"/>
                <a:cs typeface="Consolas"/>
                <a:sym typeface="Consolas"/>
              </a:rPr>
              <a:t>&lt;</a:t>
            </a:r>
            <a:r>
              <a:rPr lang="en-US" sz="1400" b="0" i="0" u="none" strike="noStrike" cap="none">
                <a:solidFill>
                  <a:srgbClr val="569CD6"/>
                </a:solidFill>
                <a:latin typeface="Consolas"/>
                <a:ea typeface="Consolas"/>
                <a:cs typeface="Consolas"/>
                <a:sym typeface="Consolas"/>
              </a:rPr>
              <a:t>html</a:t>
            </a:r>
            <a:r>
              <a:rPr lang="en-US" sz="1400" b="0" i="0" u="none" strike="noStrike" cap="none">
                <a:solidFill>
                  <a:srgbClr val="808080"/>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808080"/>
                </a:solidFill>
                <a:latin typeface="Consolas"/>
                <a:ea typeface="Consolas"/>
                <a:cs typeface="Consolas"/>
                <a:sym typeface="Consolas"/>
              </a:rPr>
              <a:t>&lt;</a:t>
            </a:r>
            <a:r>
              <a:rPr lang="en-US" sz="1400" b="0" i="0" u="none" strike="noStrike" cap="none">
                <a:solidFill>
                  <a:srgbClr val="569CD6"/>
                </a:solidFill>
                <a:latin typeface="Consolas"/>
                <a:ea typeface="Consolas"/>
                <a:cs typeface="Consolas"/>
                <a:sym typeface="Consolas"/>
              </a:rPr>
              <a:t>body</a:t>
            </a:r>
            <a:r>
              <a:rPr lang="en-US" sz="1400" b="0" i="0" u="none" strike="noStrike" cap="none">
                <a:solidFill>
                  <a:srgbClr val="808080"/>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br>
              <a:rPr lang="en-US" sz="1400" b="0" i="0" u="none" strike="noStrike" cap="none">
                <a:solidFill>
                  <a:srgbClr val="D4D4D4"/>
                </a:solidFill>
                <a:latin typeface="Consolas"/>
                <a:ea typeface="Consolas"/>
                <a:cs typeface="Consolas"/>
                <a:sym typeface="Consolas"/>
              </a:rPr>
            </a:b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"Welcome to PHP programming"</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808080"/>
                </a:solidFill>
                <a:latin typeface="Consolas"/>
                <a:ea typeface="Consolas"/>
                <a:cs typeface="Consolas"/>
                <a:sym typeface="Consolas"/>
              </a:rPr>
              <a:t>&lt;/</a:t>
            </a:r>
            <a:r>
              <a:rPr lang="en-US" sz="1400" b="0" i="0" u="none" strike="noStrike" cap="none">
                <a:solidFill>
                  <a:srgbClr val="569CD6"/>
                </a:solidFill>
                <a:latin typeface="Consolas"/>
                <a:ea typeface="Consolas"/>
                <a:cs typeface="Consolas"/>
                <a:sym typeface="Consolas"/>
              </a:rPr>
              <a:t>body</a:t>
            </a:r>
            <a:r>
              <a:rPr lang="en-US" sz="1400" b="0" i="0" u="none" strike="noStrike" cap="none">
                <a:solidFill>
                  <a:srgbClr val="808080"/>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808080"/>
                </a:solidFill>
                <a:latin typeface="Consolas"/>
                <a:ea typeface="Consolas"/>
                <a:cs typeface="Consolas"/>
                <a:sym typeface="Consolas"/>
              </a:rPr>
              <a:t>&lt;/</a:t>
            </a:r>
            <a:r>
              <a:rPr lang="en-US" sz="1400" b="0" i="0" u="none" strike="noStrike" cap="none">
                <a:solidFill>
                  <a:srgbClr val="569CD6"/>
                </a:solidFill>
                <a:latin typeface="Consolas"/>
                <a:ea typeface="Consolas"/>
                <a:cs typeface="Consolas"/>
                <a:sym typeface="Consolas"/>
              </a:rPr>
              <a:t>html</a:t>
            </a:r>
            <a:r>
              <a:rPr lang="en-US" sz="1400" b="0" i="0" u="none" strike="noStrike" cap="none">
                <a:solidFill>
                  <a:srgbClr val="808080"/>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221" name="Google Shape;221;p15"/>
          <p:cNvSpPr txBox="1"/>
          <p:nvPr/>
        </p:nvSpPr>
        <p:spPr>
          <a:xfrm>
            <a:off x="472349" y="4044286"/>
            <a:ext cx="496387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Poppins"/>
                <a:ea typeface="Poppins"/>
                <a:cs typeface="Poppins"/>
                <a:sym typeface="Poppins"/>
              </a:rPr>
              <a:t>In </a:t>
            </a:r>
            <a:r>
              <a:rPr lang="en-US" sz="1600" b="1" i="0" u="none" strike="noStrike" cap="none">
                <a:solidFill>
                  <a:srgbClr val="000000"/>
                </a:solidFill>
                <a:latin typeface="Poppins"/>
                <a:ea typeface="Poppins"/>
                <a:cs typeface="Poppins"/>
                <a:sym typeface="Poppins"/>
              </a:rPr>
              <a:t>PHP</a:t>
            </a:r>
            <a:r>
              <a:rPr lang="en-US" sz="1600" b="0" i="0" u="none" strike="noStrike" cap="none">
                <a:solidFill>
                  <a:srgbClr val="000000"/>
                </a:solidFill>
                <a:latin typeface="Poppins"/>
                <a:ea typeface="Poppins"/>
                <a:cs typeface="Poppins"/>
                <a:sym typeface="Poppins"/>
              </a:rPr>
              <a:t>, </a:t>
            </a:r>
            <a:r>
              <a:rPr lang="en-US" sz="1600" b="1" i="0" u="none" strike="noStrike" cap="none">
                <a:solidFill>
                  <a:srgbClr val="000000"/>
                </a:solidFill>
                <a:latin typeface="Poppins"/>
                <a:ea typeface="Poppins"/>
                <a:cs typeface="Poppins"/>
                <a:sym typeface="Poppins"/>
              </a:rPr>
              <a:t>variable</a:t>
            </a:r>
            <a:r>
              <a:rPr lang="en-US" sz="1600" b="0" i="0" u="none" strike="noStrike" cap="none">
                <a:solidFill>
                  <a:srgbClr val="000000"/>
                </a:solidFill>
                <a:latin typeface="Poppins"/>
                <a:ea typeface="Poppins"/>
                <a:cs typeface="Poppins"/>
                <a:sym typeface="Poppins"/>
              </a:rPr>
              <a:t> and </a:t>
            </a:r>
            <a:r>
              <a:rPr lang="en-US" sz="1600" b="1" i="0" u="none" strike="noStrike" cap="none">
                <a:solidFill>
                  <a:srgbClr val="000000"/>
                </a:solidFill>
                <a:latin typeface="Poppins"/>
                <a:ea typeface="Poppins"/>
                <a:cs typeface="Poppins"/>
                <a:sym typeface="Poppins"/>
              </a:rPr>
              <a:t>constant</a:t>
            </a:r>
            <a:r>
              <a:rPr lang="en-US" sz="1600" b="0" i="0" u="none" strike="noStrike" cap="none">
                <a:solidFill>
                  <a:srgbClr val="000000"/>
                </a:solidFill>
                <a:latin typeface="Poppins"/>
                <a:ea typeface="Poppins"/>
                <a:cs typeface="Poppins"/>
                <a:sym typeface="Poppins"/>
              </a:rPr>
              <a:t> names </a:t>
            </a:r>
            <a:r>
              <a:rPr lang="en-US" sz="1600" b="1" i="0" u="none" strike="noStrike" cap="none">
                <a:solidFill>
                  <a:srgbClr val="000000"/>
                </a:solidFill>
                <a:latin typeface="Poppins"/>
                <a:ea typeface="Poppins"/>
                <a:cs typeface="Poppins"/>
                <a:sym typeface="Poppins"/>
              </a:rPr>
              <a:t>are case sensitive</a:t>
            </a:r>
            <a:r>
              <a:rPr lang="en-US" sz="1600" b="0" i="0" u="none" strike="noStrike" cap="none">
                <a:solidFill>
                  <a:srgbClr val="000000"/>
                </a:solidFill>
                <a:latin typeface="Poppins"/>
                <a:ea typeface="Poppins"/>
                <a:cs typeface="Poppins"/>
                <a:sym typeface="Poppins"/>
              </a:rPr>
              <a:t>, while </a:t>
            </a:r>
            <a:r>
              <a:rPr lang="en-US" sz="1600" b="1" i="0" u="none" strike="noStrike" cap="none">
                <a:solidFill>
                  <a:srgbClr val="000000"/>
                </a:solidFill>
                <a:latin typeface="Poppins"/>
                <a:ea typeface="Poppins"/>
                <a:cs typeface="Poppins"/>
                <a:sym typeface="Poppins"/>
              </a:rPr>
              <a:t>function names are not</a:t>
            </a:r>
            <a:endParaRPr sz="1600" b="1" i="0" u="none" strike="noStrike" cap="none">
              <a:solidFill>
                <a:srgbClr val="000000"/>
              </a:solidFill>
              <a:latin typeface="Poppins"/>
              <a:ea typeface="Poppins"/>
              <a:cs typeface="Poppins"/>
              <a:sym typeface="Poppins"/>
            </a:endParaRPr>
          </a:p>
        </p:txBody>
      </p:sp>
      <p:sp>
        <p:nvSpPr>
          <p:cNvPr id="222" name="Google Shape;222;p15"/>
          <p:cNvSpPr txBox="1"/>
          <p:nvPr/>
        </p:nvSpPr>
        <p:spPr>
          <a:xfrm>
            <a:off x="500925" y="860752"/>
            <a:ext cx="431279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highlight>
                  <a:srgbClr val="FFFF00"/>
                </a:highlight>
                <a:latin typeface="Poppins"/>
                <a:ea typeface="Poppins"/>
                <a:cs typeface="Poppins"/>
                <a:sym typeface="Poppins"/>
              </a:rPr>
              <a:t>Step 1</a:t>
            </a:r>
            <a:r>
              <a:rPr lang="en-US" sz="1400" b="0" i="0" u="none" strike="noStrike" cap="none">
                <a:solidFill>
                  <a:srgbClr val="000000"/>
                </a:solidFill>
                <a:latin typeface="Poppins"/>
                <a:ea typeface="Poppins"/>
                <a:cs typeface="Poppins"/>
                <a:sym typeface="Poppins"/>
              </a:rPr>
              <a:t>. Create a document in your text editor. </a:t>
            </a:r>
            <a:endParaRPr/>
          </a:p>
          <a:p>
            <a:pPr marL="0" marR="0" lvl="0" indent="0" algn="l" rtl="0">
              <a:lnSpc>
                <a:spcPct val="100000"/>
              </a:lnSpc>
              <a:spcBef>
                <a:spcPts val="0"/>
              </a:spcBef>
              <a:spcAft>
                <a:spcPts val="0"/>
              </a:spcAft>
              <a:buNone/>
            </a:pPr>
            <a:r>
              <a:rPr lang="en-US" sz="1400" b="0" i="0" u="none" strike="noStrike" cap="none">
                <a:solidFill>
                  <a:srgbClr val="000000"/>
                </a:solidFill>
                <a:highlight>
                  <a:srgbClr val="FFFF00"/>
                </a:highlight>
                <a:latin typeface="Poppins"/>
                <a:ea typeface="Poppins"/>
                <a:cs typeface="Poppins"/>
                <a:sym typeface="Poppins"/>
              </a:rPr>
              <a:t>Step 2</a:t>
            </a:r>
            <a:r>
              <a:rPr lang="en-US" sz="1400" b="0" i="0" u="none" strike="noStrike" cap="none">
                <a:solidFill>
                  <a:srgbClr val="000000"/>
                </a:solidFill>
                <a:latin typeface="Poppins"/>
                <a:ea typeface="Poppins"/>
                <a:cs typeface="Poppins"/>
                <a:sym typeface="Poppins"/>
              </a:rPr>
              <a:t>. Type the code as shown below</a:t>
            </a:r>
            <a:endParaRPr sz="1400" b="0" i="0" u="none" strike="noStrike" cap="none">
              <a:solidFill>
                <a:srgbClr val="000000"/>
              </a:solidFill>
              <a:latin typeface="Poppins"/>
              <a:ea typeface="Poppins"/>
              <a:cs typeface="Poppins"/>
              <a:sym typeface="Poppins"/>
            </a:endParaRPr>
          </a:p>
        </p:txBody>
      </p:sp>
      <p:sp>
        <p:nvSpPr>
          <p:cNvPr id="223" name="Google Shape;223;p15"/>
          <p:cNvSpPr txBox="1"/>
          <p:nvPr/>
        </p:nvSpPr>
        <p:spPr>
          <a:xfrm>
            <a:off x="5125341" y="877109"/>
            <a:ext cx="3651459"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highlight>
                  <a:srgbClr val="FFFF00"/>
                </a:highlight>
                <a:latin typeface="Poppins"/>
                <a:ea typeface="Poppins"/>
                <a:cs typeface="Poppins"/>
                <a:sym typeface="Poppins"/>
              </a:rPr>
              <a:t>Step 3. </a:t>
            </a:r>
            <a:r>
              <a:rPr lang="en-US" sz="1400" b="0" i="0" u="none" strike="noStrike" cap="none">
                <a:solidFill>
                  <a:srgbClr val="000000"/>
                </a:solidFill>
                <a:latin typeface="Poppins"/>
                <a:ea typeface="Poppins"/>
                <a:cs typeface="Poppins"/>
                <a:sym typeface="Poppins"/>
              </a:rPr>
              <a:t>Save the file as </a:t>
            </a:r>
            <a:r>
              <a:rPr lang="en-US" sz="1400" b="1" i="0" u="none" strike="noStrike" cap="none">
                <a:solidFill>
                  <a:srgbClr val="000000"/>
                </a:solidFill>
                <a:latin typeface="Poppins"/>
                <a:ea typeface="Poppins"/>
                <a:cs typeface="Poppins"/>
                <a:sym typeface="Poppins"/>
              </a:rPr>
              <a:t>test.php </a:t>
            </a:r>
            <a:r>
              <a:rPr lang="en-US" sz="1400" b="0" i="0" u="none" strike="noStrike" cap="none">
                <a:solidFill>
                  <a:srgbClr val="000000"/>
                </a:solidFill>
                <a:latin typeface="Poppins"/>
                <a:ea typeface="Poppins"/>
                <a:cs typeface="Poppins"/>
                <a:sym typeface="Poppins"/>
              </a:rPr>
              <a:t>Since PHP is a server-side programming language, you need to save it in XAMPP directory. Basically, it is in your c drive, folder xampp, then go to your htdocs folder.</a:t>
            </a:r>
            <a:endParaRPr sz="1400" b="0" i="0" u="none" strike="noStrike" cap="none">
              <a:solidFill>
                <a:srgbClr val="000000"/>
              </a:solidFill>
              <a:latin typeface="Poppins"/>
              <a:ea typeface="Poppins"/>
              <a:cs typeface="Poppins"/>
              <a:sym typeface="Poppins"/>
            </a:endParaRPr>
          </a:p>
        </p:txBody>
      </p:sp>
      <p:sp>
        <p:nvSpPr>
          <p:cNvPr id="224" name="Google Shape;224;p15"/>
          <p:cNvSpPr txBox="1"/>
          <p:nvPr/>
        </p:nvSpPr>
        <p:spPr>
          <a:xfrm>
            <a:off x="5233874" y="2684983"/>
            <a:ext cx="337245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highlight>
                  <a:srgbClr val="FFFF00"/>
                </a:highlight>
                <a:latin typeface="Arial"/>
                <a:ea typeface="Arial"/>
                <a:cs typeface="Arial"/>
                <a:sym typeface="Arial"/>
              </a:rPr>
              <a:t>Take note</a:t>
            </a:r>
            <a:r>
              <a:rPr lang="en-US" sz="1400" b="1" i="0" u="none" strike="noStrike" cap="none">
                <a:solidFill>
                  <a:srgbClr val="000000"/>
                </a:solidFill>
                <a:latin typeface="Arial"/>
                <a:ea typeface="Arial"/>
                <a:cs typeface="Arial"/>
                <a:sym typeface="Arial"/>
              </a:rPr>
              <a:t> </a:t>
            </a:r>
            <a:r>
              <a:rPr lang="en-US" sz="1400" b="0" i="0" u="none" strike="noStrike" cap="none">
                <a:solidFill>
                  <a:srgbClr val="000000"/>
                </a:solidFill>
                <a:latin typeface="Arial"/>
                <a:ea typeface="Arial"/>
                <a:cs typeface="Arial"/>
                <a:sym typeface="Arial"/>
              </a:rPr>
              <a:t>of the extension name. it is now </a:t>
            </a:r>
            <a:r>
              <a:rPr lang="en-US" sz="1400" b="1" i="0" u="none" strike="noStrike" cap="none">
                <a:solidFill>
                  <a:srgbClr val="000000"/>
                </a:solidFill>
                <a:latin typeface="Arial"/>
                <a:ea typeface="Arial"/>
                <a:cs typeface="Arial"/>
                <a:sym typeface="Arial"/>
              </a:rPr>
              <a:t>php and not </a:t>
            </a:r>
            <a:r>
              <a:rPr lang="en-US" sz="1400" b="1" i="0" u="none" strike="noStrike" cap="none">
                <a:solidFill>
                  <a:srgbClr val="FF0000"/>
                </a:solidFill>
                <a:latin typeface="Arial"/>
                <a:ea typeface="Arial"/>
                <a:cs typeface="Arial"/>
                <a:sym typeface="Arial"/>
              </a:rPr>
              <a:t>html</a:t>
            </a:r>
            <a:r>
              <a:rPr lang="en-US" sz="1400" b="1" i="0" u="none" strike="noStrike" cap="none">
                <a:solidFill>
                  <a:srgbClr val="000000"/>
                </a:solidFill>
                <a:latin typeface="Arial"/>
                <a:ea typeface="Arial"/>
                <a:cs typeface="Arial"/>
                <a:sym typeface="Arial"/>
              </a:rPr>
              <a:t>.</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6"/>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Example. Follow the steps below.</a:t>
            </a:r>
            <a:endParaRPr b="1"/>
          </a:p>
        </p:txBody>
      </p:sp>
      <p:sp>
        <p:nvSpPr>
          <p:cNvPr id="230" name="Google Shape;230;p1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31" name="Google Shape;231;p1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32" name="Google Shape;232;p16"/>
          <p:cNvPicPr preferRelativeResize="0"/>
          <p:nvPr/>
        </p:nvPicPr>
        <p:blipFill rotWithShape="1">
          <a:blip r:embed="rId3">
            <a:alphaModFix/>
          </a:blip>
          <a:srcRect l="-1" r="25622"/>
          <a:stretch/>
        </p:blipFill>
        <p:spPr>
          <a:xfrm>
            <a:off x="444563" y="1456325"/>
            <a:ext cx="5128328" cy="2833754"/>
          </a:xfrm>
          <a:prstGeom prst="rect">
            <a:avLst/>
          </a:prstGeom>
          <a:noFill/>
          <a:ln>
            <a:noFill/>
          </a:ln>
        </p:spPr>
      </p:pic>
      <p:sp>
        <p:nvSpPr>
          <p:cNvPr id="233" name="Google Shape;233;p16"/>
          <p:cNvSpPr txBox="1"/>
          <p:nvPr/>
        </p:nvSpPr>
        <p:spPr>
          <a:xfrm>
            <a:off x="5500802" y="739626"/>
            <a:ext cx="3429308"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highlight>
                  <a:srgbClr val="FFFF00"/>
                </a:highlight>
                <a:latin typeface="Arial"/>
                <a:ea typeface="Arial"/>
                <a:cs typeface="Arial"/>
                <a:sym typeface="Arial"/>
              </a:rPr>
              <a:t>Step 4. </a:t>
            </a:r>
            <a:r>
              <a:rPr lang="en-US" sz="1400" b="0" i="0" u="none" strike="noStrike" cap="none">
                <a:solidFill>
                  <a:srgbClr val="000000"/>
                </a:solidFill>
                <a:latin typeface="Arial"/>
                <a:ea typeface="Arial"/>
                <a:cs typeface="Arial"/>
                <a:sym typeface="Arial"/>
              </a:rPr>
              <a:t>View your php program in the browser by typing</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sng" strike="noStrike" cap="none">
                <a:solidFill>
                  <a:srgbClr val="0070C0"/>
                </a:solidFill>
                <a:latin typeface="Arial"/>
                <a:ea typeface="Arial"/>
                <a:cs typeface="Arial"/>
                <a:sym typeface="Arial"/>
                <a:hlinkClick r:id="rId4">
                  <a:extLst>
                    <a:ext uri="{A12FA001-AC4F-418D-AE19-62706E023703}">
                      <ahyp:hlinkClr xmlns:ahyp="http://schemas.microsoft.com/office/drawing/2018/hyperlinkcolor" val="tx"/>
                    </a:ext>
                  </a:extLst>
                </a:hlinkClick>
              </a:rPr>
              <a:t> http://localhost/php-demo/index.php </a:t>
            </a:r>
            <a:endParaRPr sz="1400" b="0"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Localhost is your host name or server name, if you are running the program in a server. test.php is your php program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Note. instead of host name, you can also your ip address.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Like </a:t>
            </a:r>
            <a:endParaRPr/>
          </a:p>
          <a:p>
            <a:pPr marL="0" marR="0" lvl="0" indent="0" algn="l" rtl="0">
              <a:lnSpc>
                <a:spcPct val="100000"/>
              </a:lnSpc>
              <a:spcBef>
                <a:spcPts val="0"/>
              </a:spcBef>
              <a:spcAft>
                <a:spcPts val="0"/>
              </a:spcAft>
              <a:buNone/>
            </a:pPr>
            <a:r>
              <a:rPr lang="en-US" sz="1400" b="0" i="0" u="sng" strike="noStrike" cap="none">
                <a:solidFill>
                  <a:srgbClr val="0070C0"/>
                </a:solidFill>
                <a:latin typeface="Arial"/>
                <a:ea typeface="Arial"/>
                <a:cs typeface="Arial"/>
                <a:sym typeface="Arial"/>
                <a:hlinkClick r:id="rId5">
                  <a:extLst>
                    <a:ext uri="{A12FA001-AC4F-418D-AE19-62706E023703}">
                      <ahyp:hlinkClr xmlns:ahyp="http://schemas.microsoft.com/office/drawing/2018/hyperlinkcolor" val="tx"/>
                    </a:ext>
                  </a:extLst>
                </a:hlinkClick>
              </a:rPr>
              <a:t>http://127.0.0.1/php-demon/index.php</a:t>
            </a:r>
            <a:endParaRPr sz="1400" b="0" i="0" u="none" strike="noStrike" cap="none">
              <a:solidFill>
                <a:srgbClr val="0070C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7"/>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39" name="Google Shape;239;p17"/>
          <p:cNvSpPr txBox="1">
            <a:spLocks noGrp="1"/>
          </p:cNvSpPr>
          <p:nvPr>
            <p:ph type="title"/>
          </p:nvPr>
        </p:nvSpPr>
        <p:spPr>
          <a:xfrm>
            <a:off x="2260800" y="2150850"/>
            <a:ext cx="66600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PHP Variables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8"/>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Variables in PHP</a:t>
            </a:r>
            <a:endParaRPr/>
          </a:p>
        </p:txBody>
      </p:sp>
      <p:sp>
        <p:nvSpPr>
          <p:cNvPr id="245" name="Google Shape;245;p1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46" name="Google Shape;246;p1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7" name="Google Shape;247;p18"/>
          <p:cNvSpPr txBox="1"/>
          <p:nvPr/>
        </p:nvSpPr>
        <p:spPr>
          <a:xfrm>
            <a:off x="406800" y="986700"/>
            <a:ext cx="8092800" cy="317009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000"/>
              <a:buFont typeface="Arial"/>
              <a:buChar char="•"/>
            </a:pPr>
            <a:r>
              <a:rPr lang="en-US" sz="2000" b="1" i="0" u="none" strike="noStrike" cap="none">
                <a:solidFill>
                  <a:srgbClr val="000000"/>
                </a:solidFill>
                <a:latin typeface="Consolas"/>
                <a:ea typeface="Consolas"/>
                <a:cs typeface="Consolas"/>
                <a:sym typeface="Consolas"/>
              </a:rPr>
              <a:t>Variables</a:t>
            </a:r>
            <a:r>
              <a:rPr lang="en-US" sz="2000" b="0" i="0" u="none" strike="noStrike" cap="none">
                <a:solidFill>
                  <a:srgbClr val="000000"/>
                </a:solidFill>
                <a:latin typeface="Consolas"/>
                <a:ea typeface="Consolas"/>
                <a:cs typeface="Consolas"/>
                <a:sym typeface="Consolas"/>
              </a:rPr>
              <a:t> are "</a:t>
            </a:r>
            <a:r>
              <a:rPr lang="en-US" sz="2000" b="1" i="0" u="none" strike="noStrike" cap="none">
                <a:solidFill>
                  <a:srgbClr val="000000"/>
                </a:solidFill>
                <a:latin typeface="Consolas"/>
                <a:ea typeface="Consolas"/>
                <a:cs typeface="Consolas"/>
                <a:sym typeface="Consolas"/>
              </a:rPr>
              <a:t>containers</a:t>
            </a:r>
            <a:r>
              <a:rPr lang="en-US" sz="2000" b="0" i="0" u="none" strike="noStrike" cap="none">
                <a:solidFill>
                  <a:srgbClr val="000000"/>
                </a:solidFill>
                <a:latin typeface="Consolas"/>
                <a:ea typeface="Consolas"/>
                <a:cs typeface="Consolas"/>
                <a:sym typeface="Consolas"/>
              </a:rPr>
              <a:t>" for storing information like text </a:t>
            </a:r>
            <a:r>
              <a:rPr lang="en-US" sz="2000" b="1" i="0" u="none" strike="noStrike" cap="none">
                <a:solidFill>
                  <a:srgbClr val="000000"/>
                </a:solidFill>
                <a:latin typeface="Consolas"/>
                <a:ea typeface="Consolas"/>
                <a:cs typeface="Consolas"/>
                <a:sym typeface="Consolas"/>
              </a:rPr>
              <a:t>strings</a:t>
            </a:r>
            <a:r>
              <a:rPr lang="en-US" sz="2000" b="0" i="0" u="none" strike="noStrike" cap="none">
                <a:solidFill>
                  <a:srgbClr val="000000"/>
                </a:solidFill>
                <a:latin typeface="Consolas"/>
                <a:ea typeface="Consolas"/>
                <a:cs typeface="Consolas"/>
                <a:sym typeface="Consolas"/>
              </a:rPr>
              <a:t>, </a:t>
            </a:r>
            <a:r>
              <a:rPr lang="en-US" sz="2000" b="1" i="0" u="none" strike="noStrike" cap="none">
                <a:solidFill>
                  <a:srgbClr val="000000"/>
                </a:solidFill>
                <a:latin typeface="Consolas"/>
                <a:ea typeface="Consolas"/>
                <a:cs typeface="Consolas"/>
                <a:sym typeface="Consolas"/>
              </a:rPr>
              <a:t>numbers</a:t>
            </a:r>
            <a:r>
              <a:rPr lang="en-US" sz="2000" b="0" i="0" u="none" strike="noStrike" cap="none">
                <a:solidFill>
                  <a:srgbClr val="000000"/>
                </a:solidFill>
                <a:latin typeface="Consolas"/>
                <a:ea typeface="Consolas"/>
                <a:cs typeface="Consolas"/>
                <a:sym typeface="Consolas"/>
              </a:rPr>
              <a:t> or </a:t>
            </a:r>
            <a:r>
              <a:rPr lang="en-US" sz="2000" b="1" i="0" u="none" strike="noStrike" cap="none">
                <a:solidFill>
                  <a:srgbClr val="000000"/>
                </a:solidFill>
                <a:latin typeface="Consolas"/>
                <a:ea typeface="Consolas"/>
                <a:cs typeface="Consolas"/>
                <a:sym typeface="Consolas"/>
              </a:rPr>
              <a:t>arrays</a:t>
            </a:r>
            <a:endParaRPr/>
          </a:p>
          <a:p>
            <a:pPr marL="342900" marR="0" lvl="0" indent="-21590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onsolas"/>
              <a:ea typeface="Consolas"/>
              <a:cs typeface="Consolas"/>
              <a:sym typeface="Consolas"/>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onsolas"/>
                <a:ea typeface="Consolas"/>
                <a:cs typeface="Consolas"/>
                <a:sym typeface="Consolas"/>
              </a:rPr>
              <a:t>All variables in PHP </a:t>
            </a:r>
            <a:r>
              <a:rPr lang="en-US" sz="2000" b="1" i="0" u="none" strike="noStrike" cap="none">
                <a:solidFill>
                  <a:srgbClr val="000000"/>
                </a:solidFill>
                <a:latin typeface="Consolas"/>
                <a:ea typeface="Consolas"/>
                <a:cs typeface="Consolas"/>
                <a:sym typeface="Consolas"/>
              </a:rPr>
              <a:t>start</a:t>
            </a:r>
            <a:r>
              <a:rPr lang="en-US" sz="2000" b="0" i="0" u="none" strike="noStrike" cap="none">
                <a:solidFill>
                  <a:srgbClr val="000000"/>
                </a:solidFill>
                <a:latin typeface="Consolas"/>
                <a:ea typeface="Consolas"/>
                <a:cs typeface="Consolas"/>
                <a:sym typeface="Consolas"/>
              </a:rPr>
              <a:t> with a </a:t>
            </a:r>
            <a:r>
              <a:rPr lang="en-US" sz="2000" b="1" i="0" u="none" strike="noStrike" cap="none">
                <a:solidFill>
                  <a:srgbClr val="000000"/>
                </a:solidFill>
                <a:latin typeface="Consolas"/>
                <a:ea typeface="Consolas"/>
                <a:cs typeface="Consolas"/>
                <a:sym typeface="Consolas"/>
              </a:rPr>
              <a:t>$ sign symbol</a:t>
            </a:r>
            <a:r>
              <a:rPr lang="en-US" sz="2000" b="0" i="0" u="none" strike="noStrike" cap="none">
                <a:solidFill>
                  <a:srgbClr val="000000"/>
                </a:solidFill>
                <a:latin typeface="Consolas"/>
                <a:ea typeface="Consolas"/>
                <a:cs typeface="Consolas"/>
                <a:sym typeface="Consolas"/>
              </a:rPr>
              <a:t>. </a:t>
            </a:r>
            <a:endParaRPr/>
          </a:p>
          <a:p>
            <a:pPr marL="342900" marR="0" lvl="0" indent="-21590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onsolas"/>
              <a:ea typeface="Consolas"/>
              <a:cs typeface="Consolas"/>
              <a:sym typeface="Consolas"/>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onsolas"/>
                <a:ea typeface="Consolas"/>
                <a:cs typeface="Consolas"/>
                <a:sym typeface="Consolas"/>
              </a:rPr>
              <a:t>In PHP, a variable does not need to be declared before adding a value to it.</a:t>
            </a:r>
            <a:endParaRPr/>
          </a:p>
          <a:p>
            <a:pPr marL="0" marR="0" lvl="0" indent="0" algn="just"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onsolas"/>
                <a:ea typeface="Consolas"/>
                <a:cs typeface="Consolas"/>
                <a:sym typeface="Consolas"/>
              </a:rPr>
              <a:t>PHP </a:t>
            </a:r>
            <a:r>
              <a:rPr lang="en-US" sz="2000" b="1" i="0" u="none" strike="noStrike" cap="none">
                <a:solidFill>
                  <a:srgbClr val="000000"/>
                </a:solidFill>
                <a:latin typeface="Consolas"/>
                <a:ea typeface="Consolas"/>
                <a:cs typeface="Consolas"/>
                <a:sym typeface="Consolas"/>
              </a:rPr>
              <a:t>automatically</a:t>
            </a:r>
            <a:r>
              <a:rPr lang="en-US" sz="2000" b="0" i="0" u="none" strike="noStrike" cap="none">
                <a:solidFill>
                  <a:srgbClr val="000000"/>
                </a:solidFill>
                <a:latin typeface="Consolas"/>
                <a:ea typeface="Consolas"/>
                <a:cs typeface="Consolas"/>
                <a:sym typeface="Consolas"/>
              </a:rPr>
              <a:t> converts the variable to the correct data type, depending on its value.</a:t>
            </a:r>
            <a:endParaRPr sz="20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9"/>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Rules in Declaring Variables </a:t>
            </a:r>
            <a:endParaRPr b="1"/>
          </a:p>
        </p:txBody>
      </p:sp>
      <p:sp>
        <p:nvSpPr>
          <p:cNvPr id="253" name="Google Shape;253;p19"/>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54" name="Google Shape;254;p19"/>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5" name="Google Shape;255;p19"/>
          <p:cNvSpPr txBox="1"/>
          <p:nvPr/>
        </p:nvSpPr>
        <p:spPr>
          <a:xfrm>
            <a:off x="828000" y="1180800"/>
            <a:ext cx="7920000"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 variable name must start with a letter or an underscore "_" -- not a number </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 variable name can only contain alpha-numeric characters, underscores (a-z, A-Z, 0-9, and _ ) </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 variable name should not contain spaces. If a variable name is more than one word, it should be separated with an underscore ($my_string) or with capitalization ($myString)</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0"/>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Variables in PHP</a:t>
            </a:r>
            <a:endParaRPr/>
          </a:p>
        </p:txBody>
      </p:sp>
      <p:sp>
        <p:nvSpPr>
          <p:cNvPr id="261" name="Google Shape;261;p20"/>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62" name="Google Shape;262;p20"/>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3" name="Google Shape;263;p20"/>
          <p:cNvSpPr txBox="1"/>
          <p:nvPr/>
        </p:nvSpPr>
        <p:spPr>
          <a:xfrm>
            <a:off x="5487218" y="971312"/>
            <a:ext cx="3244495" cy="2031325"/>
          </a:xfrm>
          <a:prstGeom prst="rect">
            <a:avLst/>
          </a:prstGeom>
          <a:noFill/>
          <a:ln w="9525" cap="flat" cmpd="sng">
            <a:solidFill>
              <a:srgbClr val="C9B1F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Poppins"/>
                <a:ea typeface="Poppins"/>
                <a:cs typeface="Poppins"/>
                <a:sym typeface="Poppins"/>
              </a:rPr>
              <a:t>PHP Case Sensitivity</a:t>
            </a:r>
            <a:r>
              <a:rPr lang="en-US" sz="1400" b="0" i="0" u="none" strike="noStrike" cap="none">
                <a:solidFill>
                  <a:srgbClr val="000000"/>
                </a:solidFill>
                <a:latin typeface="Poppins"/>
                <a:ea typeface="Poppins"/>
                <a:cs typeface="Poppins"/>
                <a:sym typeface="Poppins"/>
              </a:rPr>
              <a:t> - In PHP, </a:t>
            </a:r>
            <a:r>
              <a:rPr lang="en-US" sz="1400" b="1" i="0" u="none" strike="noStrike" cap="none">
                <a:solidFill>
                  <a:srgbClr val="000000"/>
                </a:solidFill>
                <a:latin typeface="Poppins"/>
                <a:ea typeface="Poppins"/>
                <a:cs typeface="Poppins"/>
                <a:sym typeface="Poppins"/>
              </a:rPr>
              <a:t>all user-defined functions, classes, and keywords</a:t>
            </a:r>
            <a:r>
              <a:rPr lang="en-US" sz="1400" b="0" i="0" u="none" strike="noStrike" cap="none">
                <a:solidFill>
                  <a:srgbClr val="000000"/>
                </a:solidFill>
                <a:latin typeface="Poppins"/>
                <a:ea typeface="Poppins"/>
                <a:cs typeface="Poppins"/>
                <a:sym typeface="Poppins"/>
              </a:rPr>
              <a:t> (e.g. if, else, while, echo, etc.) are </a:t>
            </a:r>
            <a:r>
              <a:rPr lang="en-US" sz="1400" b="1" i="0" u="none" strike="noStrike" cap="none">
                <a:solidFill>
                  <a:srgbClr val="000000"/>
                </a:solidFill>
                <a:latin typeface="Poppins"/>
                <a:ea typeface="Poppins"/>
                <a:cs typeface="Poppins"/>
                <a:sym typeface="Poppins"/>
              </a:rPr>
              <a:t>NOT case-sensitive</a:t>
            </a:r>
            <a:r>
              <a:rPr lang="en-US" sz="1400" b="0" i="0" u="none" strike="noStrike" cap="none">
                <a:solidFill>
                  <a:srgbClr val="000000"/>
                </a:solidFill>
                <a:latin typeface="Poppins"/>
                <a:ea typeface="Poppins"/>
                <a:cs typeface="Poppins"/>
                <a:sym typeface="Poppins"/>
              </a:rPr>
              <a:t>.</a:t>
            </a:r>
            <a:endParaRPr/>
          </a:p>
          <a:p>
            <a:pPr marL="0" marR="0" lvl="0" indent="0" algn="l" rtl="0">
              <a:lnSpc>
                <a:spcPct val="100000"/>
              </a:lnSpc>
              <a:spcBef>
                <a:spcPts val="0"/>
              </a:spcBef>
              <a:spcAft>
                <a:spcPts val="0"/>
              </a:spcAft>
              <a:buNone/>
            </a:pPr>
            <a:endParaRPr sz="14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However; in PHP, </a:t>
            </a:r>
            <a:r>
              <a:rPr lang="en-US" sz="1400" b="1" i="0" u="none" strike="noStrike" cap="none">
                <a:solidFill>
                  <a:srgbClr val="000000"/>
                </a:solidFill>
                <a:latin typeface="Poppins"/>
                <a:ea typeface="Poppins"/>
                <a:cs typeface="Poppins"/>
                <a:sym typeface="Poppins"/>
              </a:rPr>
              <a:t>all variables are case-sensitive.</a:t>
            </a:r>
            <a:endParaRPr sz="1400" b="1"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4" name="Google Shape;264;p20"/>
          <p:cNvSpPr txBox="1"/>
          <p:nvPr/>
        </p:nvSpPr>
        <p:spPr>
          <a:xfrm>
            <a:off x="476136" y="840772"/>
            <a:ext cx="4888800" cy="203132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$color</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"red"</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"My car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$color</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"My house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$COLOR</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"My boat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$coLOR</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 </a:t>
            </a: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pic>
        <p:nvPicPr>
          <p:cNvPr id="265" name="Google Shape;265;p20"/>
          <p:cNvPicPr preferRelativeResize="0"/>
          <p:nvPr/>
        </p:nvPicPr>
        <p:blipFill rotWithShape="1">
          <a:blip r:embed="rId3">
            <a:alphaModFix/>
          </a:blip>
          <a:srcRect/>
          <a:stretch/>
        </p:blipFill>
        <p:spPr>
          <a:xfrm>
            <a:off x="527487" y="3256256"/>
            <a:ext cx="4959731" cy="1518034"/>
          </a:xfrm>
          <a:prstGeom prst="rect">
            <a:avLst/>
          </a:prstGeom>
          <a:noFill/>
          <a:ln>
            <a:noFill/>
          </a:ln>
        </p:spPr>
      </p:pic>
      <p:sp>
        <p:nvSpPr>
          <p:cNvPr id="266" name="Google Shape;266;p20"/>
          <p:cNvSpPr txBox="1"/>
          <p:nvPr/>
        </p:nvSpPr>
        <p:spPr>
          <a:xfrm>
            <a:off x="412287" y="2917702"/>
            <a:ext cx="245331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Consolas"/>
                <a:ea typeface="Consolas"/>
                <a:cs typeface="Consolas"/>
                <a:sym typeface="Consolas"/>
              </a:rPr>
              <a:t>OUTPUT</a:t>
            </a:r>
            <a:endParaRPr sz="1600" b="1" i="0" u="none" strike="noStrike" cap="none">
              <a:solidFill>
                <a:srgbClr val="000000"/>
              </a:solidFill>
              <a:latin typeface="Consolas"/>
              <a:ea typeface="Consolas"/>
              <a:cs typeface="Consolas"/>
              <a:sym typeface="Consolas"/>
            </a:endParaRPr>
          </a:p>
        </p:txBody>
      </p:sp>
      <p:sp>
        <p:nvSpPr>
          <p:cNvPr id="267" name="Google Shape;267;p20"/>
          <p:cNvSpPr txBox="1"/>
          <p:nvPr/>
        </p:nvSpPr>
        <p:spPr>
          <a:xfrm>
            <a:off x="5487218" y="2965608"/>
            <a:ext cx="3244495" cy="1815882"/>
          </a:xfrm>
          <a:prstGeom prst="rect">
            <a:avLst/>
          </a:prstGeom>
          <a:noFill/>
          <a:ln w="9525" cap="flat" cmpd="sng">
            <a:solidFill>
              <a:srgbClr val="C9B1F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All three echo statements below are legal (and equal) </a:t>
            </a:r>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for the car display only the first statement is valid(this is because $color, $COLOR, and $coLOR are treated as three different variables)</a:t>
            </a: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1"/>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73" name="Google Shape;273;p21"/>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4" name="Google Shape;274;p21"/>
          <p:cNvSpPr txBox="1"/>
          <p:nvPr/>
        </p:nvSpPr>
        <p:spPr>
          <a:xfrm>
            <a:off x="453600" y="1026670"/>
            <a:ext cx="8359200" cy="32932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Poppins"/>
                <a:ea typeface="Poppins"/>
                <a:cs typeface="Poppins"/>
                <a:sym typeface="Poppins"/>
              </a:rPr>
              <a:t>Comments in PHP</a:t>
            </a:r>
            <a:r>
              <a:rPr lang="en-US" sz="1600" b="0" i="0" u="none" strike="noStrike" cap="none">
                <a:solidFill>
                  <a:srgbClr val="000000"/>
                </a:solidFill>
                <a:latin typeface="Poppins"/>
                <a:ea typeface="Poppins"/>
                <a:cs typeface="Poppins"/>
                <a:sym typeface="Poppins"/>
              </a:rPr>
              <a:t> - In PHP, we use // to make a single-line comment or /* and */ to make a large </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Poppins"/>
                <a:ea typeface="Poppins"/>
                <a:cs typeface="Poppins"/>
                <a:sym typeface="Poppins"/>
              </a:rPr>
              <a:t>comment block.</a:t>
            </a:r>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endParaRPr sz="1600" b="0" i="0" u="none" strike="noStrike" cap="none">
              <a:solidFill>
                <a:srgbClr val="000000"/>
              </a:solidFill>
              <a:latin typeface="Poppins"/>
              <a:ea typeface="Poppins"/>
              <a:cs typeface="Poppins"/>
              <a:sym typeface="Poppins"/>
            </a:endParaRPr>
          </a:p>
        </p:txBody>
      </p:sp>
      <p:sp>
        <p:nvSpPr>
          <p:cNvPr id="275" name="Google Shape;275;p21"/>
          <p:cNvSpPr txBox="1"/>
          <p:nvPr/>
        </p:nvSpPr>
        <p:spPr>
          <a:xfrm>
            <a:off x="946800" y="2073110"/>
            <a:ext cx="7250400" cy="224676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//echo "Hello" this is single line comment ;</a:t>
            </a:r>
            <a:br>
              <a:rPr lang="en-US" sz="1400" b="0" i="0" u="none" strike="noStrike" cap="none">
                <a:solidFill>
                  <a:srgbClr val="D4D4D4"/>
                </a:solidFill>
                <a:latin typeface="Consolas"/>
                <a:ea typeface="Consolas"/>
                <a:cs typeface="Consolas"/>
                <a:sym typeface="Consolas"/>
              </a:rPr>
            </a:b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6A9955"/>
                </a:solidFill>
                <a:latin typeface="Consolas"/>
                <a:ea typeface="Consolas"/>
                <a:cs typeface="Consolas"/>
                <a:sym typeface="Consolas"/>
              </a:rPr>
              <a:t>    echo "Welcome to PHP programming1";</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6A9955"/>
                </a:solidFill>
                <a:latin typeface="Consolas"/>
                <a:ea typeface="Consolas"/>
                <a:cs typeface="Consolas"/>
                <a:sym typeface="Consolas"/>
              </a:rPr>
              <a:t>    echo "Welcome to PHP programming2"; </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6A9955"/>
                </a:solidFill>
                <a:latin typeface="Consolas"/>
                <a:ea typeface="Consolas"/>
                <a:cs typeface="Consolas"/>
                <a:sym typeface="Consolas"/>
              </a:rPr>
              <a:t>    this is multiple line comment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6A9955"/>
                </a:solidFill>
                <a:latin typeface="Consolas"/>
                <a:ea typeface="Consolas"/>
                <a:cs typeface="Consolas"/>
                <a:sym typeface="Consolas"/>
              </a:rPr>
              <a:t>    */</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2"/>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Concatenation </a:t>
            </a:r>
            <a:endParaRPr b="1"/>
          </a:p>
        </p:txBody>
      </p:sp>
      <p:sp>
        <p:nvSpPr>
          <p:cNvPr id="281" name="Google Shape;281;p2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82" name="Google Shape;282;p2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3" name="Google Shape;283;p22"/>
          <p:cNvSpPr txBox="1"/>
          <p:nvPr/>
        </p:nvSpPr>
        <p:spPr>
          <a:xfrm>
            <a:off x="496800" y="900000"/>
            <a:ext cx="81504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concatenation operator (.) is used to put two string values together.</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To concatenate two string variables together, use the concatenation operator:</a:t>
            </a:r>
            <a:endParaRPr sz="1400" b="0" i="0" u="none" strike="noStrike" cap="none">
              <a:solidFill>
                <a:srgbClr val="000000"/>
              </a:solidFill>
              <a:latin typeface="Arial"/>
              <a:ea typeface="Arial"/>
              <a:cs typeface="Arial"/>
              <a:sym typeface="Arial"/>
            </a:endParaRPr>
          </a:p>
        </p:txBody>
      </p:sp>
      <p:sp>
        <p:nvSpPr>
          <p:cNvPr id="284" name="Google Shape;284;p22"/>
          <p:cNvSpPr txBox="1"/>
          <p:nvPr/>
        </p:nvSpPr>
        <p:spPr>
          <a:xfrm>
            <a:off x="759600" y="1781844"/>
            <a:ext cx="7624800" cy="267765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$firstName</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"Bryan"</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$secondName</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"Emmanuel"</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$lastName</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"Paz"</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$fullName</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$firstName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$secondName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$lastName</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my First Name is  </a:t>
            </a:r>
            <a:r>
              <a:rPr lang="en-US" sz="1400" b="0" i="0" u="none" strike="noStrike" cap="none">
                <a:solidFill>
                  <a:srgbClr val="9CDCFE"/>
                </a:solidFill>
                <a:latin typeface="Consolas"/>
                <a:ea typeface="Consolas"/>
                <a:cs typeface="Consolas"/>
                <a:sym typeface="Consolas"/>
              </a:rPr>
              <a:t>$firstName</a:t>
            </a:r>
            <a:r>
              <a:rPr lang="en-US" sz="1400" b="0" i="0" u="none" strike="noStrike" cap="none">
                <a:solidFill>
                  <a:srgbClr val="CE9178"/>
                </a:solidFill>
                <a:latin typeface="Consolas"/>
                <a:ea typeface="Consolas"/>
                <a:cs typeface="Consolas"/>
                <a:sym typeface="Consolas"/>
              </a:rPr>
              <a:t> &lt;br&gt;"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my Second Name is  </a:t>
            </a:r>
            <a:r>
              <a:rPr lang="en-US" sz="1400" b="0" i="0" u="none" strike="noStrike" cap="none">
                <a:solidFill>
                  <a:srgbClr val="9CDCFE"/>
                </a:solidFill>
                <a:latin typeface="Consolas"/>
                <a:ea typeface="Consolas"/>
                <a:cs typeface="Consolas"/>
                <a:sym typeface="Consolas"/>
              </a:rPr>
              <a:t>$secondName</a:t>
            </a:r>
            <a:r>
              <a:rPr lang="en-US" sz="1400" b="0" i="0" u="none" strike="noStrike" cap="none">
                <a:solidFill>
                  <a:srgbClr val="CE9178"/>
                </a:solidFill>
                <a:latin typeface="Consolas"/>
                <a:ea typeface="Consolas"/>
                <a:cs typeface="Consolas"/>
                <a:sym typeface="Consolas"/>
              </a:rPr>
              <a: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my FullName is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$fullName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3"/>
          <p:cNvSpPr txBox="1">
            <a:spLocks noGrp="1"/>
          </p:cNvSpPr>
          <p:nvPr>
            <p:ph type="title"/>
          </p:nvPr>
        </p:nvSpPr>
        <p:spPr>
          <a:xfrm>
            <a:off x="331200" y="1751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Loosely typed language</a:t>
            </a:r>
            <a:endParaRPr b="1"/>
          </a:p>
        </p:txBody>
      </p:sp>
      <p:sp>
        <p:nvSpPr>
          <p:cNvPr id="290" name="Google Shape;290;p2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91" name="Google Shape;291;p2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2" name="Google Shape;292;p23"/>
          <p:cNvSpPr txBox="1"/>
          <p:nvPr/>
        </p:nvSpPr>
        <p:spPr>
          <a:xfrm>
            <a:off x="415054" y="1632238"/>
            <a:ext cx="8336546"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Poppins"/>
                <a:ea typeface="Poppins"/>
                <a:cs typeface="Poppins"/>
                <a:sym typeface="Poppins"/>
              </a:rPr>
              <a:t>PHP is a loosely typed language</a:t>
            </a:r>
            <a:r>
              <a:rPr lang="en-US" sz="2400" b="0" i="0" u="none" strike="noStrike" cap="none">
                <a:solidFill>
                  <a:srgbClr val="000000"/>
                </a:solidFill>
                <a:latin typeface="Poppins"/>
                <a:ea typeface="Poppins"/>
                <a:cs typeface="Poppins"/>
                <a:sym typeface="Poppins"/>
              </a:rPr>
              <a:t>. This means that you do not need to explicitly declare the data type of a variable. PHP automatically determines the type of a variable based on the value assigned to it, and it allows variables to change types dynamically during script execution.</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331200" y="1751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5 Data Types </a:t>
            </a:r>
            <a:endParaRPr b="1"/>
          </a:p>
        </p:txBody>
      </p:sp>
      <p:sp>
        <p:nvSpPr>
          <p:cNvPr id="298" name="Google Shape;298;p2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299" name="Google Shape;299;p2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0" name="Google Shape;300;p24"/>
          <p:cNvSpPr txBox="1"/>
          <p:nvPr/>
        </p:nvSpPr>
        <p:spPr>
          <a:xfrm>
            <a:off x="353854" y="840459"/>
            <a:ext cx="753840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Poppins"/>
                <a:ea typeface="Poppins"/>
                <a:cs typeface="Poppins"/>
                <a:sym typeface="Poppins"/>
              </a:rPr>
              <a:t>String</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Integer</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Floating point numbers</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Boolean</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Array</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Object</a:t>
            </a:r>
            <a:r>
              <a:rPr lang="en-US" sz="1400" b="0" i="0" u="none" strike="noStrike" cap="none">
                <a:solidFill>
                  <a:srgbClr val="000000"/>
                </a:solidFill>
                <a:latin typeface="Poppins"/>
                <a:ea typeface="Poppins"/>
                <a:cs typeface="Poppins"/>
                <a:sym typeface="Poppins"/>
              </a:rPr>
              <a:t>, </a:t>
            </a:r>
            <a:r>
              <a:rPr lang="en-US" sz="1400" b="1" i="0" u="none" strike="noStrike" cap="none">
                <a:solidFill>
                  <a:srgbClr val="000000"/>
                </a:solidFill>
                <a:latin typeface="Poppins"/>
                <a:ea typeface="Poppins"/>
                <a:cs typeface="Poppins"/>
                <a:sym typeface="Poppins"/>
              </a:rPr>
              <a:t>NULL</a:t>
            </a:r>
            <a:r>
              <a:rPr lang="en-US" sz="1400" b="0" i="0" u="none" strike="noStrike" cap="none">
                <a:solidFill>
                  <a:srgbClr val="000000"/>
                </a:solidFill>
                <a:latin typeface="Poppins"/>
                <a:ea typeface="Poppins"/>
                <a:cs typeface="Poppins"/>
                <a:sym typeface="Poppins"/>
              </a:rPr>
              <a:t>. </a:t>
            </a:r>
            <a:endParaRPr/>
          </a:p>
          <a:p>
            <a:pPr marL="0" marR="0" lvl="0" indent="0" algn="l" rtl="0">
              <a:lnSpc>
                <a:spcPct val="100000"/>
              </a:lnSpc>
              <a:spcBef>
                <a:spcPts val="0"/>
              </a:spcBef>
              <a:spcAft>
                <a:spcPts val="0"/>
              </a:spcAft>
              <a:buNone/>
            </a:pPr>
            <a:endParaRPr sz="14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The PHP </a:t>
            </a:r>
            <a:r>
              <a:rPr lang="en-US" sz="1400" b="1" i="0" u="none" strike="noStrike" cap="none">
                <a:solidFill>
                  <a:srgbClr val="000000"/>
                </a:solidFill>
                <a:latin typeface="Poppins"/>
                <a:ea typeface="Poppins"/>
                <a:cs typeface="Poppins"/>
                <a:sym typeface="Poppins"/>
              </a:rPr>
              <a:t>var_dump() </a:t>
            </a:r>
            <a:r>
              <a:rPr lang="en-US" sz="1400" b="0" i="0" u="none" strike="noStrike" cap="none">
                <a:solidFill>
                  <a:srgbClr val="000000"/>
                </a:solidFill>
                <a:latin typeface="Poppins"/>
                <a:ea typeface="Poppins"/>
                <a:cs typeface="Poppins"/>
                <a:sym typeface="Poppins"/>
              </a:rPr>
              <a:t>function returns the data type and value of variables: </a:t>
            </a:r>
            <a:endParaRPr sz="1400" b="0" i="0" u="none" strike="noStrike" cap="none">
              <a:solidFill>
                <a:srgbClr val="000000"/>
              </a:solidFill>
              <a:latin typeface="Poppins"/>
              <a:ea typeface="Poppins"/>
              <a:cs typeface="Poppins"/>
              <a:sym typeface="Poppins"/>
            </a:endParaRPr>
          </a:p>
        </p:txBody>
      </p:sp>
      <p:sp>
        <p:nvSpPr>
          <p:cNvPr id="301" name="Google Shape;301;p24"/>
          <p:cNvSpPr txBox="1"/>
          <p:nvPr/>
        </p:nvSpPr>
        <p:spPr>
          <a:xfrm>
            <a:off x="482400" y="1656380"/>
            <a:ext cx="5356800" cy="310854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10.365</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var_dump</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output is float(10.365)</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2.4e3</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var_dump</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output is float(2400)</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8E-5</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var_dump</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output is float(8.0E-5)</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"BSU"</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var_dump</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output is string(3) “BSU”</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pic>
        <p:nvPicPr>
          <p:cNvPr id="302" name="Google Shape;302;p24"/>
          <p:cNvPicPr preferRelativeResize="0"/>
          <p:nvPr/>
        </p:nvPicPr>
        <p:blipFill rotWithShape="1">
          <a:blip r:embed="rId3">
            <a:alphaModFix/>
          </a:blip>
          <a:srcRect/>
          <a:stretch/>
        </p:blipFill>
        <p:spPr>
          <a:xfrm>
            <a:off x="5865983" y="1656380"/>
            <a:ext cx="2686563" cy="2219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5"/>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08" name="Google Shape;308;p25"/>
          <p:cNvSpPr txBox="1">
            <a:spLocks noGrp="1"/>
          </p:cNvSpPr>
          <p:nvPr>
            <p:ph type="title"/>
          </p:nvPr>
        </p:nvSpPr>
        <p:spPr>
          <a:xfrm>
            <a:off x="2260800" y="2150850"/>
            <a:ext cx="66600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PHP Operators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6"/>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Arithmetic Operators</a:t>
            </a:r>
            <a:endParaRPr/>
          </a:p>
        </p:txBody>
      </p:sp>
      <p:sp>
        <p:nvSpPr>
          <p:cNvPr id="314" name="Google Shape;314;p2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15" name="Google Shape;315;p2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16" name="Google Shape;316;p26"/>
          <p:cNvPicPr preferRelativeResize="0"/>
          <p:nvPr/>
        </p:nvPicPr>
        <p:blipFill rotWithShape="1">
          <a:blip r:embed="rId3">
            <a:alphaModFix/>
          </a:blip>
          <a:srcRect/>
          <a:stretch/>
        </p:blipFill>
        <p:spPr>
          <a:xfrm>
            <a:off x="1207329" y="785473"/>
            <a:ext cx="6729342" cy="400185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7"/>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Assignment Operators </a:t>
            </a:r>
            <a:endParaRPr b="1"/>
          </a:p>
        </p:txBody>
      </p:sp>
      <p:sp>
        <p:nvSpPr>
          <p:cNvPr id="322" name="Google Shape;322;p27"/>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23" name="Google Shape;323;p27"/>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24" name="Google Shape;324;p27"/>
          <p:cNvPicPr preferRelativeResize="0"/>
          <p:nvPr/>
        </p:nvPicPr>
        <p:blipFill rotWithShape="1">
          <a:blip r:embed="rId3">
            <a:alphaModFix/>
          </a:blip>
          <a:srcRect/>
          <a:stretch/>
        </p:blipFill>
        <p:spPr>
          <a:xfrm>
            <a:off x="730840" y="1333924"/>
            <a:ext cx="7682319" cy="275503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8"/>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Comparison Operators </a:t>
            </a:r>
            <a:endParaRPr b="1"/>
          </a:p>
        </p:txBody>
      </p:sp>
      <p:sp>
        <p:nvSpPr>
          <p:cNvPr id="330" name="Google Shape;330;p2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31" name="Google Shape;331;p2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32" name="Google Shape;332;p28"/>
          <p:cNvPicPr preferRelativeResize="0"/>
          <p:nvPr/>
        </p:nvPicPr>
        <p:blipFill rotWithShape="1">
          <a:blip r:embed="rId3">
            <a:alphaModFix/>
          </a:blip>
          <a:srcRect/>
          <a:stretch/>
        </p:blipFill>
        <p:spPr>
          <a:xfrm>
            <a:off x="842400" y="1456325"/>
            <a:ext cx="7459200" cy="266492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9"/>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Logical Operators </a:t>
            </a:r>
            <a:endParaRPr b="1"/>
          </a:p>
        </p:txBody>
      </p:sp>
      <p:sp>
        <p:nvSpPr>
          <p:cNvPr id="338" name="Google Shape;338;p29"/>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39" name="Google Shape;339;p29"/>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40" name="Google Shape;340;p29"/>
          <p:cNvPicPr preferRelativeResize="0"/>
          <p:nvPr/>
        </p:nvPicPr>
        <p:blipFill rotWithShape="1">
          <a:blip r:embed="rId3">
            <a:alphaModFix/>
          </a:blip>
          <a:srcRect/>
          <a:stretch/>
        </p:blipFill>
        <p:spPr>
          <a:xfrm>
            <a:off x="644927" y="1434811"/>
            <a:ext cx="8078400" cy="274637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0"/>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Example</a:t>
            </a:r>
            <a:endParaRPr b="1"/>
          </a:p>
        </p:txBody>
      </p:sp>
      <p:sp>
        <p:nvSpPr>
          <p:cNvPr id="346" name="Google Shape;346;p30"/>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47" name="Google Shape;347;p30"/>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8" name="Google Shape;348;p30"/>
          <p:cNvSpPr txBox="1"/>
          <p:nvPr/>
        </p:nvSpPr>
        <p:spPr>
          <a:xfrm>
            <a:off x="641327" y="1339850"/>
            <a:ext cx="7884000" cy="28931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120</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120</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$diff</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400" b="0" i="0" u="none" strike="noStrike" cap="none">
                <a:solidFill>
                  <a:srgbClr val="D4D4D4"/>
                </a:solidFill>
                <a:latin typeface="Consolas"/>
                <a:ea typeface="Consolas"/>
                <a:cs typeface="Consolas"/>
                <a:sym typeface="Consolas"/>
              </a:rPr>
            </a:b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sum is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"&lt;br&gt;&lt;div class='bb'&gt;the product is&lt;/div&gt;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"&lt;br&gt;the quotient is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"&lt;br&gt;the difference is: </a:t>
            </a:r>
            <a:r>
              <a:rPr lang="en-US" sz="1400" b="0" i="0" u="none" strike="noStrike" cap="none">
                <a:solidFill>
                  <a:srgbClr val="9CDCFE"/>
                </a:solidFill>
                <a:latin typeface="Consolas"/>
                <a:ea typeface="Consolas"/>
                <a:cs typeface="Consolas"/>
                <a:sym typeface="Consolas"/>
              </a:rPr>
              <a:t>$diff</a:t>
            </a:r>
            <a:r>
              <a:rPr lang="en-US" sz="1400" b="0" i="0" u="none" strike="noStrike" cap="none">
                <a:solidFill>
                  <a:srgbClr val="CE9178"/>
                </a:solidFill>
                <a:latin typeface="Consolas"/>
                <a:ea typeface="Consolas"/>
                <a:cs typeface="Consolas"/>
                <a:sym typeface="Consolas"/>
              </a:rPr>
              <a: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"&lt;hr&gt;"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'r'</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sum is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//output is 1. it will ignore $x</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4"/>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77" name="Google Shape;377;p34"/>
          <p:cNvSpPr txBox="1">
            <a:spLocks noGrp="1"/>
          </p:cNvSpPr>
          <p:nvPr>
            <p:ph type="title"/>
          </p:nvPr>
        </p:nvSpPr>
        <p:spPr>
          <a:xfrm>
            <a:off x="1317600" y="2258850"/>
            <a:ext cx="66600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Conditional Statements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5"/>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Conditional Statements </a:t>
            </a:r>
            <a:endParaRPr b="1"/>
          </a:p>
        </p:txBody>
      </p:sp>
      <p:sp>
        <p:nvSpPr>
          <p:cNvPr id="383" name="Google Shape;383;p3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84" name="Google Shape;384;p3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5" name="Google Shape;385;p35"/>
          <p:cNvSpPr txBox="1"/>
          <p:nvPr/>
        </p:nvSpPr>
        <p:spPr>
          <a:xfrm>
            <a:off x="468000" y="783986"/>
            <a:ext cx="7452000"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Arial"/>
                <a:ea typeface="Arial"/>
                <a:cs typeface="Arial"/>
                <a:sym typeface="Arial"/>
              </a:rPr>
              <a:t>Very often when you write code, you want to perform different actions for different decisions. You can use conditional statements in your code to do this</a:t>
            </a:r>
            <a:endParaRPr sz="2000" b="0" i="0" u="none" strike="noStrike" cap="none">
              <a:solidFill>
                <a:srgbClr val="000000"/>
              </a:solidFill>
              <a:latin typeface="Arial"/>
              <a:ea typeface="Arial"/>
              <a:cs typeface="Arial"/>
              <a:sym typeface="Arial"/>
            </a:endParaRPr>
          </a:p>
        </p:txBody>
      </p:sp>
      <p:sp>
        <p:nvSpPr>
          <p:cNvPr id="386" name="Google Shape;386;p35"/>
          <p:cNvSpPr txBox="1"/>
          <p:nvPr/>
        </p:nvSpPr>
        <p:spPr>
          <a:xfrm>
            <a:off x="640800" y="1899635"/>
            <a:ext cx="7624800"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Poppins"/>
                <a:ea typeface="Poppins"/>
                <a:cs typeface="Poppins"/>
                <a:sym typeface="Poppins"/>
              </a:rPr>
              <a:t>In PHP we have following conditional statements:</a:t>
            </a:r>
            <a:endParaRPr/>
          </a:p>
          <a:p>
            <a:pPr marL="0" marR="0" lvl="0" indent="0" algn="l" rtl="0">
              <a:lnSpc>
                <a:spcPct val="100000"/>
              </a:lnSpc>
              <a:spcBef>
                <a:spcPts val="0"/>
              </a:spcBef>
              <a:spcAft>
                <a:spcPts val="0"/>
              </a:spcAft>
              <a:buNone/>
            </a:pPr>
            <a:endParaRPr sz="1800" b="0" i="0" u="none" strike="noStrike" cap="none">
              <a:solidFill>
                <a:srgbClr val="000000"/>
              </a:solidFill>
              <a:latin typeface="Poppins"/>
              <a:ea typeface="Poppins"/>
              <a:cs typeface="Poppins"/>
              <a:sym typeface="Poppins"/>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Poppins"/>
                <a:ea typeface="Poppins"/>
                <a:cs typeface="Poppins"/>
                <a:sym typeface="Poppins"/>
              </a:rPr>
              <a:t>if statement </a:t>
            </a:r>
            <a:r>
              <a:rPr lang="en-US" sz="1800" b="0" i="0" u="none" strike="noStrike" cap="none">
                <a:solidFill>
                  <a:srgbClr val="000000"/>
                </a:solidFill>
                <a:latin typeface="Poppins"/>
                <a:ea typeface="Poppins"/>
                <a:cs typeface="Poppins"/>
                <a:sym typeface="Poppins"/>
              </a:rPr>
              <a:t>- use this statement to execute some code only if a specified condition is true </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Poppins"/>
                <a:ea typeface="Poppins"/>
                <a:cs typeface="Poppins"/>
                <a:sym typeface="Poppins"/>
              </a:rPr>
              <a:t>if...else statement </a:t>
            </a:r>
            <a:r>
              <a:rPr lang="en-US" sz="1800" b="0" i="0" u="none" strike="noStrike" cap="none">
                <a:solidFill>
                  <a:srgbClr val="000000"/>
                </a:solidFill>
                <a:latin typeface="Poppins"/>
                <a:ea typeface="Poppins"/>
                <a:cs typeface="Poppins"/>
                <a:sym typeface="Poppins"/>
              </a:rPr>
              <a:t>- use this statement to execute some code if a condition is true and another code if the condition is false </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Poppins"/>
                <a:ea typeface="Poppins"/>
                <a:cs typeface="Poppins"/>
                <a:sym typeface="Poppins"/>
              </a:rPr>
              <a:t>if...else if....else statement </a:t>
            </a:r>
            <a:r>
              <a:rPr lang="en-US" sz="1800" b="0" i="0" u="none" strike="noStrike" cap="none">
                <a:solidFill>
                  <a:srgbClr val="000000"/>
                </a:solidFill>
                <a:latin typeface="Poppins"/>
                <a:ea typeface="Poppins"/>
                <a:cs typeface="Poppins"/>
                <a:sym typeface="Poppins"/>
              </a:rPr>
              <a:t>- use this statement to select one of several blocks of code to be executed </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Poppins"/>
                <a:ea typeface="Poppins"/>
                <a:cs typeface="Poppins"/>
                <a:sym typeface="Poppins"/>
              </a:rPr>
              <a:t> </a:t>
            </a:r>
            <a:r>
              <a:rPr lang="en-US" sz="1800" b="1" i="0" u="none" strike="noStrike" cap="none">
                <a:solidFill>
                  <a:srgbClr val="000000"/>
                </a:solidFill>
                <a:latin typeface="Poppins"/>
                <a:ea typeface="Poppins"/>
                <a:cs typeface="Poppins"/>
                <a:sym typeface="Poppins"/>
              </a:rPr>
              <a:t>switch statement </a:t>
            </a:r>
            <a:r>
              <a:rPr lang="en-US" sz="1800" b="0" i="0" u="none" strike="noStrike" cap="none">
                <a:solidFill>
                  <a:srgbClr val="000000"/>
                </a:solidFill>
                <a:latin typeface="Poppins"/>
                <a:ea typeface="Poppins"/>
                <a:cs typeface="Poppins"/>
                <a:sym typeface="Poppins"/>
              </a:rPr>
              <a:t>- use this statement to select one of many blocks of code to be executed</a:t>
            </a:r>
            <a:endParaRPr sz="1800" b="0" i="0" u="none" strike="noStrike" cap="none">
              <a:solidFill>
                <a:srgbClr val="000000"/>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IF STATEMENT </a:t>
            </a:r>
            <a:endParaRPr b="1"/>
          </a:p>
        </p:txBody>
      </p:sp>
      <p:sp>
        <p:nvSpPr>
          <p:cNvPr id="392" name="Google Shape;392;p3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93" name="Google Shape;393;p3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4" name="Google Shape;394;p36"/>
          <p:cNvSpPr txBox="1"/>
          <p:nvPr/>
        </p:nvSpPr>
        <p:spPr>
          <a:xfrm>
            <a:off x="447454" y="822841"/>
            <a:ext cx="3418946" cy="397031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DOCTYPE</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html</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html</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lang</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CE9178"/>
                </a:solidFill>
                <a:latin typeface="Consolas"/>
                <a:ea typeface="Consolas"/>
                <a:cs typeface="Consolas"/>
                <a:sym typeface="Consolas"/>
              </a:rPr>
              <a:t>"</a:t>
            </a:r>
            <a:r>
              <a:rPr lang="en-US" sz="1400" b="0" i="0" u="none" strike="noStrike" cap="none" dirty="0" err="1">
                <a:solidFill>
                  <a:srgbClr val="CE9178"/>
                </a:solidFill>
                <a:latin typeface="Consolas"/>
                <a:ea typeface="Consolas"/>
                <a:cs typeface="Consolas"/>
                <a:sym typeface="Consolas"/>
              </a:rPr>
              <a:t>en</a:t>
            </a:r>
            <a:r>
              <a:rPr lang="en-US" sz="1400" b="0" i="0" u="none" strike="noStrike" cap="none" dirty="0">
                <a:solidFill>
                  <a:srgbClr val="CE9178"/>
                </a:solidFill>
                <a:latin typeface="Consolas"/>
                <a:ea typeface="Consolas"/>
                <a:cs typeface="Consolas"/>
                <a:sym typeface="Consolas"/>
              </a:rPr>
              <a:t>"</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head</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meta</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charset</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CE9178"/>
                </a:solidFill>
                <a:latin typeface="Consolas"/>
                <a:ea typeface="Consolas"/>
                <a:cs typeface="Consolas"/>
                <a:sym typeface="Consolas"/>
              </a:rPr>
              <a:t>"UTF-8"</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meta</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name</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CE9178"/>
                </a:solidFill>
                <a:latin typeface="Consolas"/>
                <a:ea typeface="Consolas"/>
                <a:cs typeface="Consolas"/>
                <a:sym typeface="Consolas"/>
              </a:rPr>
              <a:t>"viewport"</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content</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CE9178"/>
                </a:solidFill>
                <a:latin typeface="Consolas"/>
                <a:ea typeface="Consolas"/>
                <a:cs typeface="Consolas"/>
                <a:sym typeface="Consolas"/>
              </a:rPr>
              <a:t>"width=device-width, initial-scale=1.0"</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title</a:t>
            </a:r>
            <a:r>
              <a:rPr lang="en-US" sz="1400" b="0" i="0" u="none" strike="noStrike" cap="none" dirty="0">
                <a:solidFill>
                  <a:srgbClr val="808080"/>
                </a:solidFill>
                <a:latin typeface="Consolas"/>
                <a:ea typeface="Consolas"/>
                <a:cs typeface="Consolas"/>
                <a:sym typeface="Consolas"/>
              </a:rPr>
              <a:t>&gt;</a:t>
            </a:r>
            <a:r>
              <a:rPr lang="en-US" sz="1400" b="0" i="0" u="none" strike="noStrike" cap="none" dirty="0">
                <a:solidFill>
                  <a:srgbClr val="D4D4D4"/>
                </a:solidFill>
                <a:latin typeface="Consolas"/>
                <a:ea typeface="Consolas"/>
                <a:cs typeface="Consolas"/>
                <a:sym typeface="Consolas"/>
              </a:rPr>
              <a:t>Web and System</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title</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head</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body</a:t>
            </a:r>
            <a:r>
              <a:rPr lang="en-US" sz="1400" b="0" i="0" u="none" strike="noStrike" cap="none" dirty="0">
                <a:solidFill>
                  <a:srgbClr val="808080"/>
                </a:solidFill>
                <a:latin typeface="Consolas"/>
                <a:ea typeface="Consolas"/>
                <a:cs typeface="Consolas"/>
                <a:sym typeface="Consolas"/>
              </a:rPr>
              <a:t>&gt;</a:t>
            </a:r>
            <a:br>
              <a:rPr lang="en-US" sz="1400" b="0" i="0" u="none" strike="noStrike" cap="none" dirty="0">
                <a:solidFill>
                  <a:srgbClr val="D4D4D4"/>
                </a:solidFill>
                <a:latin typeface="Consolas"/>
                <a:ea typeface="Consolas"/>
                <a:cs typeface="Consolas"/>
                <a:sym typeface="Consolas"/>
              </a:rPr>
            </a:b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569CD6"/>
                </a:solidFill>
                <a:latin typeface="Consolas"/>
                <a:ea typeface="Consolas"/>
                <a:cs typeface="Consolas"/>
                <a:sym typeface="Consolas"/>
              </a:rPr>
              <a:t>&lt;?php</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$grade</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B5CEA8"/>
                </a:solidFill>
                <a:latin typeface="Consolas"/>
                <a:ea typeface="Consolas"/>
                <a:cs typeface="Consolas"/>
                <a:sym typeface="Consolas"/>
              </a:rPr>
              <a:t>80</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if</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$grade</a:t>
            </a:r>
            <a:r>
              <a:rPr lang="en-US" sz="1400" b="0" i="0" u="none" strike="noStrike" cap="none" dirty="0">
                <a:solidFill>
                  <a:srgbClr val="D4D4D4"/>
                </a:solidFill>
                <a:latin typeface="Consolas"/>
                <a:ea typeface="Consolas"/>
                <a:cs typeface="Consolas"/>
                <a:sym typeface="Consolas"/>
              </a:rPr>
              <a:t>&gt;=</a:t>
            </a:r>
            <a:r>
              <a:rPr lang="en-US" sz="1400" b="0" i="0" u="none" strike="noStrike" cap="none" dirty="0">
                <a:solidFill>
                  <a:srgbClr val="B5CEA8"/>
                </a:solidFill>
                <a:latin typeface="Consolas"/>
                <a:ea typeface="Consolas"/>
                <a:cs typeface="Consolas"/>
                <a:sym typeface="Consolas"/>
              </a:rPr>
              <a:t>75</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"Passed!"</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569CD6"/>
                </a:solidFill>
                <a:latin typeface="Consolas"/>
                <a:ea typeface="Consolas"/>
                <a:cs typeface="Consolas"/>
                <a:sym typeface="Consolas"/>
              </a:rPr>
              <a:t>?&gt;</a:t>
            </a:r>
            <a:br>
              <a:rPr lang="en-US" sz="1400" b="0" i="0" u="none" strike="noStrike" cap="none" dirty="0">
                <a:solidFill>
                  <a:srgbClr val="D4D4D4"/>
                </a:solidFill>
                <a:latin typeface="Consolas"/>
                <a:ea typeface="Consolas"/>
                <a:cs typeface="Consolas"/>
                <a:sym typeface="Consolas"/>
              </a:rPr>
            </a:b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body</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html</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p:txBody>
      </p:sp>
      <p:sp>
        <p:nvSpPr>
          <p:cNvPr id="395" name="Google Shape;395;p36"/>
          <p:cNvSpPr txBox="1"/>
          <p:nvPr/>
        </p:nvSpPr>
        <p:spPr>
          <a:xfrm>
            <a:off x="4090127" y="1148548"/>
            <a:ext cx="4498946" cy="1015663"/>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if</a:t>
            </a:r>
            <a:r>
              <a:rPr lang="en-US" sz="2000" b="0" i="0" u="none" strike="noStrike" cap="none">
                <a:solidFill>
                  <a:srgbClr val="000000"/>
                </a:solidFill>
                <a:latin typeface="Consolas"/>
                <a:ea typeface="Consolas"/>
                <a:cs typeface="Consolas"/>
                <a:sym typeface="Consolas"/>
              </a:rPr>
              <a:t> (condition)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code to be executed if condition is true;</a:t>
            </a:r>
            <a:endParaRPr sz="2000" b="0" i="0" u="none" strike="noStrike" cap="none">
              <a:solidFill>
                <a:srgbClr val="000000"/>
              </a:solidFill>
              <a:latin typeface="Consolas"/>
              <a:ea typeface="Consolas"/>
              <a:cs typeface="Consolas"/>
              <a:sym typeface="Consolas"/>
            </a:endParaRPr>
          </a:p>
        </p:txBody>
      </p:sp>
      <p:pic>
        <p:nvPicPr>
          <p:cNvPr id="396" name="Google Shape;396;p36"/>
          <p:cNvPicPr preferRelativeResize="0"/>
          <p:nvPr/>
        </p:nvPicPr>
        <p:blipFill rotWithShape="1">
          <a:blip r:embed="rId3">
            <a:alphaModFix/>
          </a:blip>
          <a:srcRect/>
          <a:stretch/>
        </p:blipFill>
        <p:spPr>
          <a:xfrm>
            <a:off x="4211552" y="3046787"/>
            <a:ext cx="3105150" cy="1600200"/>
          </a:xfrm>
          <a:prstGeom prst="rect">
            <a:avLst/>
          </a:prstGeom>
          <a:noFill/>
          <a:ln>
            <a:noFill/>
          </a:ln>
        </p:spPr>
      </p:pic>
      <p:sp>
        <p:nvSpPr>
          <p:cNvPr id="397" name="Google Shape;397;p36"/>
          <p:cNvSpPr txBox="1"/>
          <p:nvPr/>
        </p:nvSpPr>
        <p:spPr>
          <a:xfrm>
            <a:off x="4276352" y="2786400"/>
            <a:ext cx="1159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7"/>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IF-ELSE STATEMENT </a:t>
            </a:r>
            <a:endParaRPr b="1"/>
          </a:p>
        </p:txBody>
      </p:sp>
      <p:sp>
        <p:nvSpPr>
          <p:cNvPr id="403" name="Google Shape;403;p37"/>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04" name="Google Shape;404;p37"/>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5" name="Google Shape;405;p37"/>
          <p:cNvSpPr txBox="1"/>
          <p:nvPr/>
        </p:nvSpPr>
        <p:spPr>
          <a:xfrm>
            <a:off x="393000" y="861313"/>
            <a:ext cx="3418946" cy="389337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DOCTYPE</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html</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html</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lang</a:t>
            </a:r>
            <a:r>
              <a:rPr lang="en-US" sz="1300" b="0" i="0" u="none" strike="noStrike" cap="none" dirty="0">
                <a:solidFill>
                  <a:srgbClr val="D4D4D4"/>
                </a:solidFill>
                <a:latin typeface="Consolas"/>
                <a:ea typeface="Consolas"/>
                <a:cs typeface="Consolas"/>
                <a:sym typeface="Consolas"/>
              </a:rPr>
              <a:t>=</a:t>
            </a:r>
            <a:r>
              <a:rPr lang="en-US" sz="1300" b="0" i="0" u="none" strike="noStrike" cap="none" dirty="0">
                <a:solidFill>
                  <a:srgbClr val="CE9178"/>
                </a:solidFill>
                <a:latin typeface="Consolas"/>
                <a:ea typeface="Consolas"/>
                <a:cs typeface="Consolas"/>
                <a:sym typeface="Consolas"/>
              </a:rPr>
              <a:t>"</a:t>
            </a:r>
            <a:r>
              <a:rPr lang="en-US" sz="1300" b="0" i="0" u="none" strike="noStrike" cap="none" dirty="0" err="1">
                <a:solidFill>
                  <a:srgbClr val="CE9178"/>
                </a:solidFill>
                <a:latin typeface="Consolas"/>
                <a:ea typeface="Consolas"/>
                <a:cs typeface="Consolas"/>
                <a:sym typeface="Consolas"/>
              </a:rPr>
              <a:t>en</a:t>
            </a:r>
            <a:r>
              <a:rPr lang="en-US" sz="1300" b="0" i="0" u="none" strike="noStrike" cap="none" dirty="0">
                <a:solidFill>
                  <a:srgbClr val="CE9178"/>
                </a:solidFill>
                <a:latin typeface="Consolas"/>
                <a:ea typeface="Consolas"/>
                <a:cs typeface="Consolas"/>
                <a:sym typeface="Consolas"/>
              </a:rPr>
              <a:t>"</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head</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meta</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charset</a:t>
            </a:r>
            <a:r>
              <a:rPr lang="en-US" sz="1300" b="0" i="0" u="none" strike="noStrike" cap="none" dirty="0">
                <a:solidFill>
                  <a:srgbClr val="D4D4D4"/>
                </a:solidFill>
                <a:latin typeface="Consolas"/>
                <a:ea typeface="Consolas"/>
                <a:cs typeface="Consolas"/>
                <a:sym typeface="Consolas"/>
              </a:rPr>
              <a:t>=</a:t>
            </a:r>
            <a:r>
              <a:rPr lang="en-US" sz="1300" b="0" i="0" u="none" strike="noStrike" cap="none" dirty="0">
                <a:solidFill>
                  <a:srgbClr val="CE9178"/>
                </a:solidFill>
                <a:latin typeface="Consolas"/>
                <a:ea typeface="Consolas"/>
                <a:cs typeface="Consolas"/>
                <a:sym typeface="Consolas"/>
              </a:rPr>
              <a:t>"UTF-8"</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meta</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name</a:t>
            </a:r>
            <a:r>
              <a:rPr lang="en-US" sz="1300" b="0" i="0" u="none" strike="noStrike" cap="none" dirty="0">
                <a:solidFill>
                  <a:srgbClr val="D4D4D4"/>
                </a:solidFill>
                <a:latin typeface="Consolas"/>
                <a:ea typeface="Consolas"/>
                <a:cs typeface="Consolas"/>
                <a:sym typeface="Consolas"/>
              </a:rPr>
              <a:t>=</a:t>
            </a:r>
            <a:r>
              <a:rPr lang="en-US" sz="1300" b="0" i="0" u="none" strike="noStrike" cap="none" dirty="0">
                <a:solidFill>
                  <a:srgbClr val="CE9178"/>
                </a:solidFill>
                <a:latin typeface="Consolas"/>
                <a:ea typeface="Consolas"/>
                <a:cs typeface="Consolas"/>
                <a:sym typeface="Consolas"/>
              </a:rPr>
              <a:t>"viewport"</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content</a:t>
            </a:r>
            <a:r>
              <a:rPr lang="en-US" sz="1300" b="0" i="0" u="none" strike="noStrike" cap="none" dirty="0">
                <a:solidFill>
                  <a:srgbClr val="D4D4D4"/>
                </a:solidFill>
                <a:latin typeface="Consolas"/>
                <a:ea typeface="Consolas"/>
                <a:cs typeface="Consolas"/>
                <a:sym typeface="Consolas"/>
              </a:rPr>
              <a:t>=</a:t>
            </a:r>
            <a:r>
              <a:rPr lang="en-US" sz="1300" b="0" i="0" u="none" strike="noStrike" cap="none" dirty="0">
                <a:solidFill>
                  <a:srgbClr val="CE9178"/>
                </a:solidFill>
                <a:latin typeface="Consolas"/>
                <a:ea typeface="Consolas"/>
                <a:cs typeface="Consolas"/>
                <a:sym typeface="Consolas"/>
              </a:rPr>
              <a:t>"width=device-width, initial-scale=1.0"</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title</a:t>
            </a:r>
            <a:r>
              <a:rPr lang="en-US" sz="1300" b="0" i="0" u="none" strike="noStrike" cap="none" dirty="0">
                <a:solidFill>
                  <a:srgbClr val="808080"/>
                </a:solidFill>
                <a:latin typeface="Consolas"/>
                <a:ea typeface="Consolas"/>
                <a:cs typeface="Consolas"/>
                <a:sym typeface="Consolas"/>
              </a:rPr>
              <a:t>&gt;</a:t>
            </a:r>
            <a:r>
              <a:rPr lang="en-US" sz="1300" b="0" i="0" u="none" strike="noStrike" cap="none" dirty="0">
                <a:solidFill>
                  <a:srgbClr val="D4D4D4"/>
                </a:solidFill>
                <a:latin typeface="Consolas"/>
                <a:ea typeface="Consolas"/>
                <a:cs typeface="Consolas"/>
                <a:sym typeface="Consolas"/>
              </a:rPr>
              <a:t>Web and System</a:t>
            </a: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title</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head</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body</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569CD6"/>
                </a:solidFill>
                <a:latin typeface="Consolas"/>
                <a:ea typeface="Consolas"/>
                <a:cs typeface="Consolas"/>
                <a:sym typeface="Consolas"/>
              </a:rPr>
              <a:t>&lt;?php</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$grade</a:t>
            </a:r>
            <a:r>
              <a:rPr lang="en-US" sz="1300" b="0" i="0" u="none" strike="noStrike" cap="none" dirty="0">
                <a:solidFill>
                  <a:srgbClr val="D4D4D4"/>
                </a:solidFill>
                <a:latin typeface="Consolas"/>
                <a:ea typeface="Consolas"/>
                <a:cs typeface="Consolas"/>
                <a:sym typeface="Consolas"/>
              </a:rPr>
              <a:t>=</a:t>
            </a:r>
            <a:r>
              <a:rPr lang="en-US" sz="1300" b="0" i="0" u="none" strike="noStrike" cap="none" dirty="0">
                <a:solidFill>
                  <a:srgbClr val="B5CEA8"/>
                </a:solidFill>
                <a:latin typeface="Consolas"/>
                <a:ea typeface="Consolas"/>
                <a:cs typeface="Consolas"/>
                <a:sym typeface="Consolas"/>
              </a:rPr>
              <a:t>74</a:t>
            </a:r>
            <a:r>
              <a:rPr lang="en-US" sz="13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C586C0"/>
                </a:solidFill>
                <a:latin typeface="Consolas"/>
                <a:ea typeface="Consolas"/>
                <a:cs typeface="Consolas"/>
                <a:sym typeface="Consolas"/>
              </a:rPr>
              <a:t>if</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9CDCFE"/>
                </a:solidFill>
                <a:latin typeface="Consolas"/>
                <a:ea typeface="Consolas"/>
                <a:cs typeface="Consolas"/>
                <a:sym typeface="Consolas"/>
              </a:rPr>
              <a:t>$grade</a:t>
            </a:r>
            <a:r>
              <a:rPr lang="en-US" sz="1300" b="0" i="0" u="none" strike="noStrike" cap="none" dirty="0">
                <a:solidFill>
                  <a:srgbClr val="D4D4D4"/>
                </a:solidFill>
                <a:latin typeface="Consolas"/>
                <a:ea typeface="Consolas"/>
                <a:cs typeface="Consolas"/>
                <a:sym typeface="Consolas"/>
              </a:rPr>
              <a:t>&gt;=</a:t>
            </a:r>
            <a:r>
              <a:rPr lang="en-US" sz="1300" b="0" i="0" u="none" strike="noStrike" cap="none" dirty="0">
                <a:solidFill>
                  <a:srgbClr val="B5CEA8"/>
                </a:solidFill>
                <a:latin typeface="Consolas"/>
                <a:ea typeface="Consolas"/>
                <a:cs typeface="Consolas"/>
                <a:sym typeface="Consolas"/>
              </a:rPr>
              <a:t>75</a:t>
            </a:r>
            <a:r>
              <a:rPr lang="en-US" sz="13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DCDCAA"/>
                </a:solidFill>
                <a:latin typeface="Consolas"/>
                <a:ea typeface="Consolas"/>
                <a:cs typeface="Consolas"/>
                <a:sym typeface="Consolas"/>
              </a:rPr>
              <a:t>echo</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CE9178"/>
                </a:solidFill>
                <a:latin typeface="Consolas"/>
                <a:ea typeface="Consolas"/>
                <a:cs typeface="Consolas"/>
                <a:sym typeface="Consolas"/>
              </a:rPr>
              <a:t>"Passed!"</a:t>
            </a:r>
            <a:r>
              <a:rPr lang="en-US" sz="13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C586C0"/>
                </a:solidFill>
                <a:latin typeface="Consolas"/>
                <a:ea typeface="Consolas"/>
                <a:cs typeface="Consolas"/>
                <a:sym typeface="Consolas"/>
              </a:rPr>
              <a:t>else</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DCDCAA"/>
                </a:solidFill>
                <a:latin typeface="Consolas"/>
                <a:ea typeface="Consolas"/>
                <a:cs typeface="Consolas"/>
                <a:sym typeface="Consolas"/>
              </a:rPr>
              <a:t>echo</a:t>
            </a: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CE9178"/>
                </a:solidFill>
                <a:latin typeface="Consolas"/>
                <a:ea typeface="Consolas"/>
                <a:cs typeface="Consolas"/>
                <a:sym typeface="Consolas"/>
              </a:rPr>
              <a:t>"Failed</a:t>
            </a:r>
            <a:r>
              <a:rPr lang="en-US" sz="13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300" b="0" i="0" u="none" strike="noStrike" cap="none" dirty="0">
                <a:solidFill>
                  <a:srgbClr val="D4D4D4"/>
                </a:solidFill>
                <a:latin typeface="Consolas"/>
                <a:ea typeface="Consolas"/>
                <a:cs typeface="Consolas"/>
                <a:sym typeface="Consolas"/>
              </a:rPr>
              <a:t>   </a:t>
            </a:r>
            <a:r>
              <a:rPr lang="en-US" sz="1300" b="0" i="0" u="none" strike="noStrike" cap="none" dirty="0">
                <a:solidFill>
                  <a:srgbClr val="569CD6"/>
                </a:solidFill>
                <a:latin typeface="Consolas"/>
                <a:ea typeface="Consolas"/>
                <a:cs typeface="Consolas"/>
                <a:sym typeface="Consolas"/>
              </a:rPr>
              <a:t>?&gt;</a:t>
            </a:r>
            <a:br>
              <a:rPr lang="en-US" sz="1300" b="0" i="0" u="none" strike="noStrike" cap="none" dirty="0">
                <a:solidFill>
                  <a:srgbClr val="D4D4D4"/>
                </a:solidFill>
                <a:latin typeface="Consolas"/>
                <a:ea typeface="Consolas"/>
                <a:cs typeface="Consolas"/>
                <a:sym typeface="Consolas"/>
              </a:rPr>
            </a:b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body</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300" b="0" i="0" u="none" strike="noStrike" cap="none" dirty="0">
                <a:solidFill>
                  <a:srgbClr val="808080"/>
                </a:solidFill>
                <a:latin typeface="Consolas"/>
                <a:ea typeface="Consolas"/>
                <a:cs typeface="Consolas"/>
                <a:sym typeface="Consolas"/>
              </a:rPr>
              <a:t>&lt;/</a:t>
            </a:r>
            <a:r>
              <a:rPr lang="en-US" sz="1300" b="0" i="0" u="none" strike="noStrike" cap="none" dirty="0">
                <a:solidFill>
                  <a:srgbClr val="569CD6"/>
                </a:solidFill>
                <a:latin typeface="Consolas"/>
                <a:ea typeface="Consolas"/>
                <a:cs typeface="Consolas"/>
                <a:sym typeface="Consolas"/>
              </a:rPr>
              <a:t>html</a:t>
            </a:r>
            <a:r>
              <a:rPr lang="en-US" sz="1300" b="0" i="0" u="none" strike="noStrike" cap="none" dirty="0">
                <a:solidFill>
                  <a:srgbClr val="808080"/>
                </a:solidFill>
                <a:latin typeface="Consolas"/>
                <a:ea typeface="Consolas"/>
                <a:cs typeface="Consolas"/>
                <a:sym typeface="Consolas"/>
              </a:rPr>
              <a:t>&gt;</a:t>
            </a:r>
            <a:endParaRPr sz="1300" b="0" i="0" u="none" strike="noStrike" cap="none" dirty="0">
              <a:solidFill>
                <a:srgbClr val="D4D4D4"/>
              </a:solidFill>
              <a:latin typeface="Consolas"/>
              <a:ea typeface="Consolas"/>
              <a:cs typeface="Consolas"/>
              <a:sym typeface="Consolas"/>
            </a:endParaRPr>
          </a:p>
        </p:txBody>
      </p:sp>
      <p:sp>
        <p:nvSpPr>
          <p:cNvPr id="406" name="Google Shape;406;p37"/>
          <p:cNvSpPr txBox="1"/>
          <p:nvPr/>
        </p:nvSpPr>
        <p:spPr>
          <a:xfrm>
            <a:off x="3851092" y="1163362"/>
            <a:ext cx="4902594" cy="1231106"/>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if</a:t>
            </a:r>
            <a:r>
              <a:rPr lang="en-US" sz="2000" b="0" i="0" u="none" strike="noStrike" cap="none">
                <a:solidFill>
                  <a:srgbClr val="000000"/>
                </a:solidFill>
                <a:latin typeface="Consolas"/>
                <a:ea typeface="Consolas"/>
                <a:cs typeface="Consolas"/>
                <a:sym typeface="Consolas"/>
              </a:rPr>
              <a:t> (condition) </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600" b="0" i="0" u="none" strike="noStrike" cap="none">
                <a:solidFill>
                  <a:srgbClr val="000000"/>
                </a:solidFill>
                <a:latin typeface="Consolas"/>
                <a:ea typeface="Consolas"/>
                <a:cs typeface="Consolas"/>
                <a:sym typeface="Consolas"/>
              </a:rPr>
              <a:t>code to be executed if condition is true; </a:t>
            </a:r>
            <a:endParaRPr/>
          </a:p>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else</a:t>
            </a: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code to be executed if condition is false;</a:t>
            </a:r>
            <a:endParaRPr sz="1200" b="0" i="0" u="none" strike="noStrike" cap="none">
              <a:solidFill>
                <a:srgbClr val="000000"/>
              </a:solidFill>
              <a:latin typeface="Consolas"/>
              <a:ea typeface="Consolas"/>
              <a:cs typeface="Consolas"/>
              <a:sym typeface="Consolas"/>
            </a:endParaRPr>
          </a:p>
        </p:txBody>
      </p:sp>
      <p:sp>
        <p:nvSpPr>
          <p:cNvPr id="407" name="Google Shape;407;p37"/>
          <p:cNvSpPr txBox="1"/>
          <p:nvPr/>
        </p:nvSpPr>
        <p:spPr>
          <a:xfrm>
            <a:off x="4003727" y="3003880"/>
            <a:ext cx="1159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pic>
        <p:nvPicPr>
          <p:cNvPr id="408" name="Google Shape;408;p37"/>
          <p:cNvPicPr preferRelativeResize="0"/>
          <p:nvPr/>
        </p:nvPicPr>
        <p:blipFill rotWithShape="1">
          <a:blip r:embed="rId3">
            <a:alphaModFix/>
          </a:blip>
          <a:srcRect/>
          <a:stretch/>
        </p:blipFill>
        <p:spPr>
          <a:xfrm>
            <a:off x="3998556" y="3356250"/>
            <a:ext cx="2667000" cy="1247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8"/>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ELSE-IF STATEMENT </a:t>
            </a:r>
            <a:endParaRPr b="1"/>
          </a:p>
        </p:txBody>
      </p:sp>
      <p:sp>
        <p:nvSpPr>
          <p:cNvPr id="414" name="Google Shape;414;p3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15" name="Google Shape;415;p3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6" name="Google Shape;416;p38"/>
          <p:cNvSpPr txBox="1"/>
          <p:nvPr/>
        </p:nvSpPr>
        <p:spPr>
          <a:xfrm>
            <a:off x="467552" y="864464"/>
            <a:ext cx="3418946" cy="375487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DOCTYPE</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html</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html</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lang</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CE9178"/>
                </a:solidFill>
                <a:latin typeface="Consolas"/>
                <a:ea typeface="Consolas"/>
                <a:cs typeface="Consolas"/>
                <a:sym typeface="Consolas"/>
              </a:rPr>
              <a:t>"</a:t>
            </a:r>
            <a:r>
              <a:rPr lang="en-US" sz="1400" b="0" i="0" u="none" strike="noStrike" cap="none" dirty="0" err="1">
                <a:solidFill>
                  <a:srgbClr val="CE9178"/>
                </a:solidFill>
                <a:latin typeface="Consolas"/>
                <a:ea typeface="Consolas"/>
                <a:cs typeface="Consolas"/>
                <a:sym typeface="Consolas"/>
              </a:rPr>
              <a:t>en</a:t>
            </a:r>
            <a:r>
              <a:rPr lang="en-US" sz="1400" b="0" i="0" u="none" strike="noStrike" cap="none" dirty="0">
                <a:solidFill>
                  <a:srgbClr val="CE9178"/>
                </a:solidFill>
                <a:latin typeface="Consolas"/>
                <a:ea typeface="Consolas"/>
                <a:cs typeface="Consolas"/>
                <a:sym typeface="Consolas"/>
              </a:rPr>
              <a:t>"</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head</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title</a:t>
            </a:r>
            <a:r>
              <a:rPr lang="en-US" sz="1400" b="0" i="0" u="none" strike="noStrike" cap="none" dirty="0">
                <a:solidFill>
                  <a:srgbClr val="808080"/>
                </a:solidFill>
                <a:latin typeface="Consolas"/>
                <a:ea typeface="Consolas"/>
                <a:cs typeface="Consolas"/>
                <a:sym typeface="Consolas"/>
              </a:rPr>
              <a:t>&gt;</a:t>
            </a:r>
            <a:r>
              <a:rPr lang="en-US" sz="1400" b="0" i="0" u="none" strike="noStrike" cap="none" dirty="0">
                <a:solidFill>
                  <a:srgbClr val="D4D4D4"/>
                </a:solidFill>
                <a:latin typeface="Consolas"/>
                <a:ea typeface="Consolas"/>
                <a:cs typeface="Consolas"/>
                <a:sym typeface="Consolas"/>
              </a:rPr>
              <a:t>Web and System</a:t>
            </a: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title</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head</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body</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569CD6"/>
                </a:solidFill>
                <a:latin typeface="Consolas"/>
                <a:ea typeface="Consolas"/>
                <a:cs typeface="Consolas"/>
                <a:sym typeface="Consolas"/>
              </a:rPr>
              <a:t>&lt;?php</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$grade</a:t>
            </a:r>
            <a:r>
              <a:rPr lang="en-US" sz="1400" b="0" i="0" u="none" strike="noStrike" cap="none" dirty="0">
                <a:solidFill>
                  <a:srgbClr val="D4D4D4"/>
                </a:solidFill>
                <a:latin typeface="Consolas"/>
                <a:ea typeface="Consolas"/>
                <a:cs typeface="Consolas"/>
                <a:sym typeface="Consolas"/>
              </a:rPr>
              <a:t>=</a:t>
            </a:r>
            <a:r>
              <a:rPr lang="en-US" sz="1400" b="0" i="0" u="none" strike="noStrike" cap="none" dirty="0">
                <a:solidFill>
                  <a:srgbClr val="B5CEA8"/>
                </a:solidFill>
                <a:latin typeface="Consolas"/>
                <a:ea typeface="Consolas"/>
                <a:cs typeface="Consolas"/>
                <a:sym typeface="Consolas"/>
              </a:rPr>
              <a:t>100</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if</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$grade</a:t>
            </a:r>
            <a:r>
              <a:rPr lang="en-US" sz="1400" b="0" i="0" u="none" strike="noStrike" cap="none" dirty="0">
                <a:solidFill>
                  <a:srgbClr val="D4D4D4"/>
                </a:solidFill>
                <a:latin typeface="Consolas"/>
                <a:ea typeface="Consolas"/>
                <a:cs typeface="Consolas"/>
                <a:sym typeface="Consolas"/>
              </a:rPr>
              <a:t>&gt;=</a:t>
            </a:r>
            <a:r>
              <a:rPr lang="en-US" sz="1400" b="0" i="0" u="none" strike="noStrike" cap="none" dirty="0">
                <a:solidFill>
                  <a:srgbClr val="B5CEA8"/>
                </a:solidFill>
                <a:latin typeface="Consolas"/>
                <a:ea typeface="Consolas"/>
                <a:cs typeface="Consolas"/>
                <a:sym typeface="Consolas"/>
              </a:rPr>
              <a:t>90</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"Excellent!"</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elseif</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$grade</a:t>
            </a:r>
            <a:r>
              <a:rPr lang="en-US" sz="1400" b="0" i="0" u="none" strike="noStrike" cap="none" dirty="0">
                <a:solidFill>
                  <a:srgbClr val="D4D4D4"/>
                </a:solidFill>
                <a:latin typeface="Consolas"/>
                <a:ea typeface="Consolas"/>
                <a:cs typeface="Consolas"/>
                <a:sym typeface="Consolas"/>
              </a:rPr>
              <a:t>&gt;=</a:t>
            </a:r>
            <a:r>
              <a:rPr lang="en-US" sz="1400" b="0" i="0" u="none" strike="noStrike" cap="none" dirty="0">
                <a:solidFill>
                  <a:srgbClr val="B5CEA8"/>
                </a:solidFill>
                <a:latin typeface="Consolas"/>
                <a:ea typeface="Consolas"/>
                <a:cs typeface="Consolas"/>
                <a:sym typeface="Consolas"/>
              </a:rPr>
              <a:t>75</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"Not bad!"</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else</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"Failed!"</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569CD6"/>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body</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dirty="0">
                <a:solidFill>
                  <a:srgbClr val="808080"/>
                </a:solidFill>
                <a:latin typeface="Consolas"/>
                <a:ea typeface="Consolas"/>
                <a:cs typeface="Consolas"/>
                <a:sym typeface="Consolas"/>
              </a:rPr>
              <a:t>&lt;/</a:t>
            </a:r>
            <a:r>
              <a:rPr lang="en-US" sz="1400" b="0" i="0" u="none" strike="noStrike" cap="none" dirty="0">
                <a:solidFill>
                  <a:srgbClr val="569CD6"/>
                </a:solidFill>
                <a:latin typeface="Consolas"/>
                <a:ea typeface="Consolas"/>
                <a:cs typeface="Consolas"/>
                <a:sym typeface="Consolas"/>
              </a:rPr>
              <a:t>html</a:t>
            </a:r>
            <a:r>
              <a:rPr lang="en-US" sz="1400" b="0" i="0" u="none" strike="noStrike" cap="none" dirty="0">
                <a:solidFill>
                  <a:srgbClr val="808080"/>
                </a:solidFill>
                <a:latin typeface="Consolas"/>
                <a:ea typeface="Consolas"/>
                <a:cs typeface="Consolas"/>
                <a:sym typeface="Consolas"/>
              </a:rPr>
              <a:t>&gt;</a:t>
            </a:r>
            <a:endParaRPr sz="1400" b="0" i="0" u="none" strike="noStrike" cap="none" dirty="0">
              <a:solidFill>
                <a:srgbClr val="D4D4D4"/>
              </a:solidFill>
              <a:latin typeface="Consolas"/>
              <a:ea typeface="Consolas"/>
              <a:cs typeface="Consolas"/>
              <a:sym typeface="Consolas"/>
            </a:endParaRPr>
          </a:p>
        </p:txBody>
      </p:sp>
      <p:sp>
        <p:nvSpPr>
          <p:cNvPr id="417" name="Google Shape;417;p38"/>
          <p:cNvSpPr txBox="1"/>
          <p:nvPr/>
        </p:nvSpPr>
        <p:spPr>
          <a:xfrm>
            <a:off x="3962098" y="864464"/>
            <a:ext cx="4775102" cy="1846659"/>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if</a:t>
            </a:r>
            <a:r>
              <a:rPr lang="en-US" sz="2000" b="0" i="1" u="none" strike="noStrike" cap="none">
                <a:solidFill>
                  <a:srgbClr val="000000"/>
                </a:solidFill>
                <a:latin typeface="Consolas"/>
                <a:ea typeface="Consolas"/>
                <a:cs typeface="Consolas"/>
                <a:sym typeface="Consolas"/>
              </a:rPr>
              <a:t> (condition)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code to be executed if condition is true;</a:t>
            </a:r>
            <a:r>
              <a:rPr lang="en-US" sz="2000" b="0"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else</a:t>
            </a:r>
            <a:r>
              <a:rPr lang="en-US" sz="2000" b="0" i="1" u="none" strike="noStrike" cap="none">
                <a:solidFill>
                  <a:srgbClr val="000000"/>
                </a:solidFill>
                <a:latin typeface="Consolas"/>
                <a:ea typeface="Consolas"/>
                <a:cs typeface="Consolas"/>
                <a:sym typeface="Consolas"/>
              </a:rPr>
              <a:t> </a:t>
            </a:r>
            <a:r>
              <a:rPr lang="en-US" sz="2000" b="1" i="1" u="none" strike="noStrike" cap="none">
                <a:solidFill>
                  <a:srgbClr val="000000"/>
                </a:solidFill>
                <a:latin typeface="Consolas"/>
                <a:ea typeface="Consolas"/>
                <a:cs typeface="Consolas"/>
                <a:sym typeface="Consolas"/>
              </a:rPr>
              <a:t>if</a:t>
            </a:r>
            <a:r>
              <a:rPr lang="en-US" sz="2000" b="0" i="1" u="none" strike="noStrike" cap="none">
                <a:solidFill>
                  <a:srgbClr val="000000"/>
                </a:solidFill>
                <a:latin typeface="Consolas"/>
                <a:ea typeface="Consolas"/>
                <a:cs typeface="Consolas"/>
                <a:sym typeface="Consolas"/>
              </a:rPr>
              <a:t>(condition)</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Consolas"/>
                <a:ea typeface="Consolas"/>
                <a:cs typeface="Consolas"/>
                <a:sym typeface="Consolas"/>
              </a:rPr>
              <a:t>   </a:t>
            </a:r>
            <a:r>
              <a:rPr lang="en-US" sz="1400" b="0" i="0" u="none" strike="noStrike" cap="none">
                <a:solidFill>
                  <a:srgbClr val="000000"/>
                </a:solidFill>
                <a:latin typeface="Consolas"/>
                <a:ea typeface="Consolas"/>
                <a:cs typeface="Consolas"/>
                <a:sym typeface="Consolas"/>
              </a:rPr>
              <a:t>code to be executed if condition is true;</a:t>
            </a:r>
            <a:endParaRPr/>
          </a:p>
          <a:p>
            <a:pPr marL="0" marR="0" lvl="0" indent="0" algn="l" rtl="0">
              <a:lnSpc>
                <a:spcPct val="100000"/>
              </a:lnSpc>
              <a:spcBef>
                <a:spcPts val="0"/>
              </a:spcBef>
              <a:spcAft>
                <a:spcPts val="0"/>
              </a:spcAft>
              <a:buNone/>
            </a:pPr>
            <a:r>
              <a:rPr lang="en-US" sz="2000" b="1" i="1" u="none" strike="noStrike" cap="none">
                <a:solidFill>
                  <a:srgbClr val="000000"/>
                </a:solidFill>
                <a:latin typeface="Consolas"/>
                <a:ea typeface="Consolas"/>
                <a:cs typeface="Consolas"/>
                <a:sym typeface="Consolas"/>
              </a:rPr>
              <a:t>else</a:t>
            </a:r>
            <a:r>
              <a:rPr lang="en-US" sz="2000" b="0" i="1"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    code to be executed if condition is false;</a:t>
            </a:r>
            <a:endParaRPr sz="1200" b="0" i="0" u="none" strike="noStrike" cap="none">
              <a:solidFill>
                <a:srgbClr val="000000"/>
              </a:solidFill>
              <a:latin typeface="Consolas"/>
              <a:ea typeface="Consolas"/>
              <a:cs typeface="Consolas"/>
              <a:sym typeface="Consolas"/>
            </a:endParaRPr>
          </a:p>
        </p:txBody>
      </p:sp>
      <p:sp>
        <p:nvSpPr>
          <p:cNvPr id="418" name="Google Shape;418;p38"/>
          <p:cNvSpPr txBox="1"/>
          <p:nvPr/>
        </p:nvSpPr>
        <p:spPr>
          <a:xfrm>
            <a:off x="4174124" y="3087540"/>
            <a:ext cx="1159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pic>
        <p:nvPicPr>
          <p:cNvPr id="419" name="Google Shape;419;p38"/>
          <p:cNvPicPr preferRelativeResize="0"/>
          <p:nvPr/>
        </p:nvPicPr>
        <p:blipFill rotWithShape="1">
          <a:blip r:embed="rId3">
            <a:alphaModFix/>
          </a:blip>
          <a:srcRect b="45458"/>
          <a:stretch/>
        </p:blipFill>
        <p:spPr>
          <a:xfrm>
            <a:off x="4104599" y="3439216"/>
            <a:ext cx="2457450" cy="66497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9"/>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The Switch Statement </a:t>
            </a:r>
            <a:endParaRPr b="1"/>
          </a:p>
        </p:txBody>
      </p:sp>
      <p:sp>
        <p:nvSpPr>
          <p:cNvPr id="425" name="Google Shape;425;p39"/>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26" name="Google Shape;426;p39"/>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27" name="Google Shape;427;p39"/>
          <p:cNvSpPr txBox="1"/>
          <p:nvPr/>
        </p:nvSpPr>
        <p:spPr>
          <a:xfrm>
            <a:off x="331200" y="1517351"/>
            <a:ext cx="3418946" cy="353943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br>
              <a:rPr lang="en-US" sz="1400" b="0" i="0" u="none" strike="noStrike" cap="none" dirty="0">
                <a:solidFill>
                  <a:srgbClr val="D4D4D4"/>
                </a:solidFill>
                <a:latin typeface="Consolas"/>
                <a:ea typeface="Consolas"/>
                <a:cs typeface="Consolas"/>
                <a:sym typeface="Consolas"/>
              </a:rPr>
            </a:br>
            <a:r>
              <a:rPr lang="en-US" sz="1400" b="0" i="0" u="none" strike="noStrike" cap="none" dirty="0">
                <a:solidFill>
                  <a:srgbClr val="D4D4D4"/>
                </a:solidFill>
                <a:latin typeface="Consolas"/>
                <a:ea typeface="Consolas"/>
                <a:cs typeface="Consolas"/>
                <a:sym typeface="Consolas"/>
              </a:rPr>
              <a:t>switch (expression)</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case label1:</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code to be executed if expression = label1;</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break;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case label2:</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code to be executed if expression = label2;</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break;</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default: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code to be executed</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if expression is different from both label1 and label2;</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a:t>
            </a:r>
            <a:endParaRPr dirty="0"/>
          </a:p>
        </p:txBody>
      </p:sp>
      <p:sp>
        <p:nvSpPr>
          <p:cNvPr id="428" name="Google Shape;428;p39"/>
          <p:cNvSpPr txBox="1"/>
          <p:nvPr/>
        </p:nvSpPr>
        <p:spPr>
          <a:xfrm>
            <a:off x="482400" y="746907"/>
            <a:ext cx="8307746" cy="646331"/>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If you want to select one of many blocks of code to be executed, use the switch statement. </a:t>
            </a:r>
            <a:endParaRPr sz="1000" b="0" i="0" u="none" strike="noStrike" cap="none">
              <a:solidFill>
                <a:srgbClr val="000000"/>
              </a:solidFill>
              <a:latin typeface="Consolas"/>
              <a:ea typeface="Consolas"/>
              <a:cs typeface="Consolas"/>
              <a:sym typeface="Consolas"/>
            </a:endParaRPr>
          </a:p>
        </p:txBody>
      </p:sp>
      <p:sp>
        <p:nvSpPr>
          <p:cNvPr id="429" name="Google Shape;429;p39"/>
          <p:cNvSpPr txBox="1"/>
          <p:nvPr/>
        </p:nvSpPr>
        <p:spPr>
          <a:xfrm>
            <a:off x="3786146" y="1764227"/>
            <a:ext cx="5004000" cy="24622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$x</a:t>
            </a:r>
            <a:r>
              <a:rPr lang="en-US" sz="1400" b="0" i="0" u="none" strike="noStrike" cap="none" dirty="0">
                <a:solidFill>
                  <a:srgbClr val="D4D4D4"/>
                </a:solidFill>
                <a:latin typeface="Consolas"/>
                <a:ea typeface="Consolas"/>
                <a:cs typeface="Consolas"/>
                <a:sym typeface="Consolas"/>
              </a:rPr>
              <a:t> = </a:t>
            </a:r>
            <a:r>
              <a:rPr lang="en-US" sz="1400" b="0" i="0" u="none" strike="noStrike" cap="none" dirty="0">
                <a:solidFill>
                  <a:srgbClr val="CE9178"/>
                </a:solidFill>
                <a:latin typeface="Consolas"/>
                <a:ea typeface="Consolas"/>
                <a:cs typeface="Consolas"/>
                <a:sym typeface="Consolas"/>
              </a:rPr>
              <a:t>"4"</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switch</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9CDCFE"/>
                </a:solidFill>
                <a:latin typeface="Consolas"/>
                <a:ea typeface="Consolas"/>
                <a:cs typeface="Consolas"/>
                <a:sym typeface="Consolas"/>
              </a:rPr>
              <a:t>$x</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case</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B5CEA8"/>
                </a:solidFill>
                <a:latin typeface="Consolas"/>
                <a:ea typeface="Consolas"/>
                <a:cs typeface="Consolas"/>
                <a:sym typeface="Consolas"/>
              </a:rPr>
              <a:t>1</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"Number 1"</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break</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case</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B5CEA8"/>
                </a:solidFill>
                <a:latin typeface="Consolas"/>
                <a:ea typeface="Consolas"/>
                <a:cs typeface="Consolas"/>
                <a:sym typeface="Consolas"/>
              </a:rPr>
              <a:t>2</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"Number 2"</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break</a:t>
            </a:r>
            <a:r>
              <a:rPr lang="en-US" sz="1400" b="0" i="0" u="none" strike="noStrike" cap="none" dirty="0">
                <a:solidFill>
                  <a:srgbClr val="D4D4D4"/>
                </a:solidFill>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586C0"/>
                </a:solidFill>
                <a:latin typeface="Consolas"/>
                <a:ea typeface="Consolas"/>
                <a:cs typeface="Consolas"/>
                <a:sym typeface="Consolas"/>
              </a:rPr>
              <a:t>default</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DCDCAA"/>
                </a:solidFill>
                <a:latin typeface="Consolas"/>
                <a:ea typeface="Consolas"/>
                <a:cs typeface="Consolas"/>
                <a:sym typeface="Consolas"/>
              </a:rPr>
              <a:t>echo</a:t>
            </a:r>
            <a:r>
              <a:rPr lang="en-US" sz="1400" b="0" i="0" u="none" strike="noStrike" cap="none" dirty="0">
                <a:solidFill>
                  <a:srgbClr val="D4D4D4"/>
                </a:solidFill>
                <a:latin typeface="Consolas"/>
                <a:ea typeface="Consolas"/>
                <a:cs typeface="Consolas"/>
                <a:sym typeface="Consolas"/>
              </a:rPr>
              <a:t> </a:t>
            </a:r>
            <a:r>
              <a:rPr lang="en-US" sz="1400" b="0" i="0" u="none" strike="noStrike" cap="none" dirty="0">
                <a:solidFill>
                  <a:srgbClr val="CE9178"/>
                </a:solidFill>
                <a:latin typeface="Consolas"/>
                <a:ea typeface="Consolas"/>
                <a:cs typeface="Consolas"/>
                <a:sym typeface="Consolas"/>
              </a:rPr>
              <a:t>"No number between 1 and 2"</a:t>
            </a:r>
            <a:r>
              <a:rPr lang="en-US" sz="1400" b="0" i="0" u="none" strike="noStrike" cap="none" dirty="0">
                <a:solidFill>
                  <a:srgbClr val="D4D4D4"/>
                </a:solidFill>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rgbClr val="D4D4D4"/>
                </a:solidFill>
                <a:latin typeface="Consolas"/>
                <a:ea typeface="Consolas"/>
                <a:cs typeface="Consolas"/>
                <a:sym typeface="Consolas"/>
              </a:rPr>
              <a:t>      }</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1"/>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54" name="Google Shape;354;p31"/>
          <p:cNvSpPr txBox="1">
            <a:spLocks noGrp="1"/>
          </p:cNvSpPr>
          <p:nvPr>
            <p:ph type="title"/>
          </p:nvPr>
        </p:nvSpPr>
        <p:spPr>
          <a:xfrm>
            <a:off x="1576800" y="2251650"/>
            <a:ext cx="66600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Exercise 1 (operators)</a:t>
            </a:r>
            <a:endParaRPr/>
          </a:p>
        </p:txBody>
      </p:sp>
    </p:spTree>
    <p:extLst>
      <p:ext uri="{BB962C8B-B14F-4D97-AF65-F5344CB8AC3E}">
        <p14:creationId xmlns:p14="http://schemas.microsoft.com/office/powerpoint/2010/main" val="1276871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2"/>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Exercise</a:t>
            </a:r>
            <a:endParaRPr b="1"/>
          </a:p>
        </p:txBody>
      </p:sp>
      <p:sp>
        <p:nvSpPr>
          <p:cNvPr id="360" name="Google Shape;360;p3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61" name="Google Shape;361;p3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2" name="Google Shape;362;p32"/>
          <p:cNvSpPr txBox="1"/>
          <p:nvPr/>
        </p:nvSpPr>
        <p:spPr>
          <a:xfrm>
            <a:off x="457200" y="939740"/>
            <a:ext cx="8229600" cy="36933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Write a PHP script that introduces a person named Kazuto, who is currently 22 years old. The script should also display the following:</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Kazuto's birth year.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Whether Kazuto is an adult.</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How old Kazuto will be next year.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How many years Kazuto has until they turn 30.</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Whether Kazuto is a teenager.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A sentence about Kazuto's hobby (graphic designing) and future goal (becoming a front-end web developer).</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Use appropriate variables for the name, age, hobby, and goal, and include basic conditional statements to determine adult status and teenage status.</a:t>
            </a:r>
            <a:endParaRPr/>
          </a:p>
        </p:txBody>
      </p:sp>
    </p:spTree>
    <p:extLst>
      <p:ext uri="{BB962C8B-B14F-4D97-AF65-F5344CB8AC3E}">
        <p14:creationId xmlns:p14="http://schemas.microsoft.com/office/powerpoint/2010/main" val="3370163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3"/>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Exercise output</a:t>
            </a:r>
            <a:endParaRPr b="1"/>
          </a:p>
        </p:txBody>
      </p:sp>
      <p:sp>
        <p:nvSpPr>
          <p:cNvPr id="368" name="Google Shape;368;p3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369" name="Google Shape;369;p3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0" name="Google Shape;370;p33"/>
          <p:cNvPicPr preferRelativeResize="0"/>
          <p:nvPr/>
        </p:nvPicPr>
        <p:blipFill rotWithShape="1">
          <a:blip r:embed="rId3">
            <a:alphaModFix/>
          </a:blip>
          <a:srcRect/>
          <a:stretch/>
        </p:blipFill>
        <p:spPr>
          <a:xfrm>
            <a:off x="737536" y="846481"/>
            <a:ext cx="7431328" cy="2019907"/>
          </a:xfrm>
          <a:prstGeom prst="rect">
            <a:avLst/>
          </a:prstGeom>
          <a:noFill/>
          <a:ln>
            <a:noFill/>
          </a:ln>
        </p:spPr>
      </p:pic>
      <p:sp>
        <p:nvSpPr>
          <p:cNvPr id="371" name="Google Shape;371;p33"/>
          <p:cNvSpPr txBox="1"/>
          <p:nvPr/>
        </p:nvSpPr>
        <p:spPr>
          <a:xfrm>
            <a:off x="640863" y="3040938"/>
            <a:ext cx="7884928"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Hi, I am Kazuto. I am currently 13 years old.</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My birth year is 2011.</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I am not yet an adult.</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Next year, I will be 14 years old.</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I have 17 years until I turn 30.</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I am a teenager.</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Times New Roman"/>
                <a:ea typeface="Times New Roman"/>
                <a:cs typeface="Times New Roman"/>
                <a:sym typeface="Times New Roman"/>
              </a:rPr>
              <a:t>I love graphic designing and want to become a front-end web developer in the future.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25054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0"/>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5" name="Google Shape;435;p40"/>
          <p:cNvSpPr txBox="1">
            <a:spLocks noGrp="1"/>
          </p:cNvSpPr>
          <p:nvPr>
            <p:ph type="title"/>
          </p:nvPr>
        </p:nvSpPr>
        <p:spPr>
          <a:xfrm>
            <a:off x="3376800" y="2093250"/>
            <a:ext cx="2361600"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Loops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1"/>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Looping</a:t>
            </a:r>
            <a:endParaRPr b="1"/>
          </a:p>
        </p:txBody>
      </p:sp>
      <p:sp>
        <p:nvSpPr>
          <p:cNvPr id="441" name="Google Shape;441;p41"/>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42" name="Google Shape;442;p41"/>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43" name="Google Shape;443;p41"/>
          <p:cNvSpPr txBox="1"/>
          <p:nvPr/>
        </p:nvSpPr>
        <p:spPr>
          <a:xfrm>
            <a:off x="370800" y="749988"/>
            <a:ext cx="81648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Very often when you write code, you want the same block of code to run a number of times. You can use looping statements in your code to perform this. </a:t>
            </a:r>
            <a:endParaRPr sz="1400" b="0" i="0" u="none" strike="noStrike" cap="none">
              <a:solidFill>
                <a:srgbClr val="000000"/>
              </a:solidFill>
              <a:latin typeface="Arial"/>
              <a:ea typeface="Arial"/>
              <a:cs typeface="Arial"/>
              <a:sym typeface="Arial"/>
            </a:endParaRPr>
          </a:p>
        </p:txBody>
      </p:sp>
      <p:sp>
        <p:nvSpPr>
          <p:cNvPr id="444" name="Google Shape;444;p41"/>
          <p:cNvSpPr txBox="1"/>
          <p:nvPr/>
        </p:nvSpPr>
        <p:spPr>
          <a:xfrm>
            <a:off x="475200" y="1296983"/>
            <a:ext cx="8164800" cy="1492716"/>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1" i="0" u="none" strike="noStrike" cap="none">
                <a:solidFill>
                  <a:srgbClr val="000000"/>
                </a:solidFill>
                <a:latin typeface="Arial"/>
                <a:ea typeface="Arial"/>
                <a:cs typeface="Arial"/>
                <a:sym typeface="Arial"/>
              </a:rPr>
              <a:t>In PHP we have the following looping statements:</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 </a:t>
            </a:r>
            <a:r>
              <a:rPr lang="en-US" sz="1400" b="1" i="0" u="none" strike="noStrike" cap="none">
                <a:solidFill>
                  <a:srgbClr val="000000"/>
                </a:solidFill>
                <a:latin typeface="Arial"/>
                <a:ea typeface="Arial"/>
                <a:cs typeface="Arial"/>
                <a:sym typeface="Arial"/>
              </a:rPr>
              <a:t>while</a:t>
            </a:r>
            <a:r>
              <a:rPr lang="en-US" sz="1400" b="0" i="0" u="none" strike="noStrike" cap="none">
                <a:solidFill>
                  <a:srgbClr val="000000"/>
                </a:solidFill>
                <a:latin typeface="Arial"/>
                <a:ea typeface="Arial"/>
                <a:cs typeface="Arial"/>
                <a:sym typeface="Arial"/>
              </a:rPr>
              <a:t> - loops through a block of code as long as a specified condition is true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do...while </a:t>
            </a:r>
            <a:r>
              <a:rPr lang="en-US" sz="1400" b="0" i="0" u="none" strike="noStrike" cap="none">
                <a:solidFill>
                  <a:srgbClr val="000000"/>
                </a:solidFill>
                <a:latin typeface="Arial"/>
                <a:ea typeface="Arial"/>
                <a:cs typeface="Arial"/>
                <a:sym typeface="Arial"/>
              </a:rPr>
              <a:t>- loops through a block of code once, and then repeats the loop as long as a special condition is true</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 for</a:t>
            </a:r>
            <a:r>
              <a:rPr lang="en-US" sz="1400" b="0" i="0" u="none" strike="noStrike" cap="none">
                <a:solidFill>
                  <a:srgbClr val="000000"/>
                </a:solidFill>
                <a:latin typeface="Arial"/>
                <a:ea typeface="Arial"/>
                <a:cs typeface="Arial"/>
                <a:sym typeface="Arial"/>
              </a:rPr>
              <a:t> - loops through a block of code a specified number of times</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 </a:t>
            </a:r>
            <a:r>
              <a:rPr lang="en-US" sz="1400" b="1" i="0" u="none" strike="noStrike" cap="none">
                <a:solidFill>
                  <a:srgbClr val="000000"/>
                </a:solidFill>
                <a:latin typeface="Arial"/>
                <a:ea typeface="Arial"/>
                <a:cs typeface="Arial"/>
                <a:sym typeface="Arial"/>
              </a:rPr>
              <a:t>foreach</a:t>
            </a:r>
            <a:r>
              <a:rPr lang="en-US" sz="1400" b="0" i="0" u="none" strike="noStrike" cap="none">
                <a:solidFill>
                  <a:srgbClr val="000000"/>
                </a:solidFill>
                <a:latin typeface="Arial"/>
                <a:ea typeface="Arial"/>
                <a:cs typeface="Arial"/>
                <a:sym typeface="Arial"/>
              </a:rPr>
              <a:t> - loops through a block of code for each element in an array </a:t>
            </a:r>
            <a:endParaRPr sz="1400" b="0" i="0" u="none" strike="noStrike" cap="none">
              <a:solidFill>
                <a:srgbClr val="000000"/>
              </a:solidFill>
              <a:latin typeface="Arial"/>
              <a:ea typeface="Arial"/>
              <a:cs typeface="Arial"/>
              <a:sym typeface="Arial"/>
            </a:endParaRPr>
          </a:p>
        </p:txBody>
      </p:sp>
      <p:sp>
        <p:nvSpPr>
          <p:cNvPr id="445" name="Google Shape;445;p41"/>
          <p:cNvSpPr txBox="1"/>
          <p:nvPr/>
        </p:nvSpPr>
        <p:spPr>
          <a:xfrm>
            <a:off x="475200" y="2917445"/>
            <a:ext cx="8164800" cy="1815882"/>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Looping Basic Parameters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init</a:t>
            </a:r>
            <a:r>
              <a:rPr lang="en-US" sz="1400" b="0" i="0" u="none" strike="noStrike" cap="none">
                <a:solidFill>
                  <a:srgbClr val="000000"/>
                </a:solidFill>
                <a:latin typeface="Arial"/>
                <a:ea typeface="Arial"/>
                <a:cs typeface="Arial"/>
                <a:sym typeface="Arial"/>
              </a:rPr>
              <a:t>: Mostly used to set a counter (but can be any code to be executed once at the beginning of the loop)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condition</a:t>
            </a:r>
            <a:r>
              <a:rPr lang="en-US" sz="1400" b="0" i="0" u="none" strike="noStrike" cap="none">
                <a:solidFill>
                  <a:srgbClr val="000000"/>
                </a:solidFill>
                <a:latin typeface="Arial"/>
                <a:ea typeface="Arial"/>
                <a:cs typeface="Arial"/>
                <a:sym typeface="Arial"/>
              </a:rPr>
              <a:t>: Evaluated for each loop iteration. If it evaluates to TRUE, the loop continues. If it evaluates to FALSE, the loop ends.</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increment</a:t>
            </a:r>
            <a:r>
              <a:rPr lang="en-US" sz="1400" b="0" i="0" u="none" strike="noStrike" cap="none">
                <a:solidFill>
                  <a:srgbClr val="000000"/>
                </a:solidFill>
                <a:latin typeface="Arial"/>
                <a:ea typeface="Arial"/>
                <a:cs typeface="Arial"/>
                <a:sym typeface="Arial"/>
              </a:rPr>
              <a:t>: Mostly used to increment a counter (but can be any code to be executed at the end of the loop)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2"/>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while Statement </a:t>
            </a:r>
            <a:endParaRPr b="1"/>
          </a:p>
        </p:txBody>
      </p:sp>
      <p:sp>
        <p:nvSpPr>
          <p:cNvPr id="451" name="Google Shape;451;p4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52" name="Google Shape;452;p4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53" name="Google Shape;453;p42"/>
          <p:cNvSpPr txBox="1"/>
          <p:nvPr/>
        </p:nvSpPr>
        <p:spPr>
          <a:xfrm>
            <a:off x="353854" y="1056216"/>
            <a:ext cx="3418946" cy="181588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//init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while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&lt;=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number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//increment </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454" name="Google Shape;454;p42"/>
          <p:cNvSpPr txBox="1"/>
          <p:nvPr/>
        </p:nvSpPr>
        <p:spPr>
          <a:xfrm>
            <a:off x="6284546" y="802909"/>
            <a:ext cx="2377054" cy="2954655"/>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The while statement will execute a block of code if and as long a condition is true. </a:t>
            </a:r>
            <a:endParaRPr/>
          </a:p>
          <a:p>
            <a:pPr marL="0" marR="0" lvl="0" indent="0" algn="l" rtl="0">
              <a:lnSpc>
                <a:spcPct val="100000"/>
              </a:lnSpc>
              <a:spcBef>
                <a:spcPts val="0"/>
              </a:spcBef>
              <a:spcAft>
                <a:spcPts val="0"/>
              </a:spcAft>
              <a:buNone/>
            </a:pPr>
            <a:endParaRPr sz="2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800" b="1" i="1" u="none" strike="noStrike" cap="none">
                <a:solidFill>
                  <a:srgbClr val="000000"/>
                </a:solidFill>
                <a:latin typeface="Consolas"/>
                <a:ea typeface="Consolas"/>
                <a:cs typeface="Consolas"/>
                <a:sym typeface="Consolas"/>
              </a:rPr>
              <a:t>while (</a:t>
            </a:r>
            <a:r>
              <a:rPr lang="en-US" sz="1800" b="0" i="0" u="none" strike="noStrike" cap="none">
                <a:solidFill>
                  <a:srgbClr val="000000"/>
                </a:solidFill>
                <a:latin typeface="Consolas"/>
                <a:ea typeface="Consolas"/>
                <a:cs typeface="Consolas"/>
                <a:sym typeface="Consolas"/>
              </a:rPr>
              <a:t>condition</a:t>
            </a:r>
            <a:r>
              <a:rPr lang="en-US" sz="1800" b="1" i="1" u="none" strike="noStrike" cap="none">
                <a:solidFill>
                  <a:srgbClr val="000000"/>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800" b="1" i="1" u="none" strike="noStrike" cap="none">
                <a:solidFill>
                  <a:srgbClr val="000000"/>
                </a:solidFill>
                <a:latin typeface="Consolas"/>
                <a:ea typeface="Consolas"/>
                <a:cs typeface="Consolas"/>
                <a:sym typeface="Consolas"/>
              </a:rPr>
              <a:t> </a:t>
            </a:r>
            <a:r>
              <a:rPr lang="en-US" sz="1800" b="0" i="0" u="none" strike="noStrike" cap="none">
                <a:solidFill>
                  <a:srgbClr val="000000"/>
                </a:solidFill>
                <a:latin typeface="Consolas"/>
                <a:ea typeface="Consolas"/>
                <a:cs typeface="Consolas"/>
                <a:sym typeface="Consolas"/>
              </a:rPr>
              <a:t>code to be executed;</a:t>
            </a:r>
            <a:endParaRPr/>
          </a:p>
        </p:txBody>
      </p:sp>
      <p:sp>
        <p:nvSpPr>
          <p:cNvPr id="455" name="Google Shape;455;p42"/>
          <p:cNvSpPr txBox="1"/>
          <p:nvPr/>
        </p:nvSpPr>
        <p:spPr>
          <a:xfrm>
            <a:off x="3772800" y="648029"/>
            <a:ext cx="1159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sp>
        <p:nvSpPr>
          <p:cNvPr id="456" name="Google Shape;456;p42"/>
          <p:cNvSpPr txBox="1"/>
          <p:nvPr/>
        </p:nvSpPr>
        <p:spPr>
          <a:xfrm>
            <a:off x="353854" y="3064626"/>
            <a:ext cx="3418946" cy="181588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//init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while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print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number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//decrement </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pic>
        <p:nvPicPr>
          <p:cNvPr id="457" name="Google Shape;457;p42"/>
          <p:cNvPicPr preferRelativeResize="0"/>
          <p:nvPr/>
        </p:nvPicPr>
        <p:blipFill rotWithShape="1">
          <a:blip r:embed="rId3">
            <a:alphaModFix/>
          </a:blip>
          <a:srcRect/>
          <a:stretch/>
        </p:blipFill>
        <p:spPr>
          <a:xfrm>
            <a:off x="3795454" y="3064626"/>
            <a:ext cx="1688625" cy="1730541"/>
          </a:xfrm>
          <a:prstGeom prst="rect">
            <a:avLst/>
          </a:prstGeom>
          <a:noFill/>
          <a:ln>
            <a:noFill/>
          </a:ln>
        </p:spPr>
      </p:pic>
      <p:pic>
        <p:nvPicPr>
          <p:cNvPr id="458" name="Google Shape;458;p42"/>
          <p:cNvPicPr preferRelativeResize="0"/>
          <p:nvPr/>
        </p:nvPicPr>
        <p:blipFill rotWithShape="1">
          <a:blip r:embed="rId4">
            <a:alphaModFix/>
          </a:blip>
          <a:srcRect/>
          <a:stretch/>
        </p:blipFill>
        <p:spPr>
          <a:xfrm>
            <a:off x="3795454" y="1045076"/>
            <a:ext cx="1750752" cy="178062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3"/>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The do...while Statement </a:t>
            </a:r>
            <a:endParaRPr b="1"/>
          </a:p>
        </p:txBody>
      </p:sp>
      <p:sp>
        <p:nvSpPr>
          <p:cNvPr id="464" name="Google Shape;464;p4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65" name="Google Shape;465;p4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6" name="Google Shape;466;p43"/>
          <p:cNvSpPr txBox="1"/>
          <p:nvPr/>
        </p:nvSpPr>
        <p:spPr>
          <a:xfrm>
            <a:off x="384156" y="842881"/>
            <a:ext cx="3986244" cy="160043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6A9955"/>
                </a:solidFill>
                <a:latin typeface="Consolas"/>
                <a:ea typeface="Consolas"/>
                <a:cs typeface="Consolas"/>
                <a:sym typeface="Consolas"/>
              </a:rPr>
              <a:t>//init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do</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//INCREMENT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number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while</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&lt;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467" name="Google Shape;467;p43"/>
          <p:cNvSpPr txBox="1"/>
          <p:nvPr/>
        </p:nvSpPr>
        <p:spPr>
          <a:xfrm>
            <a:off x="6042480" y="801241"/>
            <a:ext cx="2695148" cy="3693319"/>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The do...while statement will execute a block of code at least once - it then will repeat the loop as long as a condition is true.</a:t>
            </a:r>
            <a:endParaRPr/>
          </a:p>
          <a:p>
            <a:pPr marL="0" marR="0" lvl="0" indent="0" algn="l" rtl="0">
              <a:lnSpc>
                <a:spcPct val="100000"/>
              </a:lnSpc>
              <a:spcBef>
                <a:spcPts val="0"/>
              </a:spcBef>
              <a:spcAft>
                <a:spcPts val="0"/>
              </a:spcAft>
              <a:buNone/>
            </a:pPr>
            <a:endParaRPr sz="18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800" b="1" i="1" u="none" strike="noStrike" cap="none">
                <a:solidFill>
                  <a:srgbClr val="000000"/>
                </a:solidFill>
                <a:latin typeface="Consolas"/>
                <a:ea typeface="Consolas"/>
                <a:cs typeface="Consolas"/>
                <a:sym typeface="Consolas"/>
              </a:rPr>
              <a:t>do</a:t>
            </a:r>
            <a:r>
              <a:rPr lang="en-US" sz="1800" b="1" i="0" u="none" strike="noStrike" cap="none">
                <a:solidFill>
                  <a:srgbClr val="000000"/>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Consolas"/>
                <a:ea typeface="Consolas"/>
                <a:cs typeface="Consolas"/>
                <a:sym typeface="Consolas"/>
              </a:rPr>
              <a:t> </a:t>
            </a:r>
            <a:r>
              <a:rPr lang="en-US" sz="1800" b="0" i="0" u="none" strike="noStrike" cap="none">
                <a:solidFill>
                  <a:srgbClr val="000000"/>
                </a:solidFill>
                <a:latin typeface="Consolas"/>
                <a:ea typeface="Consolas"/>
                <a:cs typeface="Consolas"/>
                <a:sym typeface="Consolas"/>
              </a:rPr>
              <a:t>code to be executed;</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Consolas"/>
                <a:ea typeface="Consolas"/>
                <a:cs typeface="Consolas"/>
                <a:sym typeface="Consolas"/>
              </a:rPr>
              <a:t> } </a:t>
            </a:r>
            <a:r>
              <a:rPr lang="en-US" sz="1800" b="1" i="1" u="none" strike="noStrike" cap="none">
                <a:solidFill>
                  <a:srgbClr val="000000"/>
                </a:solidFill>
                <a:latin typeface="Consolas"/>
                <a:ea typeface="Consolas"/>
                <a:cs typeface="Consolas"/>
                <a:sym typeface="Consolas"/>
              </a:rPr>
              <a:t>while </a:t>
            </a:r>
            <a:r>
              <a:rPr lang="en-US" sz="1800" b="1" i="0" u="none" strike="noStrike" cap="none">
                <a:solidFill>
                  <a:srgbClr val="000000"/>
                </a:solidFill>
                <a:latin typeface="Consolas"/>
                <a:ea typeface="Consolas"/>
                <a:cs typeface="Consolas"/>
                <a:sym typeface="Consolas"/>
              </a:rPr>
              <a:t>(</a:t>
            </a:r>
            <a:r>
              <a:rPr lang="en-US" sz="1800" b="0" i="0" u="none" strike="noStrike" cap="none">
                <a:solidFill>
                  <a:srgbClr val="000000"/>
                </a:solidFill>
                <a:latin typeface="Consolas"/>
                <a:ea typeface="Consolas"/>
                <a:cs typeface="Consolas"/>
                <a:sym typeface="Consolas"/>
              </a:rPr>
              <a:t>condition</a:t>
            </a:r>
            <a:r>
              <a:rPr lang="en-US" sz="1800" b="1" i="0" u="none" strike="noStrike" cap="none">
                <a:solidFill>
                  <a:srgbClr val="000000"/>
                </a:solidFill>
                <a:latin typeface="Consolas"/>
                <a:ea typeface="Consolas"/>
                <a:cs typeface="Consolas"/>
                <a:sym typeface="Consolas"/>
              </a:rPr>
              <a:t>);</a:t>
            </a:r>
            <a:endParaRPr sz="1800" b="1" i="0" u="none" strike="noStrike" cap="none">
              <a:solidFill>
                <a:srgbClr val="000000"/>
              </a:solidFill>
              <a:latin typeface="Consolas"/>
              <a:ea typeface="Consolas"/>
              <a:cs typeface="Consolas"/>
              <a:sym typeface="Consolas"/>
            </a:endParaRPr>
          </a:p>
        </p:txBody>
      </p:sp>
      <p:pic>
        <p:nvPicPr>
          <p:cNvPr id="468" name="Google Shape;468;p43"/>
          <p:cNvPicPr preferRelativeResize="0"/>
          <p:nvPr/>
        </p:nvPicPr>
        <p:blipFill rotWithShape="1">
          <a:blip r:embed="rId3">
            <a:alphaModFix/>
          </a:blip>
          <a:srcRect/>
          <a:stretch/>
        </p:blipFill>
        <p:spPr>
          <a:xfrm>
            <a:off x="4431004" y="972110"/>
            <a:ext cx="1611476" cy="1341980"/>
          </a:xfrm>
          <a:prstGeom prst="rect">
            <a:avLst/>
          </a:prstGeom>
          <a:noFill/>
          <a:ln>
            <a:noFill/>
          </a:ln>
        </p:spPr>
      </p:pic>
      <p:sp>
        <p:nvSpPr>
          <p:cNvPr id="469" name="Google Shape;469;p43"/>
          <p:cNvSpPr txBox="1"/>
          <p:nvPr/>
        </p:nvSpPr>
        <p:spPr>
          <a:xfrm>
            <a:off x="384156" y="2904055"/>
            <a:ext cx="3418946" cy="181588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6A9955"/>
                </a:solidFill>
                <a:latin typeface="Consolas"/>
                <a:ea typeface="Consolas"/>
                <a:cs typeface="Consolas"/>
                <a:sym typeface="Consolas"/>
              </a:rPr>
              <a:t>//init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do</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//DECREMENT</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number is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while</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pic>
        <p:nvPicPr>
          <p:cNvPr id="470" name="Google Shape;470;p43"/>
          <p:cNvPicPr preferRelativeResize="0"/>
          <p:nvPr/>
        </p:nvPicPr>
        <p:blipFill rotWithShape="1">
          <a:blip r:embed="rId4">
            <a:alphaModFix/>
          </a:blip>
          <a:srcRect/>
          <a:stretch/>
        </p:blipFill>
        <p:spPr>
          <a:xfrm>
            <a:off x="3840604" y="3113738"/>
            <a:ext cx="1747121" cy="1480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4"/>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The for Statement </a:t>
            </a:r>
            <a:endParaRPr b="1"/>
          </a:p>
        </p:txBody>
      </p:sp>
      <p:sp>
        <p:nvSpPr>
          <p:cNvPr id="476" name="Google Shape;476;p4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77" name="Google Shape;477;p4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78" name="Google Shape;478;p44"/>
          <p:cNvSpPr txBox="1"/>
          <p:nvPr/>
        </p:nvSpPr>
        <p:spPr>
          <a:xfrm>
            <a:off x="415054" y="802909"/>
            <a:ext cx="3048125" cy="1169551"/>
          </a:xfrm>
          <a:prstGeom prst="rect">
            <a:avLst/>
          </a:prstGeom>
          <a:solidFill>
            <a:schemeClr val="lt1"/>
          </a:solidFill>
          <a:ln w="9525" cap="flat" cmpd="sng">
            <a:solidFill>
              <a:srgbClr val="E9E9E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for</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&lt;=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 #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479" name="Google Shape;479;p44"/>
          <p:cNvSpPr txBox="1"/>
          <p:nvPr/>
        </p:nvSpPr>
        <p:spPr>
          <a:xfrm>
            <a:off x="5348961" y="756742"/>
            <a:ext cx="3441185" cy="2431435"/>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The for statement is used when you know how many times you want to execute a statement or a list of statements.</a:t>
            </a:r>
            <a:endParaRPr/>
          </a:p>
          <a:p>
            <a:pPr marL="0" marR="0" lvl="0" indent="0" algn="l" rtl="0">
              <a:lnSpc>
                <a:spcPct val="100000"/>
              </a:lnSpc>
              <a:spcBef>
                <a:spcPts val="0"/>
              </a:spcBef>
              <a:spcAft>
                <a:spcPts val="0"/>
              </a:spcAft>
              <a:buNone/>
            </a:pPr>
            <a:endParaRPr sz="2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1" i="0" u="none" strike="noStrike" cap="none">
                <a:solidFill>
                  <a:srgbClr val="000000"/>
                </a:solidFill>
                <a:latin typeface="Consolas"/>
                <a:ea typeface="Consolas"/>
                <a:cs typeface="Consolas"/>
                <a:sym typeface="Consolas"/>
              </a:rPr>
              <a:t>for (initialization; condition; increment) { code to be executed; } </a:t>
            </a:r>
            <a:endParaRPr sz="1100" b="1" i="0" u="none" strike="noStrike" cap="none">
              <a:solidFill>
                <a:srgbClr val="000000"/>
              </a:solidFill>
              <a:latin typeface="Consolas"/>
              <a:ea typeface="Consolas"/>
              <a:cs typeface="Consolas"/>
              <a:sym typeface="Consolas"/>
            </a:endParaRPr>
          </a:p>
        </p:txBody>
      </p:sp>
      <p:sp>
        <p:nvSpPr>
          <p:cNvPr id="480" name="Google Shape;480;p44"/>
          <p:cNvSpPr txBox="1"/>
          <p:nvPr/>
        </p:nvSpPr>
        <p:spPr>
          <a:xfrm>
            <a:off x="415054" y="3598136"/>
            <a:ext cx="8271298"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Note: </a:t>
            </a:r>
            <a:r>
              <a:rPr lang="en-US" sz="1600" b="0" i="0" u="none" strike="noStrike" cap="none">
                <a:solidFill>
                  <a:srgbClr val="000000"/>
                </a:solidFill>
                <a:latin typeface="Arial"/>
                <a:ea typeface="Arial"/>
                <a:cs typeface="Arial"/>
                <a:sym typeface="Arial"/>
              </a:rPr>
              <a:t>The for statement has three parameters. The </a:t>
            </a:r>
            <a:r>
              <a:rPr lang="en-US" sz="1600" b="1" i="0" u="none" strike="noStrike" cap="none">
                <a:solidFill>
                  <a:srgbClr val="000000"/>
                </a:solidFill>
                <a:latin typeface="Arial"/>
                <a:ea typeface="Arial"/>
                <a:cs typeface="Arial"/>
                <a:sym typeface="Arial"/>
              </a:rPr>
              <a:t>first</a:t>
            </a:r>
            <a:r>
              <a:rPr lang="en-US" sz="1600" b="0" i="0" u="none" strike="noStrike" cap="none">
                <a:solidFill>
                  <a:srgbClr val="000000"/>
                </a:solidFill>
                <a:latin typeface="Arial"/>
                <a:ea typeface="Arial"/>
                <a:cs typeface="Arial"/>
                <a:sym typeface="Arial"/>
              </a:rPr>
              <a:t> </a:t>
            </a:r>
            <a:r>
              <a:rPr lang="en-US" sz="1600" b="1" i="0" u="none" strike="noStrike" cap="none">
                <a:solidFill>
                  <a:srgbClr val="000000"/>
                </a:solidFill>
                <a:latin typeface="Arial"/>
                <a:ea typeface="Arial"/>
                <a:cs typeface="Arial"/>
                <a:sym typeface="Arial"/>
              </a:rPr>
              <a:t>parameter</a:t>
            </a:r>
            <a:r>
              <a:rPr lang="en-US" sz="1600" b="0" i="0" u="none" strike="noStrike" cap="none">
                <a:solidFill>
                  <a:srgbClr val="000000"/>
                </a:solidFill>
                <a:latin typeface="Arial"/>
                <a:ea typeface="Arial"/>
                <a:cs typeface="Arial"/>
                <a:sym typeface="Arial"/>
              </a:rPr>
              <a:t> is for </a:t>
            </a:r>
            <a:r>
              <a:rPr lang="en-US" sz="1600" b="1" i="0" u="none" strike="noStrike" cap="none">
                <a:solidFill>
                  <a:srgbClr val="000000"/>
                </a:solidFill>
                <a:latin typeface="Arial"/>
                <a:ea typeface="Arial"/>
                <a:cs typeface="Arial"/>
                <a:sym typeface="Arial"/>
              </a:rPr>
              <a:t>initializing</a:t>
            </a:r>
            <a:r>
              <a:rPr lang="en-US" sz="1600" b="0" i="0" u="none" strike="noStrike" cap="none">
                <a:solidFill>
                  <a:srgbClr val="000000"/>
                </a:solidFill>
                <a:latin typeface="Arial"/>
                <a:ea typeface="Arial"/>
                <a:cs typeface="Arial"/>
                <a:sym typeface="Arial"/>
              </a:rPr>
              <a:t> </a:t>
            </a:r>
            <a:r>
              <a:rPr lang="en-US" sz="1600" b="1" i="0" u="none" strike="noStrike" cap="none">
                <a:solidFill>
                  <a:srgbClr val="000000"/>
                </a:solidFill>
                <a:latin typeface="Arial"/>
                <a:ea typeface="Arial"/>
                <a:cs typeface="Arial"/>
                <a:sym typeface="Arial"/>
              </a:rPr>
              <a:t>variables</a:t>
            </a:r>
            <a:r>
              <a:rPr lang="en-US" sz="1600" b="0" i="0" u="none" strike="noStrike" cap="none">
                <a:solidFill>
                  <a:srgbClr val="000000"/>
                </a:solidFill>
                <a:latin typeface="Arial"/>
                <a:ea typeface="Arial"/>
                <a:cs typeface="Arial"/>
                <a:sym typeface="Arial"/>
              </a:rPr>
              <a:t>, the </a:t>
            </a:r>
            <a:r>
              <a:rPr lang="en-US" sz="1600" b="1" i="0" u="none" strike="noStrike" cap="none">
                <a:solidFill>
                  <a:srgbClr val="000000"/>
                </a:solidFill>
                <a:latin typeface="Arial"/>
                <a:ea typeface="Arial"/>
                <a:cs typeface="Arial"/>
                <a:sym typeface="Arial"/>
              </a:rPr>
              <a:t>second</a:t>
            </a:r>
            <a:r>
              <a:rPr lang="en-US" sz="1600" b="0" i="0" u="none" strike="noStrike" cap="none">
                <a:solidFill>
                  <a:srgbClr val="000000"/>
                </a:solidFill>
                <a:latin typeface="Arial"/>
                <a:ea typeface="Arial"/>
                <a:cs typeface="Arial"/>
                <a:sym typeface="Arial"/>
              </a:rPr>
              <a:t> </a:t>
            </a:r>
            <a:r>
              <a:rPr lang="en-US" sz="1600" b="1" i="0" u="none" strike="noStrike" cap="none">
                <a:solidFill>
                  <a:srgbClr val="000000"/>
                </a:solidFill>
                <a:latin typeface="Arial"/>
                <a:ea typeface="Arial"/>
                <a:cs typeface="Arial"/>
                <a:sym typeface="Arial"/>
              </a:rPr>
              <a:t>parameter</a:t>
            </a:r>
            <a:r>
              <a:rPr lang="en-US" sz="1600" b="0" i="0" u="none" strike="noStrike" cap="none">
                <a:solidFill>
                  <a:srgbClr val="000000"/>
                </a:solidFill>
                <a:latin typeface="Arial"/>
                <a:ea typeface="Arial"/>
                <a:cs typeface="Arial"/>
                <a:sym typeface="Arial"/>
              </a:rPr>
              <a:t> holds the </a:t>
            </a:r>
            <a:r>
              <a:rPr lang="en-US" sz="1600" b="1" i="0" u="none" strike="noStrike" cap="none">
                <a:solidFill>
                  <a:srgbClr val="000000"/>
                </a:solidFill>
                <a:latin typeface="Arial"/>
                <a:ea typeface="Arial"/>
                <a:cs typeface="Arial"/>
                <a:sym typeface="Arial"/>
              </a:rPr>
              <a:t>condition</a:t>
            </a:r>
            <a:r>
              <a:rPr lang="en-US" sz="1600" b="0" i="0" u="none" strike="noStrike" cap="none">
                <a:solidFill>
                  <a:srgbClr val="000000"/>
                </a:solidFill>
                <a:latin typeface="Arial"/>
                <a:ea typeface="Arial"/>
                <a:cs typeface="Arial"/>
                <a:sym typeface="Arial"/>
              </a:rPr>
              <a:t>, and the </a:t>
            </a:r>
            <a:r>
              <a:rPr lang="en-US" sz="1600" b="1" i="0" u="none" strike="noStrike" cap="none">
                <a:solidFill>
                  <a:srgbClr val="000000"/>
                </a:solidFill>
                <a:latin typeface="Arial"/>
                <a:ea typeface="Arial"/>
                <a:cs typeface="Arial"/>
                <a:sym typeface="Arial"/>
              </a:rPr>
              <a:t>third parameter</a:t>
            </a:r>
            <a:r>
              <a:rPr lang="en-US" sz="1600" b="0" i="0" u="none" strike="noStrike" cap="none">
                <a:solidFill>
                  <a:srgbClr val="000000"/>
                </a:solidFill>
                <a:latin typeface="Arial"/>
                <a:ea typeface="Arial"/>
                <a:cs typeface="Arial"/>
                <a:sym typeface="Arial"/>
              </a:rPr>
              <a:t> contains any </a:t>
            </a:r>
            <a:r>
              <a:rPr lang="en-US" sz="1600" b="1" i="0" u="none" strike="noStrike" cap="none">
                <a:solidFill>
                  <a:srgbClr val="000000"/>
                </a:solidFill>
                <a:latin typeface="Arial"/>
                <a:ea typeface="Arial"/>
                <a:cs typeface="Arial"/>
                <a:sym typeface="Arial"/>
              </a:rPr>
              <a:t>increments</a:t>
            </a:r>
            <a:r>
              <a:rPr lang="en-US" sz="1600" b="0" i="0" u="none" strike="noStrike" cap="none">
                <a:solidFill>
                  <a:srgbClr val="000000"/>
                </a:solidFill>
                <a:latin typeface="Arial"/>
                <a:ea typeface="Arial"/>
                <a:cs typeface="Arial"/>
                <a:sym typeface="Arial"/>
              </a:rPr>
              <a:t> required to implement the loop. If more than one variable is included in either the initialization or the increment section, then they should be separated by commas. The condition must evaluate to true or false. </a:t>
            </a:r>
            <a:endParaRPr sz="1600" b="0" i="0" u="none" strike="noStrike" cap="none">
              <a:solidFill>
                <a:srgbClr val="000000"/>
              </a:solidFill>
              <a:latin typeface="Arial"/>
              <a:ea typeface="Arial"/>
              <a:cs typeface="Arial"/>
              <a:sym typeface="Arial"/>
            </a:endParaRPr>
          </a:p>
        </p:txBody>
      </p:sp>
      <p:pic>
        <p:nvPicPr>
          <p:cNvPr id="481" name="Google Shape;481;p44"/>
          <p:cNvPicPr preferRelativeResize="0"/>
          <p:nvPr/>
        </p:nvPicPr>
        <p:blipFill rotWithShape="1">
          <a:blip r:embed="rId3">
            <a:alphaModFix/>
          </a:blip>
          <a:srcRect/>
          <a:stretch/>
        </p:blipFill>
        <p:spPr>
          <a:xfrm>
            <a:off x="3589987" y="914594"/>
            <a:ext cx="1463743" cy="1046884"/>
          </a:xfrm>
          <a:prstGeom prst="rect">
            <a:avLst/>
          </a:prstGeom>
          <a:noFill/>
          <a:ln>
            <a:noFill/>
          </a:ln>
        </p:spPr>
      </p:pic>
      <p:sp>
        <p:nvSpPr>
          <p:cNvPr id="482" name="Google Shape;482;p44"/>
          <p:cNvSpPr txBox="1"/>
          <p:nvPr/>
        </p:nvSpPr>
        <p:spPr>
          <a:xfrm>
            <a:off x="415053" y="2349045"/>
            <a:ext cx="3048125" cy="1169551"/>
          </a:xfrm>
          <a:prstGeom prst="rect">
            <a:avLst/>
          </a:prstGeom>
          <a:solidFill>
            <a:schemeClr val="lt1"/>
          </a:solidFill>
          <a:ln w="9525" cap="flat" cmpd="sng">
            <a:solidFill>
              <a:srgbClr val="E9E9E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for</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 # :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pic>
        <p:nvPicPr>
          <p:cNvPr id="483" name="Google Shape;483;p44"/>
          <p:cNvPicPr preferRelativeResize="0"/>
          <p:nvPr/>
        </p:nvPicPr>
        <p:blipFill rotWithShape="1">
          <a:blip r:embed="rId4">
            <a:alphaModFix/>
          </a:blip>
          <a:srcRect/>
          <a:stretch/>
        </p:blipFill>
        <p:spPr>
          <a:xfrm>
            <a:off x="3589987" y="2266394"/>
            <a:ext cx="1389581" cy="1289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5"/>
          <p:cNvSpPr txBox="1">
            <a:spLocks noGrp="1"/>
          </p:cNvSpPr>
          <p:nvPr>
            <p:ph type="title"/>
          </p:nvPr>
        </p:nvSpPr>
        <p:spPr>
          <a:xfrm>
            <a:off x="331200" y="154500"/>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The foreach Statement </a:t>
            </a:r>
            <a:endParaRPr b="1"/>
          </a:p>
        </p:txBody>
      </p:sp>
      <p:sp>
        <p:nvSpPr>
          <p:cNvPr id="489" name="Google Shape;489;p4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490" name="Google Shape;490;p4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91" name="Google Shape;491;p45"/>
          <p:cNvSpPr txBox="1"/>
          <p:nvPr/>
        </p:nvSpPr>
        <p:spPr>
          <a:xfrm>
            <a:off x="415054" y="802909"/>
            <a:ext cx="4214546" cy="1384995"/>
          </a:xfrm>
          <a:prstGeom prst="rect">
            <a:avLst/>
          </a:prstGeom>
          <a:solidFill>
            <a:schemeClr val="lt1"/>
          </a:solidFill>
          <a:ln w="9525" cap="flat" cmpd="sng">
            <a:solidFill>
              <a:srgbClr val="E9E9E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endParaRPr sz="14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$arr</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"Naruto"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"Sasuke"</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"Sakura"</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foreach</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$arr</a:t>
            </a:r>
            <a:r>
              <a:rPr lang="en-US" sz="1400" b="0" i="0" u="none" strike="noStrike" cap="none">
                <a:solidFill>
                  <a:srgbClr val="D4D4D4"/>
                </a:solidFill>
                <a:latin typeface="Consolas"/>
                <a:ea typeface="Consolas"/>
                <a:cs typeface="Consolas"/>
                <a:sym typeface="Consolas"/>
              </a:rPr>
              <a:t> as </a:t>
            </a:r>
            <a:r>
              <a:rPr lang="en-US" sz="1400" b="0" i="0" u="none" strike="noStrike" cap="none">
                <a:solidFill>
                  <a:srgbClr val="9CDCFE"/>
                </a:solidFill>
                <a:latin typeface="Consolas"/>
                <a:ea typeface="Consolas"/>
                <a:cs typeface="Consolas"/>
                <a:sym typeface="Consolas"/>
              </a:rPr>
              <a:t>$value</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"Value: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$value</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 /&gt;"</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D4D4D4"/>
              </a:solidFill>
              <a:latin typeface="Consolas"/>
              <a:ea typeface="Consolas"/>
              <a:cs typeface="Consolas"/>
              <a:sym typeface="Consolas"/>
            </a:endParaRPr>
          </a:p>
        </p:txBody>
      </p:sp>
      <p:sp>
        <p:nvSpPr>
          <p:cNvPr id="492" name="Google Shape;492;p45"/>
          <p:cNvSpPr txBox="1"/>
          <p:nvPr/>
        </p:nvSpPr>
        <p:spPr>
          <a:xfrm>
            <a:off x="6177600" y="802909"/>
            <a:ext cx="2484000" cy="2523768"/>
          </a:xfrm>
          <a:prstGeom prst="rect">
            <a:avLst/>
          </a:prstGeom>
          <a:noFill/>
          <a:ln w="9525" cap="flat" cmpd="sng">
            <a:solidFill>
              <a:srgbClr val="6C2CE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Loops over the array given by the parameter. On each loop, the value of the current element is assigned to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$value and the array pointer is advanced by one - so on the next loop, you'll be looking at the next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element. </a:t>
            </a:r>
            <a:endParaRPr/>
          </a:p>
          <a:p>
            <a:pPr marL="0" marR="0" lvl="0" indent="0" algn="l" rtl="0">
              <a:lnSpc>
                <a:spcPct val="100000"/>
              </a:lnSpc>
              <a:spcBef>
                <a:spcPts val="0"/>
              </a:spcBef>
              <a:spcAft>
                <a:spcPts val="0"/>
              </a:spcAft>
              <a:buNone/>
            </a:pPr>
            <a:endParaRPr sz="10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foreach (array as value) { code to be executed; }</a:t>
            </a:r>
            <a:endParaRPr sz="1000" b="0" i="0" u="none" strike="noStrike" cap="none">
              <a:solidFill>
                <a:srgbClr val="000000"/>
              </a:solidFill>
              <a:latin typeface="Consolas"/>
              <a:ea typeface="Consolas"/>
              <a:cs typeface="Consolas"/>
              <a:sym typeface="Consolas"/>
            </a:endParaRPr>
          </a:p>
        </p:txBody>
      </p:sp>
      <p:sp>
        <p:nvSpPr>
          <p:cNvPr id="493" name="Google Shape;493;p45"/>
          <p:cNvSpPr txBox="1"/>
          <p:nvPr/>
        </p:nvSpPr>
        <p:spPr>
          <a:xfrm>
            <a:off x="415054" y="3598136"/>
            <a:ext cx="8271298"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Arial"/>
                <a:ea typeface="Arial"/>
                <a:cs typeface="Arial"/>
                <a:sym typeface="Arial"/>
              </a:rPr>
              <a:t>Loops over the array given by the parameter. On each loop, the value of the current element is assigned to $value and the array pointer is advanced by one - so on the next loop, you'll be looking at the next element. </a:t>
            </a:r>
            <a:endParaRPr sz="1600" b="0" i="0" u="none" strike="noStrike" cap="none">
              <a:solidFill>
                <a:srgbClr val="000000"/>
              </a:solidFill>
              <a:latin typeface="Arial"/>
              <a:ea typeface="Arial"/>
              <a:cs typeface="Arial"/>
              <a:sym typeface="Arial"/>
            </a:endParaRPr>
          </a:p>
        </p:txBody>
      </p:sp>
      <p:pic>
        <p:nvPicPr>
          <p:cNvPr id="494" name="Google Shape;494;p45"/>
          <p:cNvPicPr preferRelativeResize="0"/>
          <p:nvPr/>
        </p:nvPicPr>
        <p:blipFill rotWithShape="1">
          <a:blip r:embed="rId3">
            <a:alphaModFix/>
          </a:blip>
          <a:srcRect/>
          <a:stretch/>
        </p:blipFill>
        <p:spPr>
          <a:xfrm>
            <a:off x="482400" y="2263613"/>
            <a:ext cx="1683390" cy="95506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6"/>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0" name="Google Shape;500;p46"/>
          <p:cNvSpPr txBox="1">
            <a:spLocks noGrp="1"/>
          </p:cNvSpPr>
          <p:nvPr>
            <p:ph type="title"/>
          </p:nvPr>
        </p:nvSpPr>
        <p:spPr>
          <a:xfrm>
            <a:off x="2754053" y="2150850"/>
            <a:ext cx="3263506"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a:t>PHP Arrays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47"/>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PHP Arrays</a:t>
            </a:r>
            <a:endParaRPr/>
          </a:p>
        </p:txBody>
      </p:sp>
      <p:sp>
        <p:nvSpPr>
          <p:cNvPr id="506" name="Google Shape;506;p47"/>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07" name="Google Shape;507;p47"/>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08" name="Google Shape;508;p47"/>
          <p:cNvSpPr txBox="1"/>
          <p:nvPr/>
        </p:nvSpPr>
        <p:spPr>
          <a:xfrm>
            <a:off x="558053" y="1417588"/>
            <a:ext cx="8232093"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Poppins"/>
                <a:ea typeface="Poppins"/>
                <a:cs typeface="Poppins"/>
                <a:sym typeface="Poppins"/>
              </a:rPr>
              <a:t>• An array variable is a storage area holding a number or text. The problem is, a variable will hold only one value. </a:t>
            </a:r>
            <a:endParaRPr/>
          </a:p>
          <a:p>
            <a:pPr marL="0" marR="0" lvl="0" indent="0" algn="l" rtl="0">
              <a:lnSpc>
                <a:spcPct val="100000"/>
              </a:lnSpc>
              <a:spcBef>
                <a:spcPts val="0"/>
              </a:spcBef>
              <a:spcAft>
                <a:spcPts val="0"/>
              </a:spcAft>
              <a:buNone/>
            </a:pPr>
            <a:endParaRPr sz="24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None/>
            </a:pPr>
            <a:r>
              <a:rPr lang="en-US" sz="2400" b="0" i="0" u="none" strike="noStrike" cap="none">
                <a:solidFill>
                  <a:srgbClr val="000000"/>
                </a:solidFill>
                <a:latin typeface="Poppins"/>
                <a:ea typeface="Poppins"/>
                <a:cs typeface="Poppins"/>
                <a:sym typeface="Poppins"/>
              </a:rPr>
              <a:t>• An array is a special variable, which can store multiple values in one single variable.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 PHP, there are three kinds of arrays:</a:t>
            </a:r>
            <a:endParaRPr b="1"/>
          </a:p>
        </p:txBody>
      </p:sp>
      <p:sp>
        <p:nvSpPr>
          <p:cNvPr id="514" name="Google Shape;514;p4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15" name="Google Shape;515;p4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6" name="Google Shape;516;p48"/>
          <p:cNvSpPr txBox="1"/>
          <p:nvPr/>
        </p:nvSpPr>
        <p:spPr>
          <a:xfrm>
            <a:off x="662927" y="1742215"/>
            <a:ext cx="7840800" cy="226908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Poppins"/>
                <a:ea typeface="Poppins"/>
                <a:cs typeface="Poppins"/>
                <a:sym typeface="Poppins"/>
              </a:rPr>
              <a:t>Numeric array</a:t>
            </a:r>
            <a:r>
              <a:rPr lang="en-US" sz="1800" b="1" i="0" u="none" strike="noStrike" cap="none">
                <a:solidFill>
                  <a:srgbClr val="000000"/>
                </a:solidFill>
                <a:latin typeface="Poppins"/>
                <a:ea typeface="Poppins"/>
                <a:cs typeface="Poppins"/>
                <a:sym typeface="Poppins"/>
              </a:rPr>
              <a:t> </a:t>
            </a:r>
            <a:r>
              <a:rPr lang="en-US" sz="1800" b="0" i="0" u="none" strike="noStrike" cap="none">
                <a:solidFill>
                  <a:srgbClr val="000000"/>
                </a:solidFill>
                <a:latin typeface="Poppins"/>
                <a:ea typeface="Poppins"/>
                <a:cs typeface="Poppins"/>
                <a:sym typeface="Poppins"/>
              </a:rPr>
              <a:t>- An array with a numeric index .</a:t>
            </a:r>
            <a:endParaRPr/>
          </a:p>
          <a:p>
            <a:pPr marL="342900" marR="0" lvl="0" indent="-342900" algn="l"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Poppins"/>
                <a:ea typeface="Poppins"/>
                <a:cs typeface="Poppins"/>
                <a:sym typeface="Poppins"/>
              </a:rPr>
              <a:t>Associative array</a:t>
            </a:r>
            <a:r>
              <a:rPr lang="en-US" sz="1800" b="1" i="0" u="none" strike="noStrike" cap="none">
                <a:solidFill>
                  <a:srgbClr val="000000"/>
                </a:solidFill>
                <a:latin typeface="Poppins"/>
                <a:ea typeface="Poppins"/>
                <a:cs typeface="Poppins"/>
                <a:sym typeface="Poppins"/>
              </a:rPr>
              <a:t> </a:t>
            </a:r>
            <a:r>
              <a:rPr lang="en-US" sz="1800" b="0" i="0" u="none" strike="noStrike" cap="none">
                <a:solidFill>
                  <a:srgbClr val="000000"/>
                </a:solidFill>
                <a:latin typeface="Poppins"/>
                <a:ea typeface="Poppins"/>
                <a:cs typeface="Poppins"/>
                <a:sym typeface="Poppins"/>
              </a:rPr>
              <a:t>- An array where each ID key is associated with a value. </a:t>
            </a:r>
            <a:endParaRPr/>
          </a:p>
          <a:p>
            <a:pPr marL="342900" marR="0" lvl="0" indent="-342900" algn="l"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Poppins"/>
                <a:ea typeface="Poppins"/>
                <a:cs typeface="Poppins"/>
                <a:sym typeface="Poppins"/>
              </a:rPr>
              <a:t>Multidimensional array </a:t>
            </a:r>
            <a:r>
              <a:rPr lang="en-US" sz="1800" b="0" i="0" u="none" strike="noStrike" cap="none">
                <a:solidFill>
                  <a:srgbClr val="000000"/>
                </a:solidFill>
                <a:latin typeface="Poppins"/>
                <a:ea typeface="Poppins"/>
                <a:cs typeface="Poppins"/>
                <a:sym typeface="Poppins"/>
              </a:rPr>
              <a:t>- An array containing one or more arrays.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9"/>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Create Array</a:t>
            </a:r>
            <a:endParaRPr b="1"/>
          </a:p>
        </p:txBody>
      </p:sp>
      <p:sp>
        <p:nvSpPr>
          <p:cNvPr id="522" name="Google Shape;522;p49"/>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23" name="Google Shape;523;p49"/>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4" name="Google Shape;524;p49"/>
          <p:cNvSpPr txBox="1"/>
          <p:nvPr/>
        </p:nvSpPr>
        <p:spPr>
          <a:xfrm>
            <a:off x="475200" y="914215"/>
            <a:ext cx="7840800" cy="88408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Poppins"/>
                <a:ea typeface="Poppins"/>
                <a:cs typeface="Poppins"/>
                <a:sym typeface="Poppins"/>
              </a:rPr>
              <a:t>You can create arrays by using the </a:t>
            </a:r>
            <a:r>
              <a:rPr lang="en-US" sz="1800" b="1" i="0" u="none" strike="noStrike" cap="none">
                <a:solidFill>
                  <a:srgbClr val="000000"/>
                </a:solidFill>
                <a:latin typeface="Poppins"/>
                <a:ea typeface="Poppins"/>
                <a:cs typeface="Poppins"/>
                <a:sym typeface="Poppins"/>
              </a:rPr>
              <a:t>array() function</a:t>
            </a:r>
            <a:r>
              <a:rPr lang="en-US" sz="1800" b="0" i="0" u="none" strike="noStrike" cap="none">
                <a:solidFill>
                  <a:srgbClr val="000000"/>
                </a:solidFill>
                <a:latin typeface="Poppins"/>
                <a:ea typeface="Poppins"/>
                <a:cs typeface="Poppins"/>
                <a:sym typeface="Poppins"/>
              </a:rPr>
              <a:t>:</a:t>
            </a:r>
            <a:endParaRPr/>
          </a:p>
          <a:p>
            <a:pPr marL="0" marR="0" lvl="0" indent="0" algn="l" rtl="0">
              <a:lnSpc>
                <a:spcPct val="150000"/>
              </a:lnSpc>
              <a:spcBef>
                <a:spcPts val="0"/>
              </a:spcBef>
              <a:spcAft>
                <a:spcPts val="0"/>
              </a:spcAft>
              <a:buNone/>
            </a:pPr>
            <a:r>
              <a:rPr lang="en-US" sz="1800" b="0" i="0" u="none" strike="noStrike" cap="none">
                <a:solidFill>
                  <a:srgbClr val="000000"/>
                </a:solidFill>
                <a:latin typeface="Poppins"/>
                <a:ea typeface="Poppins"/>
                <a:cs typeface="Poppins"/>
                <a:sym typeface="Poppins"/>
              </a:rPr>
              <a:t>You can also use a shorter syntax by </a:t>
            </a:r>
            <a:r>
              <a:rPr lang="en-US" sz="1800" b="1" i="0" u="none" strike="noStrike" cap="none">
                <a:solidFill>
                  <a:srgbClr val="000000"/>
                </a:solidFill>
                <a:latin typeface="Poppins"/>
                <a:ea typeface="Poppins"/>
                <a:cs typeface="Poppins"/>
                <a:sym typeface="Poppins"/>
              </a:rPr>
              <a:t>using the [] brackets</a:t>
            </a:r>
            <a:r>
              <a:rPr lang="en-US" sz="1800" b="0" i="0" u="none" strike="noStrike" cap="none">
                <a:solidFill>
                  <a:srgbClr val="000000"/>
                </a:solidFill>
                <a:latin typeface="Poppins"/>
                <a:ea typeface="Poppins"/>
                <a:cs typeface="Poppins"/>
                <a:sym typeface="Poppins"/>
              </a:rPr>
              <a:t>:</a:t>
            </a:r>
            <a:endParaRPr/>
          </a:p>
        </p:txBody>
      </p:sp>
      <p:sp>
        <p:nvSpPr>
          <p:cNvPr id="525" name="Google Shape;525;p49"/>
          <p:cNvSpPr txBox="1"/>
          <p:nvPr/>
        </p:nvSpPr>
        <p:spPr>
          <a:xfrm>
            <a:off x="698400" y="2786400"/>
            <a:ext cx="7747200"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9CDCFE"/>
                </a:solidFill>
                <a:latin typeface="Consolas"/>
                <a:ea typeface="Consolas"/>
                <a:cs typeface="Consolas"/>
                <a:sym typeface="Consolas"/>
              </a:rPr>
              <a:t>$cars</a:t>
            </a:r>
            <a:r>
              <a:rPr lang="en-US" sz="2400" b="0" i="0" u="none" strike="noStrike" cap="none">
                <a:solidFill>
                  <a:srgbClr val="D4D4D4"/>
                </a:solidFill>
                <a:latin typeface="Consolas"/>
                <a:ea typeface="Consolas"/>
                <a:cs typeface="Consolas"/>
                <a:sym typeface="Consolas"/>
              </a:rPr>
              <a:t> = </a:t>
            </a:r>
            <a:r>
              <a:rPr lang="en-US" sz="2400" b="0" i="0" u="none" strike="noStrike" cap="none">
                <a:solidFill>
                  <a:srgbClr val="DCDCAA"/>
                </a:solidFill>
                <a:latin typeface="Consolas"/>
                <a:ea typeface="Consolas"/>
                <a:cs typeface="Consolas"/>
                <a:sym typeface="Consolas"/>
              </a:rPr>
              <a:t>array</a:t>
            </a:r>
            <a:r>
              <a:rPr lang="en-US" sz="2400" b="0" i="0" u="none" strike="noStrike" cap="none">
                <a:solidFill>
                  <a:srgbClr val="D4D4D4"/>
                </a:solidFill>
                <a:latin typeface="Consolas"/>
                <a:ea typeface="Consolas"/>
                <a:cs typeface="Consolas"/>
                <a:sym typeface="Consolas"/>
              </a:rPr>
              <a:t>(</a:t>
            </a:r>
            <a:r>
              <a:rPr lang="en-US" sz="2400" b="0" i="0" u="none" strike="noStrike" cap="none">
                <a:solidFill>
                  <a:srgbClr val="CE9178"/>
                </a:solidFill>
                <a:latin typeface="Consolas"/>
                <a:ea typeface="Consolas"/>
                <a:cs typeface="Consolas"/>
                <a:sym typeface="Consolas"/>
              </a:rPr>
              <a:t>"Volvo"</a:t>
            </a:r>
            <a:r>
              <a:rPr lang="en-US" sz="2400" b="0" i="0" u="none" strike="noStrike" cap="none">
                <a:solidFill>
                  <a:srgbClr val="D4D4D4"/>
                </a:solidFill>
                <a:latin typeface="Consolas"/>
                <a:ea typeface="Consolas"/>
                <a:cs typeface="Consolas"/>
                <a:sym typeface="Consolas"/>
              </a:rPr>
              <a:t>, </a:t>
            </a:r>
            <a:r>
              <a:rPr lang="en-US" sz="2400" b="0" i="0" u="none" strike="noStrike" cap="none">
                <a:solidFill>
                  <a:srgbClr val="CE9178"/>
                </a:solidFill>
                <a:latin typeface="Consolas"/>
                <a:ea typeface="Consolas"/>
                <a:cs typeface="Consolas"/>
                <a:sym typeface="Consolas"/>
              </a:rPr>
              <a:t>"BMW"</a:t>
            </a:r>
            <a:r>
              <a:rPr lang="en-US" sz="2400" b="0" i="0" u="none" strike="noStrike" cap="none">
                <a:solidFill>
                  <a:srgbClr val="D4D4D4"/>
                </a:solidFill>
                <a:latin typeface="Consolas"/>
                <a:ea typeface="Consolas"/>
                <a:cs typeface="Consolas"/>
                <a:sym typeface="Consolas"/>
              </a:rPr>
              <a:t>, </a:t>
            </a:r>
            <a:r>
              <a:rPr lang="en-US" sz="2400" b="0" i="0" u="none" strike="noStrike" cap="none">
                <a:solidFill>
                  <a:srgbClr val="CE9178"/>
                </a:solidFill>
                <a:latin typeface="Consolas"/>
                <a:ea typeface="Consolas"/>
                <a:cs typeface="Consolas"/>
                <a:sym typeface="Consolas"/>
              </a:rPr>
              <a:t>"Toyota"</a:t>
            </a:r>
            <a:r>
              <a:rPr lang="en-US" sz="2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2400" b="0" i="0" u="none" strike="noStrike" cap="none">
                <a:solidFill>
                  <a:srgbClr val="9CDCFE"/>
                </a:solidFill>
                <a:latin typeface="Consolas"/>
                <a:ea typeface="Consolas"/>
                <a:cs typeface="Consolas"/>
                <a:sym typeface="Consolas"/>
              </a:rPr>
              <a:t>$cars</a:t>
            </a:r>
            <a:r>
              <a:rPr lang="en-US" sz="2400" b="0" i="0" u="none" strike="noStrike" cap="none">
                <a:solidFill>
                  <a:srgbClr val="D4D4D4"/>
                </a:solidFill>
                <a:latin typeface="Consolas"/>
                <a:ea typeface="Consolas"/>
                <a:cs typeface="Consolas"/>
                <a:sym typeface="Consolas"/>
              </a:rPr>
              <a:t> = [</a:t>
            </a:r>
            <a:r>
              <a:rPr lang="en-US" sz="2400" b="0" i="0" u="none" strike="noStrike" cap="none">
                <a:solidFill>
                  <a:srgbClr val="CE9178"/>
                </a:solidFill>
                <a:latin typeface="Consolas"/>
                <a:ea typeface="Consolas"/>
                <a:cs typeface="Consolas"/>
                <a:sym typeface="Consolas"/>
              </a:rPr>
              <a:t>"Volvo"</a:t>
            </a:r>
            <a:r>
              <a:rPr lang="en-US" sz="2400" b="0" i="0" u="none" strike="noStrike" cap="none">
                <a:solidFill>
                  <a:srgbClr val="D4D4D4"/>
                </a:solidFill>
                <a:latin typeface="Consolas"/>
                <a:ea typeface="Consolas"/>
                <a:cs typeface="Consolas"/>
                <a:sym typeface="Consolas"/>
              </a:rPr>
              <a:t>, </a:t>
            </a:r>
            <a:r>
              <a:rPr lang="en-US" sz="2400" b="0" i="0" u="none" strike="noStrike" cap="none">
                <a:solidFill>
                  <a:srgbClr val="CE9178"/>
                </a:solidFill>
                <a:latin typeface="Consolas"/>
                <a:ea typeface="Consolas"/>
                <a:cs typeface="Consolas"/>
                <a:sym typeface="Consolas"/>
              </a:rPr>
              <a:t>"BMW"</a:t>
            </a:r>
            <a:r>
              <a:rPr lang="en-US" sz="2400" b="0" i="0" u="none" strike="noStrike" cap="none">
                <a:solidFill>
                  <a:srgbClr val="D4D4D4"/>
                </a:solidFill>
                <a:latin typeface="Consolas"/>
                <a:ea typeface="Consolas"/>
                <a:cs typeface="Consolas"/>
                <a:sym typeface="Consolas"/>
              </a:rPr>
              <a:t>, </a:t>
            </a:r>
            <a:r>
              <a:rPr lang="en-US" sz="2400" b="0" i="0" u="none" strike="noStrike" cap="none">
                <a:solidFill>
                  <a:srgbClr val="CE9178"/>
                </a:solidFill>
                <a:latin typeface="Consolas"/>
                <a:ea typeface="Consolas"/>
                <a:cs typeface="Consolas"/>
                <a:sym typeface="Consolas"/>
              </a:rPr>
              <a:t>"Toyota"</a:t>
            </a:r>
            <a:r>
              <a:rPr lang="en-US" sz="2400" b="0" i="0" u="none" strike="noStrike" cap="none">
                <a:solidFill>
                  <a:srgbClr val="D4D4D4"/>
                </a:solidFill>
                <a:latin typeface="Consolas"/>
                <a:ea typeface="Consolas"/>
                <a:cs typeface="Consolas"/>
                <a:sym typeface="Consolas"/>
              </a:rPr>
              <a: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0"/>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Multiple Lines</a:t>
            </a:r>
            <a:endParaRPr/>
          </a:p>
        </p:txBody>
      </p:sp>
      <p:sp>
        <p:nvSpPr>
          <p:cNvPr id="531" name="Google Shape;531;p50"/>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32" name="Google Shape;532;p50"/>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3" name="Google Shape;533;p50"/>
          <p:cNvSpPr txBox="1"/>
          <p:nvPr/>
        </p:nvSpPr>
        <p:spPr>
          <a:xfrm>
            <a:off x="475200" y="914215"/>
            <a:ext cx="7603200" cy="88408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Poppins"/>
                <a:ea typeface="Poppins"/>
                <a:cs typeface="Poppins"/>
                <a:sym typeface="Poppins"/>
              </a:rPr>
              <a:t>Line breaks are not important, so an array declaration can span multiple lines:</a:t>
            </a:r>
            <a:endParaRPr/>
          </a:p>
        </p:txBody>
      </p:sp>
      <p:sp>
        <p:nvSpPr>
          <p:cNvPr id="534" name="Google Shape;534;p50"/>
          <p:cNvSpPr txBox="1"/>
          <p:nvPr/>
        </p:nvSpPr>
        <p:spPr>
          <a:xfrm>
            <a:off x="579600" y="2570955"/>
            <a:ext cx="3873600" cy="116955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endParaRPr/>
          </a:p>
          <a:p>
            <a:pPr marL="0" marR="0" lvl="3"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"Volvo"</a:t>
            </a:r>
            <a:r>
              <a:rPr lang="en-US" sz="1400" b="0" i="0" u="none" strike="noStrike" cap="none">
                <a:solidFill>
                  <a:srgbClr val="D4D4D4"/>
                </a:solidFill>
                <a:latin typeface="Consolas"/>
                <a:ea typeface="Consolas"/>
                <a:cs typeface="Consolas"/>
                <a:sym typeface="Consolas"/>
              </a:rPr>
              <a:t>, </a:t>
            </a:r>
            <a:endParaRPr/>
          </a:p>
          <a:p>
            <a:pPr marL="0" marR="0" lvl="3"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"BMW"</a:t>
            </a:r>
            <a:r>
              <a:rPr lang="en-US" sz="1400" b="0" i="0" u="none" strike="noStrike" cap="none">
                <a:solidFill>
                  <a:srgbClr val="D4D4D4"/>
                </a:solidFill>
                <a:latin typeface="Consolas"/>
                <a:ea typeface="Consolas"/>
                <a:cs typeface="Consolas"/>
                <a:sym typeface="Consolas"/>
              </a:rPr>
              <a:t>, </a:t>
            </a:r>
            <a:endParaRPr/>
          </a:p>
          <a:p>
            <a:pPr marL="0" marR="0" lvl="3"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"Toyota“</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a:t>
            </a:r>
            <a:endParaRPr/>
          </a:p>
        </p:txBody>
      </p:sp>
      <p:sp>
        <p:nvSpPr>
          <p:cNvPr id="535" name="Google Shape;535;p50"/>
          <p:cNvSpPr txBox="1"/>
          <p:nvPr/>
        </p:nvSpPr>
        <p:spPr>
          <a:xfrm>
            <a:off x="4583327" y="2570955"/>
            <a:ext cx="3873600" cy="116955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 = [</a:t>
            </a:r>
            <a:endParaRPr/>
          </a:p>
          <a:p>
            <a:pPr marL="0" marR="0" lvl="0"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"Volvo"</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"BMW"</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CE9178"/>
                </a:solidFill>
                <a:latin typeface="Consolas"/>
                <a:ea typeface="Consolas"/>
                <a:cs typeface="Consolas"/>
                <a:sym typeface="Consolas"/>
              </a:rPr>
              <a:t>  "Toyota“</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1"/>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Numeric Arrays</a:t>
            </a:r>
            <a:endParaRPr b="1"/>
          </a:p>
        </p:txBody>
      </p:sp>
      <p:sp>
        <p:nvSpPr>
          <p:cNvPr id="541" name="Google Shape;541;p51"/>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42" name="Google Shape;542;p51"/>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3" name="Google Shape;543;p51"/>
          <p:cNvSpPr txBox="1"/>
          <p:nvPr/>
        </p:nvSpPr>
        <p:spPr>
          <a:xfrm>
            <a:off x="531159" y="867335"/>
            <a:ext cx="8169088" cy="523220"/>
          </a:xfrm>
          <a:prstGeom prst="rect">
            <a:avLst/>
          </a:prstGeom>
          <a:noFill/>
          <a:ln w="9525" cap="flat" cmpd="sng">
            <a:solidFill>
              <a:srgbClr val="C9B1F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 numeric array stores each array element with a numeric index.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There are two methods to create a numeric array.</a:t>
            </a:r>
            <a:endParaRPr/>
          </a:p>
        </p:txBody>
      </p:sp>
      <p:sp>
        <p:nvSpPr>
          <p:cNvPr id="544" name="Google Shape;544;p51"/>
          <p:cNvSpPr txBox="1"/>
          <p:nvPr/>
        </p:nvSpPr>
        <p:spPr>
          <a:xfrm>
            <a:off x="995082" y="1531677"/>
            <a:ext cx="3812241" cy="28931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&lt;?php</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6A9955"/>
                </a:solidFill>
                <a:latin typeface="Consolas"/>
                <a:ea typeface="Consolas"/>
                <a:cs typeface="Consolas"/>
                <a:sym typeface="Consolas"/>
              </a:rPr>
              <a:t>//using Foreach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9CDCFE"/>
                </a:solidFill>
                <a:latin typeface="Consolas"/>
                <a:ea typeface="Consolas"/>
                <a:cs typeface="Consolas"/>
                <a:sym typeface="Consolas"/>
              </a:rPr>
              <a:t>$cars</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array</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"Juan"</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"Pedro"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"Fernando"</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"Using for each&lt;br&gt;"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C586C0"/>
                </a:solidFill>
                <a:latin typeface="Consolas"/>
                <a:ea typeface="Consolas"/>
                <a:cs typeface="Consolas"/>
                <a:sym typeface="Consolas"/>
              </a:rPr>
              <a:t>foreach</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$cars</a:t>
            </a:r>
            <a:r>
              <a:rPr lang="en-US" sz="1200" b="0" i="0" u="none" strike="noStrike" cap="none">
                <a:solidFill>
                  <a:srgbClr val="D4D4D4"/>
                </a:solidFill>
                <a:latin typeface="Consolas"/>
                <a:ea typeface="Consolas"/>
                <a:cs typeface="Consolas"/>
                <a:sym typeface="Consolas"/>
              </a:rPr>
              <a:t> as </a:t>
            </a:r>
            <a:r>
              <a:rPr lang="en-US" sz="1200" b="0" i="0" u="none" strike="noStrike" cap="none">
                <a:solidFill>
                  <a:srgbClr val="9CDCFE"/>
                </a:solidFill>
                <a:latin typeface="Consolas"/>
                <a:ea typeface="Consolas"/>
                <a:cs typeface="Consolas"/>
                <a:sym typeface="Consolas"/>
              </a:rPr>
              <a:t>$value</a:t>
            </a:r>
            <a:r>
              <a:rPr lang="en-US" sz="1200" b="0" i="0" u="none" strike="noStrike" cap="none">
                <a:solidFill>
                  <a:srgbClr val="D4D4D4"/>
                </a:solidFill>
                <a:latin typeface="Consolas"/>
                <a:ea typeface="Consolas"/>
                <a:cs typeface="Consolas"/>
                <a:sym typeface="Consolas"/>
              </a:rPr>
              <a:t>){</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"Value: "</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$value</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CE9178"/>
                </a:solidFill>
                <a:latin typeface="Consolas"/>
                <a:ea typeface="Consolas"/>
                <a:cs typeface="Consolas"/>
                <a:sym typeface="Consolas"/>
              </a:rPr>
              <a:t>"&lt;br /&gt;"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6A9955"/>
                </a:solidFill>
                <a:latin typeface="Consolas"/>
                <a:ea typeface="Consolas"/>
                <a:cs typeface="Consolas"/>
                <a:sym typeface="Consolas"/>
              </a:rPr>
              <a:t>//using loop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"&lt;hr&gt;Using Loop&lt;br&gt;"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C586C0"/>
                </a:solidFill>
                <a:latin typeface="Consolas"/>
                <a:ea typeface="Consolas"/>
                <a:cs typeface="Consolas"/>
                <a:sym typeface="Consolas"/>
              </a:rPr>
              <a:t>for</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B5CEA8"/>
                </a:solidFill>
                <a:latin typeface="Consolas"/>
                <a:ea typeface="Consolas"/>
                <a:cs typeface="Consolas"/>
                <a:sym typeface="Consolas"/>
              </a:rPr>
              <a:t>0</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&lt;=</a:t>
            </a:r>
            <a:r>
              <a:rPr lang="en-US" sz="1200" b="0" i="0" u="none" strike="noStrike" cap="none">
                <a:solidFill>
                  <a:srgbClr val="B5CEA8"/>
                </a:solidFill>
                <a:latin typeface="Consolas"/>
                <a:ea typeface="Consolas"/>
                <a:cs typeface="Consolas"/>
                <a:sym typeface="Consolas"/>
              </a:rPr>
              <a:t>2</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"Car:[</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CE9178"/>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9CDCFE"/>
                </a:solidFill>
                <a:latin typeface="Consolas"/>
                <a:ea typeface="Consolas"/>
                <a:cs typeface="Consolas"/>
                <a:sym typeface="Consolas"/>
              </a:rPr>
              <a:t>$cars</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CE9178"/>
                </a:solidFill>
                <a:latin typeface="Consolas"/>
                <a:ea typeface="Consolas"/>
                <a:cs typeface="Consolas"/>
                <a:sym typeface="Consolas"/>
              </a:rPr>
              <a:t>"&lt;br /&gt;"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?&gt;</a:t>
            </a:r>
            <a:endParaRPr sz="1200" b="0" i="0" u="none" strike="noStrike" cap="none">
              <a:solidFill>
                <a:srgbClr val="CCCCCC"/>
              </a:solidFill>
              <a:latin typeface="Consolas"/>
              <a:ea typeface="Consolas"/>
              <a:cs typeface="Consolas"/>
              <a:sym typeface="Consolas"/>
            </a:endParaRPr>
          </a:p>
        </p:txBody>
      </p:sp>
      <p:pic>
        <p:nvPicPr>
          <p:cNvPr id="545" name="Google Shape;545;p51"/>
          <p:cNvPicPr preferRelativeResize="0"/>
          <p:nvPr/>
        </p:nvPicPr>
        <p:blipFill rotWithShape="1">
          <a:blip r:embed="rId3">
            <a:alphaModFix/>
          </a:blip>
          <a:srcRect/>
          <a:stretch/>
        </p:blipFill>
        <p:spPr>
          <a:xfrm>
            <a:off x="5649988" y="2200059"/>
            <a:ext cx="1524000" cy="17430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52"/>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Associative Arrays </a:t>
            </a:r>
            <a:endParaRPr b="1"/>
          </a:p>
        </p:txBody>
      </p:sp>
      <p:sp>
        <p:nvSpPr>
          <p:cNvPr id="551" name="Google Shape;551;p5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52" name="Google Shape;552;p5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3" name="Google Shape;553;p52"/>
          <p:cNvSpPr txBox="1"/>
          <p:nvPr/>
        </p:nvSpPr>
        <p:spPr>
          <a:xfrm>
            <a:off x="457200" y="813547"/>
            <a:ext cx="8458946" cy="89716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b="0" i="0" u="none" strike="noStrike" cap="none">
                <a:solidFill>
                  <a:srgbClr val="000000"/>
                </a:solidFill>
                <a:latin typeface="Poppins"/>
                <a:ea typeface="Poppins"/>
                <a:cs typeface="Poppins"/>
                <a:sym typeface="Poppins"/>
              </a:rPr>
              <a:t>• With an associative array, each ID key is associated with a value. </a:t>
            </a:r>
            <a:endParaRPr/>
          </a:p>
          <a:p>
            <a:pPr marL="0" marR="0" lvl="0" indent="0" algn="l" rtl="0">
              <a:lnSpc>
                <a:spcPct val="150000"/>
              </a:lnSpc>
              <a:spcBef>
                <a:spcPts val="0"/>
              </a:spcBef>
              <a:spcAft>
                <a:spcPts val="0"/>
              </a:spcAft>
              <a:buNone/>
            </a:pPr>
            <a:r>
              <a:rPr lang="en-US" sz="1200" b="0" i="0" u="none" strike="noStrike" cap="none">
                <a:solidFill>
                  <a:srgbClr val="000000"/>
                </a:solidFill>
                <a:latin typeface="Poppins"/>
                <a:ea typeface="Poppins"/>
                <a:cs typeface="Poppins"/>
                <a:sym typeface="Poppins"/>
              </a:rPr>
              <a:t>• When storing data about specific named values, a numerical array is not always the best way to do it. </a:t>
            </a:r>
            <a:endParaRPr/>
          </a:p>
          <a:p>
            <a:pPr marL="0" marR="0" lvl="0" indent="0" algn="l" rtl="0">
              <a:lnSpc>
                <a:spcPct val="150000"/>
              </a:lnSpc>
              <a:spcBef>
                <a:spcPts val="0"/>
              </a:spcBef>
              <a:spcAft>
                <a:spcPts val="0"/>
              </a:spcAft>
              <a:buNone/>
            </a:pPr>
            <a:r>
              <a:rPr lang="en-US" sz="1200" b="0" i="0" u="none" strike="noStrike" cap="none">
                <a:solidFill>
                  <a:srgbClr val="000000"/>
                </a:solidFill>
                <a:latin typeface="Poppins"/>
                <a:ea typeface="Poppins"/>
                <a:cs typeface="Poppins"/>
                <a:sym typeface="Poppins"/>
              </a:rPr>
              <a:t>• With associative arrays we can use the values as keys and assign values to them.</a:t>
            </a:r>
            <a:endParaRPr/>
          </a:p>
        </p:txBody>
      </p:sp>
      <p:sp>
        <p:nvSpPr>
          <p:cNvPr id="554" name="Google Shape;554;p52"/>
          <p:cNvSpPr txBox="1"/>
          <p:nvPr/>
        </p:nvSpPr>
        <p:spPr>
          <a:xfrm>
            <a:off x="331200" y="1801518"/>
            <a:ext cx="78530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In this example we use an array to assign ages to the different persons:</a:t>
            </a:r>
            <a:endParaRPr/>
          </a:p>
        </p:txBody>
      </p:sp>
      <p:sp>
        <p:nvSpPr>
          <p:cNvPr id="555" name="Google Shape;555;p52"/>
          <p:cNvSpPr txBox="1"/>
          <p:nvPr/>
        </p:nvSpPr>
        <p:spPr>
          <a:xfrm>
            <a:off x="638735" y="2146818"/>
            <a:ext cx="7866530" cy="52322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$ages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"Pedro"</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20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"Juan"</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22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"Fernando"</a:t>
            </a:r>
            <a:r>
              <a:rPr lang="en-US" sz="1400" b="0" i="0" u="none" strike="noStrike" cap="none">
                <a:solidFill>
                  <a:srgbClr val="D4D4D4"/>
                </a:solidFill>
                <a:latin typeface="Consolas"/>
                <a:ea typeface="Consolas"/>
                <a:cs typeface="Consolas"/>
                <a:sym typeface="Consolas"/>
              </a:rPr>
              <a:t>=&gt;</a:t>
            </a:r>
            <a:r>
              <a:rPr lang="en-US" sz="1400" b="0" i="0" u="none" strike="noStrike" cap="none">
                <a:solidFill>
                  <a:srgbClr val="B5CEA8"/>
                </a:solidFill>
                <a:latin typeface="Consolas"/>
                <a:ea typeface="Consolas"/>
                <a:cs typeface="Consolas"/>
                <a:sym typeface="Consolas"/>
              </a:rPr>
              <a:t>32</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var_dump</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$ages</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p:txBody>
      </p:sp>
      <p:sp>
        <p:nvSpPr>
          <p:cNvPr id="556" name="Google Shape;556;p52"/>
          <p:cNvSpPr txBox="1"/>
          <p:nvPr/>
        </p:nvSpPr>
        <p:spPr>
          <a:xfrm>
            <a:off x="531159" y="2838858"/>
            <a:ext cx="8175812" cy="116955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dk1"/>
                </a:solidFill>
                <a:latin typeface="Arial"/>
                <a:ea typeface="Arial"/>
                <a:cs typeface="Arial"/>
                <a:sym typeface="Arial"/>
              </a:rPr>
              <a:t>This example is the same as the one above, but shows a different way of creating the array: </a:t>
            </a:r>
            <a:endParaRPr/>
          </a:p>
          <a:p>
            <a:pPr marL="0" marR="0" lvl="0" indent="0" algn="l"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$ages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"Pedro"</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"20"</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$ages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"Juan"</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"22"</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$ages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"Fernando"</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"32"</a:t>
            </a:r>
            <a:r>
              <a:rPr lang="en-US" sz="1400" b="0" i="0" u="none" strike="noStrike" cap="none">
                <a:solidFill>
                  <a:srgbClr val="D4D4D4"/>
                </a:solidFill>
                <a:latin typeface="Consolas"/>
                <a:ea typeface="Consolas"/>
                <a:cs typeface="Consolas"/>
                <a:sym typeface="Consolas"/>
              </a:rPr>
              <a:t>; </a:t>
            </a:r>
            <a:endParaRPr/>
          </a:p>
        </p:txBody>
      </p:sp>
      <p:sp>
        <p:nvSpPr>
          <p:cNvPr id="557" name="Google Shape;557;p52"/>
          <p:cNvSpPr txBox="1"/>
          <p:nvPr/>
        </p:nvSpPr>
        <p:spPr>
          <a:xfrm>
            <a:off x="457200" y="4125676"/>
            <a:ext cx="643441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Then the ID keys can be used in a script to display the data</a:t>
            </a:r>
            <a:endParaRPr/>
          </a:p>
        </p:txBody>
      </p:sp>
      <p:sp>
        <p:nvSpPr>
          <p:cNvPr id="558" name="Google Shape;558;p52"/>
          <p:cNvSpPr txBox="1"/>
          <p:nvPr/>
        </p:nvSpPr>
        <p:spPr>
          <a:xfrm>
            <a:off x="531159" y="4433453"/>
            <a:ext cx="506954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$ages["Pedro"];</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53"/>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Associative Arrays </a:t>
            </a:r>
            <a:endParaRPr b="1"/>
          </a:p>
        </p:txBody>
      </p:sp>
      <p:sp>
        <p:nvSpPr>
          <p:cNvPr id="564" name="Google Shape;564;p5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65" name="Google Shape;565;p5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6" name="Google Shape;566;p53"/>
          <p:cNvSpPr txBox="1"/>
          <p:nvPr/>
        </p:nvSpPr>
        <p:spPr>
          <a:xfrm>
            <a:off x="467355" y="801241"/>
            <a:ext cx="6588111" cy="397031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9CDCFE"/>
                </a:solidFill>
                <a:latin typeface="Consolas"/>
                <a:ea typeface="Consolas"/>
                <a:cs typeface="Consolas"/>
                <a:sym typeface="Consolas"/>
              </a:rPr>
              <a:t>$ages</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array</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"Pedro"</a:t>
            </a:r>
            <a:r>
              <a:rPr lang="en-US" sz="1200" b="0" i="0" u="none" strike="noStrike" cap="none">
                <a:solidFill>
                  <a:srgbClr val="D4D4D4"/>
                </a:solidFill>
                <a:latin typeface="Consolas"/>
                <a:ea typeface="Consolas"/>
                <a:cs typeface="Consolas"/>
                <a:sym typeface="Consolas"/>
              </a:rPr>
              <a:t>=&gt;</a:t>
            </a:r>
            <a:r>
              <a:rPr lang="en-US" sz="1200" b="0" i="0" u="none" strike="noStrike" cap="none">
                <a:solidFill>
                  <a:srgbClr val="B5CEA8"/>
                </a:solidFill>
                <a:latin typeface="Consolas"/>
                <a:ea typeface="Consolas"/>
                <a:cs typeface="Consolas"/>
                <a:sym typeface="Consolas"/>
              </a:rPr>
              <a:t>20</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"Juan"</a:t>
            </a:r>
            <a:r>
              <a:rPr lang="en-US" sz="1200" b="0" i="0" u="none" strike="noStrike" cap="none">
                <a:solidFill>
                  <a:srgbClr val="D4D4D4"/>
                </a:solidFill>
                <a:latin typeface="Consolas"/>
                <a:ea typeface="Consolas"/>
                <a:cs typeface="Consolas"/>
                <a:sym typeface="Consolas"/>
              </a:rPr>
              <a:t>=&gt;</a:t>
            </a:r>
            <a:r>
              <a:rPr lang="en-US" sz="1200" b="0" i="0" u="none" strike="noStrike" cap="none">
                <a:solidFill>
                  <a:srgbClr val="B5CEA8"/>
                </a:solidFill>
                <a:latin typeface="Consolas"/>
                <a:ea typeface="Consolas"/>
                <a:cs typeface="Consolas"/>
                <a:sym typeface="Consolas"/>
              </a:rPr>
              <a:t>21</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"Fernando"</a:t>
            </a:r>
            <a:r>
              <a:rPr lang="en-US" sz="1200" b="0" i="0" u="none" strike="noStrike" cap="none">
                <a:solidFill>
                  <a:srgbClr val="D4D4D4"/>
                </a:solidFill>
                <a:latin typeface="Consolas"/>
                <a:ea typeface="Consolas"/>
                <a:cs typeface="Consolas"/>
                <a:sym typeface="Consolas"/>
              </a:rPr>
              <a:t>=&gt;</a:t>
            </a:r>
            <a:r>
              <a:rPr lang="en-US" sz="1200" b="0" i="0" u="none" strike="noStrike" cap="none">
                <a:solidFill>
                  <a:srgbClr val="B5CEA8"/>
                </a:solidFill>
                <a:latin typeface="Consolas"/>
                <a:ea typeface="Consolas"/>
                <a:cs typeface="Consolas"/>
                <a:sym typeface="Consolas"/>
              </a:rPr>
              <a:t>32</a:t>
            </a:r>
            <a:r>
              <a:rPr lang="en-US" sz="1200" b="0" i="0" u="none" strike="noStrike" cap="none">
                <a:solidFill>
                  <a:srgbClr val="D4D4D4"/>
                </a:solidFill>
                <a:latin typeface="Consolas"/>
                <a:ea typeface="Consolas"/>
                <a:cs typeface="Consolas"/>
                <a:sym typeface="Consolas"/>
              </a:rPr>
              <a:t>);</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'Pedro age is: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$ages</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"Pedro"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6A9955"/>
                </a:solidFill>
                <a:latin typeface="Consolas"/>
                <a:ea typeface="Consolas"/>
                <a:cs typeface="Consolas"/>
                <a:sym typeface="Consolas"/>
              </a:rPr>
              <a:t>//display age of pedro which is 20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'&lt;br&gt;'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'&lt;hr&gt;loop and display the keys only&lt;hr&gt;'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9CDCFE"/>
                </a:solidFill>
                <a:latin typeface="Consolas"/>
                <a:ea typeface="Consolas"/>
                <a:cs typeface="Consolas"/>
                <a:sym typeface="Consolas"/>
              </a:rPr>
              <a:t>$keys</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DCDCAA"/>
                </a:solidFill>
                <a:latin typeface="Consolas"/>
                <a:ea typeface="Consolas"/>
                <a:cs typeface="Consolas"/>
                <a:sym typeface="Consolas"/>
              </a:rPr>
              <a:t>array_keys</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$ages</a:t>
            </a:r>
            <a:r>
              <a:rPr lang="en-US" sz="1200" b="0" i="0" u="none" strike="noStrike" cap="none">
                <a:solidFill>
                  <a:srgbClr val="D4D4D4"/>
                </a:solidFill>
                <a:latin typeface="Consolas"/>
                <a:ea typeface="Consolas"/>
                <a:cs typeface="Consolas"/>
                <a:sym typeface="Consolas"/>
              </a:rPr>
              <a:t>);</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C586C0"/>
                </a:solidFill>
                <a:latin typeface="Consolas"/>
                <a:ea typeface="Consolas"/>
                <a:cs typeface="Consolas"/>
                <a:sym typeface="Consolas"/>
              </a:rPr>
              <a:t>foreach</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$keys</a:t>
            </a:r>
            <a:r>
              <a:rPr lang="en-US" sz="1200" b="0" i="0" u="none" strike="noStrike" cap="none">
                <a:solidFill>
                  <a:srgbClr val="D4D4D4"/>
                </a:solidFill>
                <a:latin typeface="Consolas"/>
                <a:ea typeface="Consolas"/>
                <a:cs typeface="Consolas"/>
                <a:sym typeface="Consolas"/>
              </a:rPr>
              <a:t> as </a:t>
            </a:r>
            <a:r>
              <a:rPr lang="en-US" sz="1200" b="0" i="0" u="none" strike="noStrike" cap="none">
                <a:solidFill>
                  <a:srgbClr val="9CDCFE"/>
                </a:solidFill>
                <a:latin typeface="Consolas"/>
                <a:ea typeface="Consolas"/>
                <a:cs typeface="Consolas"/>
                <a:sym typeface="Consolas"/>
              </a:rPr>
              <a:t>$key</a:t>
            </a:r>
            <a:r>
              <a:rPr lang="en-US" sz="1200" b="0" i="0" u="none" strike="noStrike" cap="none">
                <a:solidFill>
                  <a:srgbClr val="D4D4D4"/>
                </a:solidFill>
                <a:latin typeface="Consolas"/>
                <a:ea typeface="Consolas"/>
                <a:cs typeface="Consolas"/>
                <a:sym typeface="Consolas"/>
              </a:rPr>
              <a:t>) {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$key</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"&lt;br&gt;"</a:t>
            </a:r>
            <a:r>
              <a:rPr lang="en-US" sz="12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endParaRPr sz="1200" b="0" i="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'&lt;hr&gt;loop with it and display the value&lt;hr&gt;’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C586C0"/>
                </a:solidFill>
                <a:latin typeface="Consolas"/>
                <a:ea typeface="Consolas"/>
                <a:cs typeface="Consolas"/>
                <a:sym typeface="Consolas"/>
              </a:rPr>
              <a:t>foreach</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$ages</a:t>
            </a:r>
            <a:r>
              <a:rPr lang="en-US" sz="1200" b="0" i="0" u="none" strike="noStrike" cap="none">
                <a:solidFill>
                  <a:srgbClr val="D4D4D4"/>
                </a:solidFill>
                <a:latin typeface="Consolas"/>
                <a:ea typeface="Consolas"/>
                <a:cs typeface="Consolas"/>
                <a:sym typeface="Consolas"/>
              </a:rPr>
              <a:t> as </a:t>
            </a:r>
            <a:r>
              <a:rPr lang="en-US" sz="1200" b="0" i="0" u="none" strike="noStrike" cap="none">
                <a:solidFill>
                  <a:srgbClr val="9CDCFE"/>
                </a:solidFill>
                <a:latin typeface="Consolas"/>
                <a:ea typeface="Consolas"/>
                <a:cs typeface="Consolas"/>
                <a:sym typeface="Consolas"/>
              </a:rPr>
              <a:t>$key</a:t>
            </a:r>
            <a:r>
              <a:rPr lang="en-US" sz="1200" b="0" i="0" u="none" strike="noStrike" cap="none">
                <a:solidFill>
                  <a:srgbClr val="D4D4D4"/>
                </a:solidFill>
                <a:latin typeface="Consolas"/>
                <a:ea typeface="Consolas"/>
                <a:cs typeface="Consolas"/>
                <a:sym typeface="Consolas"/>
              </a:rPr>
              <a:t> =&gt; </a:t>
            </a:r>
            <a:r>
              <a:rPr lang="en-US" sz="1200" b="0" i="0" u="none" strike="noStrike" cap="none">
                <a:solidFill>
                  <a:srgbClr val="9CDCFE"/>
                </a:solidFill>
                <a:latin typeface="Consolas"/>
                <a:ea typeface="Consolas"/>
                <a:cs typeface="Consolas"/>
                <a:sym typeface="Consolas"/>
              </a:rPr>
              <a:t>$value</a:t>
            </a:r>
            <a:r>
              <a:rPr lang="en-US" sz="1200" b="0" i="0" u="none" strike="noStrike" cap="none">
                <a:solidFill>
                  <a:srgbClr val="D4D4D4"/>
                </a:solidFill>
                <a:latin typeface="Consolas"/>
                <a:ea typeface="Consolas"/>
                <a:cs typeface="Consolas"/>
                <a:sym typeface="Consolas"/>
              </a:rPr>
              <a:t>)  {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$key</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9CDCFE"/>
                </a:solidFill>
                <a:latin typeface="Consolas"/>
                <a:ea typeface="Consolas"/>
                <a:cs typeface="Consolas"/>
                <a:sym typeface="Consolas"/>
              </a:rPr>
              <a:t>$value</a:t>
            </a:r>
            <a:r>
              <a:rPr lang="en-US" sz="1200" b="0" i="0" u="none" strike="noStrike" cap="none">
                <a:solidFill>
                  <a:srgbClr val="D4D4D4"/>
                </a:solidFill>
                <a:latin typeface="Consolas"/>
                <a:ea typeface="Consolas"/>
                <a:cs typeface="Consolas"/>
                <a:sym typeface="Consolas"/>
              </a:rPr>
              <a:t> . </a:t>
            </a:r>
            <a:r>
              <a:rPr lang="en-US" sz="1200" b="0" i="0" u="none" strike="noStrike" cap="none">
                <a:solidFill>
                  <a:srgbClr val="CE9178"/>
                </a:solidFill>
                <a:latin typeface="Consolas"/>
                <a:ea typeface="Consolas"/>
                <a:cs typeface="Consolas"/>
                <a:sym typeface="Consolas"/>
              </a:rPr>
              <a:t>"&lt;br&gt;"</a:t>
            </a:r>
            <a:r>
              <a:rPr lang="en-US" sz="12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a:t>
            </a:r>
            <a:endParaRPr/>
          </a:p>
        </p:txBody>
      </p:sp>
      <p:pic>
        <p:nvPicPr>
          <p:cNvPr id="567" name="Google Shape;567;p53"/>
          <p:cNvPicPr preferRelativeResize="0"/>
          <p:nvPr/>
        </p:nvPicPr>
        <p:blipFill rotWithShape="1">
          <a:blip r:embed="rId3">
            <a:alphaModFix/>
          </a:blip>
          <a:srcRect/>
          <a:stretch/>
        </p:blipFill>
        <p:spPr>
          <a:xfrm>
            <a:off x="5890765" y="2628760"/>
            <a:ext cx="2465788" cy="211717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4"/>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Multidimensional Arrays </a:t>
            </a:r>
            <a:endParaRPr b="1"/>
          </a:p>
        </p:txBody>
      </p:sp>
      <p:sp>
        <p:nvSpPr>
          <p:cNvPr id="573" name="Google Shape;573;p5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74" name="Google Shape;574;p5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5" name="Google Shape;575;p54"/>
          <p:cNvSpPr txBox="1"/>
          <p:nvPr/>
        </p:nvSpPr>
        <p:spPr>
          <a:xfrm>
            <a:off x="652182" y="927847"/>
            <a:ext cx="7927042" cy="175432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Poppins"/>
                <a:ea typeface="Poppins"/>
                <a:cs typeface="Poppins"/>
                <a:sym typeface="Poppins"/>
              </a:rPr>
              <a:t>A multidimensional array is an array containing one or more arrays.</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Poppins"/>
              <a:ea typeface="Poppins"/>
              <a:cs typeface="Poppins"/>
              <a:sym typeface="Poppins"/>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Poppins"/>
                <a:ea typeface="Poppins"/>
                <a:cs typeface="Poppins"/>
                <a:sym typeface="Poppins"/>
              </a:rPr>
              <a:t>PHP supports multidimensional arrays that are two, three, four, five, or more levels deep. However, arrays more than three levels deep are hard to manage for most people.</a:t>
            </a:r>
            <a:endParaRPr/>
          </a:p>
        </p:txBody>
      </p:sp>
      <p:sp>
        <p:nvSpPr>
          <p:cNvPr id="576" name="Google Shape;576;p54"/>
          <p:cNvSpPr txBox="1"/>
          <p:nvPr/>
        </p:nvSpPr>
        <p:spPr>
          <a:xfrm>
            <a:off x="608479" y="2926020"/>
            <a:ext cx="7927042" cy="1815882"/>
          </a:xfrm>
          <a:prstGeom prst="rect">
            <a:avLst/>
          </a:prstGeom>
          <a:noFill/>
          <a:ln w="9525" cap="flat" cmpd="sng">
            <a:solidFill>
              <a:srgbClr val="C9B1F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Verdana"/>
                <a:ea typeface="Verdana"/>
                <a:cs typeface="Verdana"/>
                <a:sym typeface="Verdana"/>
              </a:rPr>
              <a:t>The dimension of an array indicates the number of indices you need to select an element.</a:t>
            </a:r>
            <a:endParaRPr/>
          </a:p>
          <a:p>
            <a:pPr marL="0" marR="0" lvl="0" indent="0" algn="l" rtl="0">
              <a:lnSpc>
                <a:spcPct val="100000"/>
              </a:lnSpc>
              <a:spcBef>
                <a:spcPts val="0"/>
              </a:spcBef>
              <a:spcAft>
                <a:spcPts val="0"/>
              </a:spcAft>
              <a:buNone/>
            </a:pPr>
            <a:endParaRPr sz="1600" b="0" i="0" u="none" strike="noStrike" cap="none">
              <a:solidFill>
                <a:srgbClr val="000000"/>
              </a:solidFill>
              <a:latin typeface="Verdana"/>
              <a:ea typeface="Verdana"/>
              <a:cs typeface="Verdana"/>
              <a:sym typeface="Verdana"/>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Verdana"/>
                <a:ea typeface="Verdana"/>
                <a:cs typeface="Verdana"/>
                <a:sym typeface="Verdana"/>
              </a:rPr>
              <a:t>For a two-dimensional array you need two indices to select an element</a:t>
            </a:r>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Verdana"/>
                <a:ea typeface="Verdana"/>
                <a:cs typeface="Verdana"/>
                <a:sym typeface="Verdana"/>
              </a:rPr>
              <a:t>For a three-dimensional array you need three indices to select an element</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5"/>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 Two-dimensional Arrays</a:t>
            </a:r>
            <a:br>
              <a:rPr lang="en-US" i="0">
                <a:solidFill>
                  <a:schemeClr val="dk1"/>
                </a:solidFill>
              </a:rPr>
            </a:br>
            <a:br>
              <a:rPr lang="en-US">
                <a:solidFill>
                  <a:schemeClr val="dk1"/>
                </a:solidFill>
              </a:rPr>
            </a:br>
            <a:endParaRPr>
              <a:solidFill>
                <a:schemeClr val="dk1"/>
              </a:solidFill>
            </a:endParaRPr>
          </a:p>
        </p:txBody>
      </p:sp>
      <p:sp>
        <p:nvSpPr>
          <p:cNvPr id="582" name="Google Shape;582;p5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83" name="Google Shape;583;p5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84" name="Google Shape;584;p55"/>
          <p:cNvPicPr preferRelativeResize="0"/>
          <p:nvPr/>
        </p:nvPicPr>
        <p:blipFill rotWithShape="1">
          <a:blip r:embed="rId3">
            <a:alphaModFix/>
          </a:blip>
          <a:srcRect/>
          <a:stretch/>
        </p:blipFill>
        <p:spPr>
          <a:xfrm>
            <a:off x="752029" y="1505503"/>
            <a:ext cx="7563971" cy="1280897"/>
          </a:xfrm>
          <a:prstGeom prst="rect">
            <a:avLst/>
          </a:prstGeom>
          <a:noFill/>
          <a:ln>
            <a:noFill/>
          </a:ln>
        </p:spPr>
      </p:pic>
      <p:sp>
        <p:nvSpPr>
          <p:cNvPr id="585" name="Google Shape;585;p55"/>
          <p:cNvSpPr txBox="1"/>
          <p:nvPr/>
        </p:nvSpPr>
        <p:spPr>
          <a:xfrm>
            <a:off x="533381" y="3281032"/>
            <a:ext cx="3693019" cy="138499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"Volvo"</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18</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"BMW"</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15</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13</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"Saab"</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array</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"Land Rover"</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17</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15</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p:txBody>
      </p:sp>
      <p:sp>
        <p:nvSpPr>
          <p:cNvPr id="586" name="Google Shape;586;p55"/>
          <p:cNvSpPr txBox="1"/>
          <p:nvPr/>
        </p:nvSpPr>
        <p:spPr>
          <a:xfrm>
            <a:off x="533382" y="714028"/>
            <a:ext cx="780379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A two-dimensional array is an array of arrays (a three-dimensional array is an array of arrays of arrays).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First, take a look at the following table:</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7" name="Google Shape;587;p55"/>
          <p:cNvSpPr txBox="1"/>
          <p:nvPr/>
        </p:nvSpPr>
        <p:spPr>
          <a:xfrm>
            <a:off x="653293" y="2909135"/>
            <a:ext cx="7998777"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We can store the data from the table above in a two-dimensional array, like this:</a:t>
            </a:r>
            <a:endParaRPr/>
          </a:p>
          <a:p>
            <a:pPr marL="0" marR="0" lvl="0" indent="0" algn="l" rtl="0">
              <a:lnSpc>
                <a:spcPct val="100000"/>
              </a:lnSpc>
              <a:spcBef>
                <a:spcPts val="0"/>
              </a:spcBef>
              <a:spcAft>
                <a:spcPts val="0"/>
              </a:spcAft>
              <a:buNone/>
            </a:pP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56"/>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 Two-dimensional Arrays</a:t>
            </a:r>
            <a:br>
              <a:rPr lang="en-US" i="0">
                <a:solidFill>
                  <a:schemeClr val="dk1"/>
                </a:solidFill>
              </a:rPr>
            </a:br>
            <a:br>
              <a:rPr lang="en-US">
                <a:solidFill>
                  <a:schemeClr val="dk1"/>
                </a:solidFill>
              </a:rPr>
            </a:br>
            <a:endParaRPr>
              <a:solidFill>
                <a:schemeClr val="dk1"/>
              </a:solidFill>
            </a:endParaRPr>
          </a:p>
        </p:txBody>
      </p:sp>
      <p:sp>
        <p:nvSpPr>
          <p:cNvPr id="593" name="Google Shape;593;p5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594" name="Google Shape;594;p5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95" name="Google Shape;595;p56"/>
          <p:cNvSpPr txBox="1"/>
          <p:nvPr/>
        </p:nvSpPr>
        <p:spPr>
          <a:xfrm>
            <a:off x="432290" y="2027248"/>
            <a:ext cx="8302073" cy="95410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In stock: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sold: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In stock: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sold: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In stock: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sold: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3</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In stock: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3</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 sold: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$cars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3</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p:txBody>
      </p:sp>
      <p:sp>
        <p:nvSpPr>
          <p:cNvPr id="596" name="Google Shape;596;p56"/>
          <p:cNvSpPr txBox="1"/>
          <p:nvPr/>
        </p:nvSpPr>
        <p:spPr>
          <a:xfrm>
            <a:off x="533382" y="714028"/>
            <a:ext cx="780379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Now the two-dimensional $cars array contains four arrays, and it has two indices: row and column.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To get access to the elements of the $cars array we must point to the two indices (row and column):</a:t>
            </a:r>
            <a:endParaRPr/>
          </a:p>
        </p:txBody>
      </p:sp>
      <p:pic>
        <p:nvPicPr>
          <p:cNvPr id="597" name="Google Shape;597;p56"/>
          <p:cNvPicPr preferRelativeResize="0"/>
          <p:nvPr/>
        </p:nvPicPr>
        <p:blipFill rotWithShape="1">
          <a:blip r:embed="rId3">
            <a:alphaModFix/>
          </a:blip>
          <a:srcRect/>
          <a:stretch/>
        </p:blipFill>
        <p:spPr>
          <a:xfrm>
            <a:off x="420963" y="3371599"/>
            <a:ext cx="3572813" cy="105619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7"/>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 Two-dimensional Arrays</a:t>
            </a:r>
            <a:br>
              <a:rPr lang="en-US" i="0">
                <a:solidFill>
                  <a:schemeClr val="dk1"/>
                </a:solidFill>
              </a:rPr>
            </a:br>
            <a:br>
              <a:rPr lang="en-US">
                <a:solidFill>
                  <a:schemeClr val="dk1"/>
                </a:solidFill>
              </a:rPr>
            </a:br>
            <a:endParaRPr b="1"/>
          </a:p>
        </p:txBody>
      </p:sp>
      <p:sp>
        <p:nvSpPr>
          <p:cNvPr id="603" name="Google Shape;603;p57"/>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04" name="Google Shape;604;p57"/>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05" name="Google Shape;605;p57"/>
          <p:cNvSpPr txBox="1"/>
          <p:nvPr/>
        </p:nvSpPr>
        <p:spPr>
          <a:xfrm>
            <a:off x="3901010" y="1735290"/>
            <a:ext cx="3112994" cy="302390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&lt;?php</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050" b="0" i="0" u="none" strike="noStrike" cap="none">
                <a:solidFill>
                  <a:srgbClr val="CCCCCC"/>
                </a:solidFill>
                <a:latin typeface="Consolas"/>
                <a:ea typeface="Consolas"/>
                <a:cs typeface="Consolas"/>
                <a:sym typeface="Consolas"/>
              </a:rPr>
            </a:br>
            <a:r>
              <a:rPr lang="en-US" sz="1050" b="0" i="0" u="none" strike="noStrike" cap="none">
                <a:solidFill>
                  <a:srgbClr val="9CDCFE"/>
                </a:solidFill>
                <a:latin typeface="Consolas"/>
                <a:ea typeface="Consolas"/>
                <a:cs typeface="Consolas"/>
                <a:sym typeface="Consolas"/>
              </a:rPr>
              <a:t>$cars</a:t>
            </a:r>
            <a:r>
              <a:rPr lang="en-US" sz="1050" b="0" i="0" u="none" strike="noStrike" cap="none">
                <a:solidFill>
                  <a:srgbClr val="D4D4D4"/>
                </a:solidFill>
                <a:latin typeface="Consolas"/>
                <a:ea typeface="Consolas"/>
                <a:cs typeface="Consolas"/>
                <a:sym typeface="Consolas"/>
              </a:rPr>
              <a:t> = </a:t>
            </a:r>
            <a:r>
              <a:rPr lang="en-US" sz="1050" b="0" i="0" u="none" strike="noStrike" cap="none">
                <a:solidFill>
                  <a:srgbClr val="DCDCAA"/>
                </a:solidFill>
                <a:latin typeface="Consolas"/>
                <a:ea typeface="Consolas"/>
                <a:cs typeface="Consolas"/>
                <a:sym typeface="Consolas"/>
              </a:rPr>
              <a:t>array</a:t>
            </a: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array</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CE9178"/>
                </a:solidFill>
                <a:latin typeface="Consolas"/>
                <a:ea typeface="Consolas"/>
                <a:cs typeface="Consolas"/>
                <a:sym typeface="Consolas"/>
              </a:rPr>
              <a:t>"Volvo"</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22</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18</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array</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CE9178"/>
                </a:solidFill>
                <a:latin typeface="Consolas"/>
                <a:ea typeface="Consolas"/>
                <a:cs typeface="Consolas"/>
                <a:sym typeface="Consolas"/>
              </a:rPr>
              <a:t>"BMW"</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15</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13</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array</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CE9178"/>
                </a:solidFill>
                <a:latin typeface="Consolas"/>
                <a:ea typeface="Consolas"/>
                <a:cs typeface="Consolas"/>
                <a:sym typeface="Consolas"/>
              </a:rPr>
              <a:t>"Saab"</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5</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2</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array</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CE9178"/>
                </a:solidFill>
                <a:latin typeface="Consolas"/>
                <a:ea typeface="Consolas"/>
                <a:cs typeface="Consolas"/>
                <a:sym typeface="Consolas"/>
              </a:rPr>
              <a:t>"Land Rover"</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17</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B5CEA8"/>
                </a:solidFill>
                <a:latin typeface="Consolas"/>
                <a:ea typeface="Consolas"/>
                <a:cs typeface="Consolas"/>
                <a:sym typeface="Consolas"/>
              </a:rPr>
              <a:t>15</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050" b="0" i="0" u="none" strike="noStrike" cap="none">
                <a:solidFill>
                  <a:srgbClr val="CCCCCC"/>
                </a:solidFill>
                <a:latin typeface="Consolas"/>
                <a:ea typeface="Consolas"/>
                <a:cs typeface="Consolas"/>
                <a:sym typeface="Consolas"/>
              </a:rPr>
            </a:br>
            <a:r>
              <a:rPr lang="en-US" sz="1050" b="0" i="0" u="none" strike="noStrike" cap="none">
                <a:solidFill>
                  <a:srgbClr val="C586C0"/>
                </a:solidFill>
                <a:latin typeface="Consolas"/>
                <a:ea typeface="Consolas"/>
                <a:cs typeface="Consolas"/>
                <a:sym typeface="Consolas"/>
              </a:rPr>
              <a:t>for</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$row</a:t>
            </a:r>
            <a:r>
              <a:rPr lang="en-US" sz="1050" b="0" i="0" u="none" strike="noStrike" cap="none">
                <a:solidFill>
                  <a:srgbClr val="D4D4D4"/>
                </a:solidFill>
                <a:latin typeface="Consolas"/>
                <a:ea typeface="Consolas"/>
                <a:cs typeface="Consolas"/>
                <a:sym typeface="Consolas"/>
              </a:rPr>
              <a:t> = </a:t>
            </a:r>
            <a:r>
              <a:rPr lang="en-US" sz="1050" b="0" i="0" u="none" strike="noStrike" cap="none">
                <a:solidFill>
                  <a:srgbClr val="B5CEA8"/>
                </a:solidFill>
                <a:latin typeface="Consolas"/>
                <a:ea typeface="Consolas"/>
                <a:cs typeface="Consolas"/>
                <a:sym typeface="Consolas"/>
              </a:rPr>
              <a:t>0</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$row</a:t>
            </a:r>
            <a:r>
              <a:rPr lang="en-US" sz="1050" b="0" i="0" u="none" strike="noStrike" cap="none">
                <a:solidFill>
                  <a:srgbClr val="D4D4D4"/>
                </a:solidFill>
                <a:latin typeface="Consolas"/>
                <a:ea typeface="Consolas"/>
                <a:cs typeface="Consolas"/>
                <a:sym typeface="Consolas"/>
              </a:rPr>
              <a:t> &lt; </a:t>
            </a:r>
            <a:r>
              <a:rPr lang="en-US" sz="1050" b="0" i="0" u="none" strike="noStrike" cap="none">
                <a:solidFill>
                  <a:srgbClr val="B5CEA8"/>
                </a:solidFill>
                <a:latin typeface="Consolas"/>
                <a:ea typeface="Consolas"/>
                <a:cs typeface="Consolas"/>
                <a:sym typeface="Consolas"/>
              </a:rPr>
              <a:t>4</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$row</a:t>
            </a: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echo</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CE9178"/>
                </a:solidFill>
                <a:latin typeface="Consolas"/>
                <a:ea typeface="Consolas"/>
                <a:cs typeface="Consolas"/>
                <a:sym typeface="Consolas"/>
              </a:rPr>
              <a:t>"&lt;p&gt;&lt;b&gt;Row number </a:t>
            </a:r>
            <a:r>
              <a:rPr lang="en-US" sz="1050" b="0" i="0" u="none" strike="noStrike" cap="none">
                <a:solidFill>
                  <a:srgbClr val="9CDCFE"/>
                </a:solidFill>
                <a:latin typeface="Consolas"/>
                <a:ea typeface="Consolas"/>
                <a:cs typeface="Consolas"/>
                <a:sym typeface="Consolas"/>
              </a:rPr>
              <a:t>$row</a:t>
            </a:r>
            <a:r>
              <a:rPr lang="en-US" sz="1050" b="0" i="0" u="none" strike="noStrike" cap="none">
                <a:solidFill>
                  <a:srgbClr val="CE9178"/>
                </a:solidFill>
                <a:latin typeface="Consolas"/>
                <a:ea typeface="Consolas"/>
                <a:cs typeface="Consolas"/>
                <a:sym typeface="Consolas"/>
              </a:rPr>
              <a:t>&lt;/b&gt;&lt;/p&gt;"</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C586C0"/>
                </a:solidFill>
                <a:latin typeface="Consolas"/>
                <a:ea typeface="Consolas"/>
                <a:cs typeface="Consolas"/>
                <a:sym typeface="Consolas"/>
              </a:rPr>
              <a:t>for</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$col</a:t>
            </a:r>
            <a:r>
              <a:rPr lang="en-US" sz="1050" b="0" i="0" u="none" strike="noStrike" cap="none">
                <a:solidFill>
                  <a:srgbClr val="D4D4D4"/>
                </a:solidFill>
                <a:latin typeface="Consolas"/>
                <a:ea typeface="Consolas"/>
                <a:cs typeface="Consolas"/>
                <a:sym typeface="Consolas"/>
              </a:rPr>
              <a:t> = </a:t>
            </a:r>
            <a:r>
              <a:rPr lang="en-US" sz="1050" b="0" i="0" u="none" strike="noStrike" cap="none">
                <a:solidFill>
                  <a:srgbClr val="B5CEA8"/>
                </a:solidFill>
                <a:latin typeface="Consolas"/>
                <a:ea typeface="Consolas"/>
                <a:cs typeface="Consolas"/>
                <a:sym typeface="Consolas"/>
              </a:rPr>
              <a:t>0</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$col</a:t>
            </a:r>
            <a:r>
              <a:rPr lang="en-US" sz="1050" b="0" i="0" u="none" strike="noStrike" cap="none">
                <a:solidFill>
                  <a:srgbClr val="D4D4D4"/>
                </a:solidFill>
                <a:latin typeface="Consolas"/>
                <a:ea typeface="Consolas"/>
                <a:cs typeface="Consolas"/>
                <a:sym typeface="Consolas"/>
              </a:rPr>
              <a:t> &lt; </a:t>
            </a:r>
            <a:r>
              <a:rPr lang="en-US" sz="1050" b="0" i="0" u="none" strike="noStrike" cap="none">
                <a:solidFill>
                  <a:srgbClr val="B5CEA8"/>
                </a:solidFill>
                <a:latin typeface="Consolas"/>
                <a:ea typeface="Consolas"/>
                <a:cs typeface="Consolas"/>
                <a:sym typeface="Consolas"/>
              </a:rPr>
              <a:t>3</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$col</a:t>
            </a: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DCDCAA"/>
                </a:solidFill>
                <a:latin typeface="Consolas"/>
                <a:ea typeface="Consolas"/>
                <a:cs typeface="Consolas"/>
                <a:sym typeface="Consolas"/>
              </a:rPr>
              <a:t>echo</a:t>
            </a:r>
            <a:r>
              <a:rPr lang="en-US" sz="1050" b="0" i="0" u="none" strike="noStrike" cap="none">
                <a:solidFill>
                  <a:srgbClr val="D4D4D4"/>
                </a:solidFill>
                <a:latin typeface="Consolas"/>
                <a:ea typeface="Consolas"/>
                <a:cs typeface="Consolas"/>
                <a:sym typeface="Consolas"/>
              </a:rPr>
              <a:t> </a:t>
            </a:r>
            <a:r>
              <a:rPr lang="en-US" sz="1050" b="0" i="0" u="none" strike="noStrike" cap="none">
                <a:solidFill>
                  <a:srgbClr val="9CDCFE"/>
                </a:solidFill>
                <a:latin typeface="Consolas"/>
                <a:ea typeface="Consolas"/>
                <a:cs typeface="Consolas"/>
                <a:sym typeface="Consolas"/>
              </a:rPr>
              <a:t>$cars</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9CDCFE"/>
                </a:solidFill>
                <a:latin typeface="Consolas"/>
                <a:ea typeface="Consolas"/>
                <a:cs typeface="Consolas"/>
                <a:sym typeface="Consolas"/>
              </a:rPr>
              <a:t>$row</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9CDCFE"/>
                </a:solidFill>
                <a:latin typeface="Consolas"/>
                <a:ea typeface="Consolas"/>
                <a:cs typeface="Consolas"/>
                <a:sym typeface="Consolas"/>
              </a:rPr>
              <a:t>$col</a:t>
            </a:r>
            <a:r>
              <a:rPr lang="en-US" sz="1050" b="0" i="0" u="none" strike="noStrike" cap="none">
                <a:solidFill>
                  <a:srgbClr val="D4D4D4"/>
                </a:solidFill>
                <a:latin typeface="Consolas"/>
                <a:ea typeface="Consolas"/>
                <a:cs typeface="Consolas"/>
                <a:sym typeface="Consolas"/>
              </a:rPr>
              <a:t>].</a:t>
            </a:r>
            <a:r>
              <a:rPr lang="en-US" sz="1050" b="0" i="0" u="none" strike="noStrike" cap="none">
                <a:solidFill>
                  <a:srgbClr val="CE9178"/>
                </a:solidFill>
                <a:latin typeface="Consolas"/>
                <a:ea typeface="Consolas"/>
                <a:cs typeface="Consolas"/>
                <a:sym typeface="Consolas"/>
              </a:rPr>
              <a:t>"&lt;br&gt;"</a:t>
            </a:r>
            <a:r>
              <a:rPr lang="en-US" sz="1050" b="0" i="0" u="none" strike="noStrike" cap="none">
                <a:solidFill>
                  <a:srgbClr val="D4D4D4"/>
                </a:solidFill>
                <a:latin typeface="Consolas"/>
                <a:ea typeface="Consolas"/>
                <a:cs typeface="Consolas"/>
                <a:sym typeface="Consolas"/>
              </a:rPr>
              <a:t>;</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50" b="0" i="0" u="none" strike="noStrike" cap="none">
                <a:solidFill>
                  <a:srgbClr val="D4D4D4"/>
                </a:solidFill>
                <a:latin typeface="Consolas"/>
                <a:ea typeface="Consolas"/>
                <a:cs typeface="Consolas"/>
                <a:sym typeface="Consolas"/>
              </a:rPr>
              <a:t>  }</a:t>
            </a:r>
            <a:endParaRPr sz="1050" b="0" i="0" u="none" strike="noStrike" cap="none">
              <a:solidFill>
                <a:srgbClr val="CCCCCC"/>
              </a:solidFill>
              <a:latin typeface="Consolas"/>
              <a:ea typeface="Consolas"/>
              <a:cs typeface="Consolas"/>
              <a:sym typeface="Consolas"/>
            </a:endParaRPr>
          </a:p>
        </p:txBody>
      </p:sp>
      <p:pic>
        <p:nvPicPr>
          <p:cNvPr id="606" name="Google Shape;606;p57"/>
          <p:cNvPicPr preferRelativeResize="0"/>
          <p:nvPr/>
        </p:nvPicPr>
        <p:blipFill rotWithShape="1">
          <a:blip r:embed="rId3">
            <a:alphaModFix/>
          </a:blip>
          <a:srcRect r="18975"/>
          <a:stretch/>
        </p:blipFill>
        <p:spPr>
          <a:xfrm>
            <a:off x="7363204" y="790912"/>
            <a:ext cx="1304254" cy="3990975"/>
          </a:xfrm>
          <a:prstGeom prst="rect">
            <a:avLst/>
          </a:prstGeom>
          <a:noFill/>
          <a:ln>
            <a:noFill/>
          </a:ln>
        </p:spPr>
      </p:pic>
      <p:sp>
        <p:nvSpPr>
          <p:cNvPr id="607" name="Google Shape;607;p57"/>
          <p:cNvSpPr txBox="1"/>
          <p:nvPr/>
        </p:nvSpPr>
        <p:spPr>
          <a:xfrm>
            <a:off x="342527" y="739525"/>
            <a:ext cx="700935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Verdana"/>
                <a:ea typeface="Verdana"/>
                <a:cs typeface="Verdana"/>
                <a:sym typeface="Verdana"/>
              </a:rPr>
              <a:t>We can also put a for loop inside another for loop to get the elements of the $cars array (we still have to point to the two indices):</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58"/>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solidFill>
                  <a:schemeClr val="dk1"/>
                </a:solidFill>
              </a:rPr>
              <a:t>PHP - Two-dimensional Arrays</a:t>
            </a:r>
            <a:br>
              <a:rPr lang="en-US" i="0">
                <a:solidFill>
                  <a:schemeClr val="dk1"/>
                </a:solidFill>
              </a:rPr>
            </a:br>
            <a:br>
              <a:rPr lang="en-US">
                <a:solidFill>
                  <a:schemeClr val="dk1"/>
                </a:solidFill>
              </a:rPr>
            </a:br>
            <a:endParaRPr b="1"/>
          </a:p>
        </p:txBody>
      </p:sp>
      <p:sp>
        <p:nvSpPr>
          <p:cNvPr id="613" name="Google Shape;613;p58"/>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14" name="Google Shape;614;p58"/>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15" name="Google Shape;615;p58"/>
          <p:cNvSpPr txBox="1"/>
          <p:nvPr/>
        </p:nvSpPr>
        <p:spPr>
          <a:xfrm>
            <a:off x="1033156" y="1127240"/>
            <a:ext cx="3911316" cy="347787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9CDCFE"/>
                </a:solidFill>
                <a:latin typeface="Consolas"/>
                <a:ea typeface="Consolas"/>
                <a:cs typeface="Consolas"/>
                <a:sym typeface="Consolas"/>
              </a:rPr>
              <a:t>$cars</a:t>
            </a:r>
            <a:r>
              <a:rPr lang="en-US" sz="1000" b="0" i="0" u="none" strike="noStrike" cap="none">
                <a:solidFill>
                  <a:srgbClr val="D4D4D4"/>
                </a:solidFill>
                <a:latin typeface="Consolas"/>
                <a:ea typeface="Consolas"/>
                <a:cs typeface="Consolas"/>
                <a:sym typeface="Consolas"/>
              </a:rPr>
              <a:t> = </a:t>
            </a:r>
            <a:r>
              <a:rPr lang="en-US" sz="1000" b="0" i="0" u="none" strike="noStrike" cap="none">
                <a:solidFill>
                  <a:srgbClr val="DCDCAA"/>
                </a:solidFill>
                <a:latin typeface="Consolas"/>
                <a:ea typeface="Consolas"/>
                <a:cs typeface="Consolas"/>
                <a:sym typeface="Consolas"/>
              </a:rPr>
              <a:t>array</a:t>
            </a:r>
            <a:r>
              <a:rPr lang="en-US" sz="1000" b="0" i="0" u="none" strike="noStrike" cap="none">
                <a:solidFill>
                  <a:srgbClr val="D4D4D4"/>
                </a:solidFill>
                <a:latin typeface="Consolas"/>
                <a:ea typeface="Consolas"/>
                <a:cs typeface="Consolas"/>
                <a:sym typeface="Consolas"/>
              </a:rPr>
              <a:t> (</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array</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CE9178"/>
                </a:solidFill>
                <a:latin typeface="Consolas"/>
                <a:ea typeface="Consolas"/>
                <a:cs typeface="Consolas"/>
                <a:sym typeface="Consolas"/>
              </a:rPr>
              <a:t>"Volvo"</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22</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18</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array</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CE9178"/>
                </a:solidFill>
                <a:latin typeface="Consolas"/>
                <a:ea typeface="Consolas"/>
                <a:cs typeface="Consolas"/>
                <a:sym typeface="Consolas"/>
              </a:rPr>
              <a:t>"BMW"</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15</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13</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array</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CE9178"/>
                </a:solidFill>
                <a:latin typeface="Consolas"/>
                <a:ea typeface="Consolas"/>
                <a:cs typeface="Consolas"/>
                <a:sym typeface="Consolas"/>
              </a:rPr>
              <a:t>"Saab"</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5</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2</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array</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CE9178"/>
                </a:solidFill>
                <a:latin typeface="Consolas"/>
                <a:ea typeface="Consolas"/>
                <a:cs typeface="Consolas"/>
                <a:sym typeface="Consolas"/>
              </a:rPr>
              <a:t>"Land Rover"</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17</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B5CEA8"/>
                </a:solidFill>
                <a:latin typeface="Consolas"/>
                <a:ea typeface="Consolas"/>
                <a:cs typeface="Consolas"/>
                <a:sym typeface="Consolas"/>
              </a:rPr>
              <a:t>15</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000" b="0" i="0" u="none" strike="noStrike" cap="none">
                <a:solidFill>
                  <a:srgbClr val="CCCCCC"/>
                </a:solidFill>
                <a:latin typeface="Consolas"/>
                <a:ea typeface="Consolas"/>
                <a:cs typeface="Consolas"/>
                <a:sym typeface="Consolas"/>
              </a:rPr>
            </a:b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"&lt;table border='1' cellpadding='10'&gt;"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"&lt;tr&gt;&lt;th&gt;Name&lt;/th&gt;&lt;th&gt;Stock&lt;/th&gt;&lt;th&gt;Sold&lt;/th&gt;&lt;/tr&gt;"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000" b="0" i="0" u="none" strike="noStrike" cap="none">
                <a:solidFill>
                  <a:srgbClr val="CCCCCC"/>
                </a:solidFill>
                <a:latin typeface="Consolas"/>
                <a:ea typeface="Consolas"/>
                <a:cs typeface="Consolas"/>
                <a:sym typeface="Consolas"/>
              </a:rPr>
            </a:br>
            <a:r>
              <a:rPr lang="en-US" sz="1000" b="0" i="0" u="none" strike="noStrike" cap="none">
                <a:solidFill>
                  <a:srgbClr val="C586C0"/>
                </a:solidFill>
                <a:latin typeface="Consolas"/>
                <a:ea typeface="Consolas"/>
                <a:cs typeface="Consolas"/>
                <a:sym typeface="Consolas"/>
              </a:rPr>
              <a:t>for</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$row</a:t>
            </a:r>
            <a:r>
              <a:rPr lang="en-US" sz="1000" b="0" i="0" u="none" strike="noStrike" cap="none">
                <a:solidFill>
                  <a:srgbClr val="D4D4D4"/>
                </a:solidFill>
                <a:latin typeface="Consolas"/>
                <a:ea typeface="Consolas"/>
                <a:cs typeface="Consolas"/>
                <a:sym typeface="Consolas"/>
              </a:rPr>
              <a:t> = </a:t>
            </a:r>
            <a:r>
              <a:rPr lang="en-US" sz="1000" b="0" i="0" u="none" strike="noStrike" cap="none">
                <a:solidFill>
                  <a:srgbClr val="B5CEA8"/>
                </a:solidFill>
                <a:latin typeface="Consolas"/>
                <a:ea typeface="Consolas"/>
                <a:cs typeface="Consolas"/>
                <a:sym typeface="Consolas"/>
              </a:rPr>
              <a:t>0</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$row</a:t>
            </a:r>
            <a:r>
              <a:rPr lang="en-US" sz="1000" b="0" i="0" u="none" strike="noStrike" cap="none">
                <a:solidFill>
                  <a:srgbClr val="D4D4D4"/>
                </a:solidFill>
                <a:latin typeface="Consolas"/>
                <a:ea typeface="Consolas"/>
                <a:cs typeface="Consolas"/>
                <a:sym typeface="Consolas"/>
              </a:rPr>
              <a:t> &lt; </a:t>
            </a:r>
            <a:r>
              <a:rPr lang="en-US" sz="1000" b="0" i="0" u="none" strike="noStrike" cap="none">
                <a:solidFill>
                  <a:srgbClr val="B5CEA8"/>
                </a:solidFill>
                <a:latin typeface="Consolas"/>
                <a:ea typeface="Consolas"/>
                <a:cs typeface="Consolas"/>
                <a:sym typeface="Consolas"/>
              </a:rPr>
              <a:t>4</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$row</a:t>
            </a:r>
            <a:r>
              <a:rPr lang="en-US" sz="1000" b="0" i="0" u="none" strike="noStrike" cap="none">
                <a:solidFill>
                  <a:srgbClr val="D4D4D4"/>
                </a:solidFill>
                <a:latin typeface="Consolas"/>
                <a:ea typeface="Consolas"/>
                <a:cs typeface="Consolas"/>
                <a:sym typeface="Consolas"/>
              </a:rPr>
              <a:t>++) {</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"&lt;tr&gt;"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586C0"/>
                </a:solidFill>
                <a:latin typeface="Consolas"/>
                <a:ea typeface="Consolas"/>
                <a:cs typeface="Consolas"/>
                <a:sym typeface="Consolas"/>
              </a:rPr>
              <a:t>for</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$col</a:t>
            </a:r>
            <a:r>
              <a:rPr lang="en-US" sz="1000" b="0" i="0" u="none" strike="noStrike" cap="none">
                <a:solidFill>
                  <a:srgbClr val="D4D4D4"/>
                </a:solidFill>
                <a:latin typeface="Consolas"/>
                <a:ea typeface="Consolas"/>
                <a:cs typeface="Consolas"/>
                <a:sym typeface="Consolas"/>
              </a:rPr>
              <a:t> = </a:t>
            </a:r>
            <a:r>
              <a:rPr lang="en-US" sz="1000" b="0" i="0" u="none" strike="noStrike" cap="none">
                <a:solidFill>
                  <a:srgbClr val="B5CEA8"/>
                </a:solidFill>
                <a:latin typeface="Consolas"/>
                <a:ea typeface="Consolas"/>
                <a:cs typeface="Consolas"/>
                <a:sym typeface="Consolas"/>
              </a:rPr>
              <a:t>0</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$col</a:t>
            </a:r>
            <a:r>
              <a:rPr lang="en-US" sz="1000" b="0" i="0" u="none" strike="noStrike" cap="none">
                <a:solidFill>
                  <a:srgbClr val="D4D4D4"/>
                </a:solidFill>
                <a:latin typeface="Consolas"/>
                <a:ea typeface="Consolas"/>
                <a:cs typeface="Consolas"/>
                <a:sym typeface="Consolas"/>
              </a:rPr>
              <a:t> &lt; </a:t>
            </a:r>
            <a:r>
              <a:rPr lang="en-US" sz="1000" b="0" i="0" u="none" strike="noStrike" cap="none">
                <a:solidFill>
                  <a:srgbClr val="B5CEA8"/>
                </a:solidFill>
                <a:latin typeface="Consolas"/>
                <a:ea typeface="Consolas"/>
                <a:cs typeface="Consolas"/>
                <a:sym typeface="Consolas"/>
              </a:rPr>
              <a:t>3</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9CDCFE"/>
                </a:solidFill>
                <a:latin typeface="Consolas"/>
                <a:ea typeface="Consolas"/>
                <a:cs typeface="Consolas"/>
                <a:sym typeface="Consolas"/>
              </a:rPr>
              <a:t>$col</a:t>
            </a:r>
            <a:r>
              <a:rPr lang="en-US" sz="1000" b="0" i="0" u="none" strike="noStrike" cap="none">
                <a:solidFill>
                  <a:srgbClr val="D4D4D4"/>
                </a:solidFill>
                <a:latin typeface="Consolas"/>
                <a:ea typeface="Consolas"/>
                <a:cs typeface="Consolas"/>
                <a:sym typeface="Consolas"/>
              </a:rPr>
              <a:t>++) {</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"&lt;td&gt;"</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9CDCFE"/>
                </a:solidFill>
                <a:latin typeface="Consolas"/>
                <a:ea typeface="Consolas"/>
                <a:cs typeface="Consolas"/>
                <a:sym typeface="Consolas"/>
              </a:rPr>
              <a:t>$cars</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9CDCFE"/>
                </a:solidFill>
                <a:latin typeface="Consolas"/>
                <a:ea typeface="Consolas"/>
                <a:cs typeface="Consolas"/>
                <a:sym typeface="Consolas"/>
              </a:rPr>
              <a:t>$row</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9CDCFE"/>
                </a:solidFill>
                <a:latin typeface="Consolas"/>
                <a:ea typeface="Consolas"/>
                <a:cs typeface="Consolas"/>
                <a:sym typeface="Consolas"/>
              </a:rPr>
              <a:t>$col</a:t>
            </a:r>
            <a:r>
              <a:rPr lang="en-US" sz="1000" b="0" i="0" u="none" strike="noStrike" cap="none">
                <a:solidFill>
                  <a:srgbClr val="D4D4D4"/>
                </a:solidFill>
                <a:latin typeface="Consolas"/>
                <a:ea typeface="Consolas"/>
                <a:cs typeface="Consolas"/>
                <a:sym typeface="Consolas"/>
              </a:rPr>
              <a:t>].</a:t>
            </a:r>
            <a:r>
              <a:rPr lang="en-US" sz="1000" b="0" i="0" u="none" strike="noStrike" cap="none">
                <a:solidFill>
                  <a:srgbClr val="CE9178"/>
                </a:solidFill>
                <a:latin typeface="Consolas"/>
                <a:ea typeface="Consolas"/>
                <a:cs typeface="Consolas"/>
                <a:sym typeface="Consolas"/>
              </a:rPr>
              <a:t>"&lt;/td&gt;"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"&lt;/tr&gt;"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000" b="0" i="0" u="none" strike="noStrike" cap="none">
                <a:solidFill>
                  <a:srgbClr val="DCDCAA"/>
                </a:solidFill>
                <a:latin typeface="Consolas"/>
                <a:ea typeface="Consolas"/>
                <a:cs typeface="Consolas"/>
                <a:sym typeface="Consolas"/>
              </a:rPr>
              <a:t>echo</a:t>
            </a:r>
            <a:r>
              <a:rPr lang="en-US" sz="1000" b="0" i="0" u="none" strike="noStrike" cap="none">
                <a:solidFill>
                  <a:srgbClr val="D4D4D4"/>
                </a:solidFill>
                <a:latin typeface="Consolas"/>
                <a:ea typeface="Consolas"/>
                <a:cs typeface="Consolas"/>
                <a:sym typeface="Consolas"/>
              </a:rPr>
              <a:t> </a:t>
            </a:r>
            <a:r>
              <a:rPr lang="en-US" sz="1000" b="0" i="0" u="none" strike="noStrike" cap="none">
                <a:solidFill>
                  <a:srgbClr val="CE9178"/>
                </a:solidFill>
                <a:latin typeface="Consolas"/>
                <a:ea typeface="Consolas"/>
                <a:cs typeface="Consolas"/>
                <a:sym typeface="Consolas"/>
              </a:rPr>
              <a:t>"&lt;/table&gt;"</a:t>
            </a:r>
            <a:r>
              <a:rPr lang="en-US" sz="1000" b="0" i="0" u="none" strike="noStrike" cap="none">
                <a:solidFill>
                  <a:srgbClr val="D4D4D4"/>
                </a:solidFill>
                <a:latin typeface="Consolas"/>
                <a:ea typeface="Consolas"/>
                <a:cs typeface="Consolas"/>
                <a:sym typeface="Consolas"/>
              </a:rPr>
              <a:t>;</a:t>
            </a:r>
            <a:endParaRPr sz="10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000" b="0" i="0" u="none" strike="noStrike" cap="none">
                <a:solidFill>
                  <a:srgbClr val="CCCCCC"/>
                </a:solidFill>
                <a:latin typeface="Consolas"/>
                <a:ea typeface="Consolas"/>
                <a:cs typeface="Consolas"/>
                <a:sym typeface="Consolas"/>
              </a:rPr>
            </a:br>
            <a:br>
              <a:rPr lang="en-US" sz="1000" b="0" i="0" u="none" strike="noStrike" cap="none">
                <a:solidFill>
                  <a:srgbClr val="CCCCCC"/>
                </a:solidFill>
                <a:latin typeface="Consolas"/>
                <a:ea typeface="Consolas"/>
                <a:cs typeface="Consolas"/>
                <a:sym typeface="Consolas"/>
              </a:rPr>
            </a:br>
            <a:r>
              <a:rPr lang="en-US" sz="1000" b="0" i="0" u="none" strike="noStrike" cap="none">
                <a:solidFill>
                  <a:srgbClr val="569CD6"/>
                </a:solidFill>
                <a:latin typeface="Consolas"/>
                <a:ea typeface="Consolas"/>
                <a:cs typeface="Consolas"/>
                <a:sym typeface="Consolas"/>
              </a:rPr>
              <a:t>?&gt;</a:t>
            </a:r>
            <a:endParaRPr sz="1000" b="0" i="0" u="none" strike="noStrike" cap="none">
              <a:solidFill>
                <a:srgbClr val="CCCCCC"/>
              </a:solidFill>
              <a:latin typeface="Consolas"/>
              <a:ea typeface="Consolas"/>
              <a:cs typeface="Consolas"/>
              <a:sym typeface="Consolas"/>
            </a:endParaRPr>
          </a:p>
        </p:txBody>
      </p:sp>
      <p:pic>
        <p:nvPicPr>
          <p:cNvPr id="616" name="Google Shape;616;p58"/>
          <p:cNvPicPr preferRelativeResize="0"/>
          <p:nvPr/>
        </p:nvPicPr>
        <p:blipFill rotWithShape="1">
          <a:blip r:embed="rId3">
            <a:alphaModFix/>
          </a:blip>
          <a:srcRect/>
          <a:stretch/>
        </p:blipFill>
        <p:spPr>
          <a:xfrm>
            <a:off x="5784719" y="1656380"/>
            <a:ext cx="2171700" cy="20955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9"/>
          <p:cNvSpPr/>
          <p:nvPr/>
        </p:nvSpPr>
        <p:spPr>
          <a:xfrm>
            <a:off x="7576351" y="3807649"/>
            <a:ext cx="1042049" cy="965951"/>
          </a:xfrm>
          <a:custGeom>
            <a:avLst/>
            <a:gdLst/>
            <a:ahLst/>
            <a:cxnLst/>
            <a:rect l="l" t="t" r="r" b="b"/>
            <a:pathLst>
              <a:path w="1619" h="1618" extrusionOk="0">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22" name="Google Shape;622;p59"/>
          <p:cNvSpPr txBox="1">
            <a:spLocks noGrp="1"/>
          </p:cNvSpPr>
          <p:nvPr>
            <p:ph type="title"/>
          </p:nvPr>
        </p:nvSpPr>
        <p:spPr>
          <a:xfrm>
            <a:off x="2803446" y="2201250"/>
            <a:ext cx="4194953" cy="84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US" dirty="0"/>
              <a:t>Functions</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60"/>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Functions – User Defined </a:t>
            </a:r>
            <a:endParaRPr b="1"/>
          </a:p>
        </p:txBody>
      </p:sp>
      <p:sp>
        <p:nvSpPr>
          <p:cNvPr id="628" name="Google Shape;628;p60"/>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29" name="Google Shape;629;p60"/>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30" name="Google Shape;630;p60"/>
          <p:cNvSpPr txBox="1"/>
          <p:nvPr/>
        </p:nvSpPr>
        <p:spPr>
          <a:xfrm>
            <a:off x="476232" y="873079"/>
            <a:ext cx="7953935"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Poppins"/>
                <a:ea typeface="Poppins"/>
                <a:cs typeface="Poppins"/>
                <a:sym typeface="Poppins"/>
              </a:rPr>
              <a:t>Besides the built-in PHP functions, it is possible to create your own functions.</a:t>
            </a:r>
            <a:endParaRPr/>
          </a:p>
          <a:p>
            <a:pPr marL="0" marR="0" lvl="0" indent="0" algn="l" rtl="0">
              <a:lnSpc>
                <a:spcPct val="100000"/>
              </a:lnSpc>
              <a:spcBef>
                <a:spcPts val="0"/>
              </a:spcBef>
              <a:spcAft>
                <a:spcPts val="0"/>
              </a:spcAft>
              <a:buNone/>
            </a:pPr>
            <a:endParaRPr sz="1400" b="0" i="0" u="none" strike="noStrike" cap="none">
              <a:solidFill>
                <a:srgbClr val="000000"/>
              </a:solidFill>
              <a:latin typeface="Poppins"/>
              <a:ea typeface="Poppins"/>
              <a:cs typeface="Poppins"/>
              <a:sym typeface="Poppins"/>
            </a:endParaRPr>
          </a:p>
          <a:p>
            <a:pPr marL="0" marR="0" lvl="0" indent="-889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Poppins"/>
                <a:ea typeface="Poppins"/>
                <a:cs typeface="Poppins"/>
                <a:sym typeface="Poppins"/>
              </a:rPr>
              <a:t> Besides the built-in PHP functions, we can create our own functions. </a:t>
            </a:r>
            <a:endParaRPr/>
          </a:p>
          <a:p>
            <a:pPr marL="0" marR="0" lvl="0" indent="-889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Poppins"/>
                <a:ea typeface="Poppins"/>
                <a:cs typeface="Poppins"/>
                <a:sym typeface="Poppins"/>
              </a:rPr>
              <a:t> A function is a block of statements that can be used repeatedly in a program. </a:t>
            </a:r>
            <a:endParaRPr/>
          </a:p>
          <a:p>
            <a:pPr marL="0" marR="0" lvl="0" indent="-889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Poppins"/>
                <a:ea typeface="Poppins"/>
                <a:cs typeface="Poppins"/>
                <a:sym typeface="Poppins"/>
              </a:rPr>
              <a:t> A function will not execute immediately when a page loads. You need to call it. </a:t>
            </a:r>
            <a:endParaRPr/>
          </a:p>
          <a:p>
            <a:pPr marL="0" marR="0" lvl="0" indent="-889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Poppins"/>
                <a:ea typeface="Poppins"/>
                <a:cs typeface="Poppins"/>
                <a:sym typeface="Poppins"/>
              </a:rPr>
              <a:t> A function will be executed by a call to the function. </a:t>
            </a:r>
            <a:endParaRPr/>
          </a:p>
        </p:txBody>
      </p:sp>
      <p:sp>
        <p:nvSpPr>
          <p:cNvPr id="631" name="Google Shape;631;p60"/>
          <p:cNvSpPr txBox="1"/>
          <p:nvPr/>
        </p:nvSpPr>
        <p:spPr>
          <a:xfrm>
            <a:off x="618565" y="2939713"/>
            <a:ext cx="800772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Syntax: </a:t>
            </a:r>
            <a:endParaRPr/>
          </a:p>
        </p:txBody>
      </p:sp>
      <p:sp>
        <p:nvSpPr>
          <p:cNvPr id="632" name="Google Shape;632;p60"/>
          <p:cNvSpPr txBox="1"/>
          <p:nvPr/>
        </p:nvSpPr>
        <p:spPr>
          <a:xfrm>
            <a:off x="618565" y="3662038"/>
            <a:ext cx="697230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B0F0"/>
                </a:solidFill>
                <a:latin typeface="Arial"/>
                <a:ea typeface="Arial"/>
                <a:cs typeface="Arial"/>
                <a:sym typeface="Arial"/>
              </a:rPr>
              <a:t>function</a:t>
            </a:r>
            <a:r>
              <a:rPr lang="en-US" sz="1400" b="0" i="0" u="none" strike="noStrike" cap="none">
                <a:solidFill>
                  <a:srgbClr val="000000"/>
                </a:solidFill>
                <a:latin typeface="Arial"/>
                <a:ea typeface="Arial"/>
                <a:cs typeface="Arial"/>
                <a:sym typeface="Arial"/>
              </a:rPr>
              <a:t> </a:t>
            </a:r>
            <a:r>
              <a:rPr lang="en-US" sz="1400" b="0" i="0" u="none" strike="noStrike" cap="none">
                <a:solidFill>
                  <a:srgbClr val="9CD82F"/>
                </a:solidFill>
                <a:latin typeface="Arial"/>
                <a:ea typeface="Arial"/>
                <a:cs typeface="Arial"/>
                <a:sym typeface="Arial"/>
              </a:rPr>
              <a:t>functionName() </a:t>
            </a:r>
            <a:r>
              <a:rPr lang="en-US"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Code to be executed;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t>
            </a:r>
            <a:endParaRPr/>
          </a:p>
        </p:txBody>
      </p:sp>
      <p:sp>
        <p:nvSpPr>
          <p:cNvPr id="633" name="Google Shape;633;p60"/>
          <p:cNvSpPr txBox="1"/>
          <p:nvPr/>
        </p:nvSpPr>
        <p:spPr>
          <a:xfrm>
            <a:off x="4184276" y="2386581"/>
            <a:ext cx="4323229" cy="160043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writeMsg</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DCDCAA"/>
                </a:solidFill>
                <a:latin typeface="Consolas"/>
                <a:ea typeface="Consolas"/>
                <a:cs typeface="Consolas"/>
                <a:sym typeface="Consolas"/>
              </a:rPr>
              <a:t>writeMsg</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call the function </a:t>
            </a: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endParaRPr sz="1400" b="0" i="0" u="none" strike="noStrike" cap="none">
              <a:solidFill>
                <a:srgbClr val="CCCCCC"/>
              </a:solidFill>
              <a:latin typeface="Consolas"/>
              <a:ea typeface="Consolas"/>
              <a:cs typeface="Consolas"/>
              <a:sym typeface="Consolas"/>
            </a:endParaRPr>
          </a:p>
        </p:txBody>
      </p:sp>
      <p:pic>
        <p:nvPicPr>
          <p:cNvPr id="634" name="Google Shape;634;p60"/>
          <p:cNvPicPr preferRelativeResize="0"/>
          <p:nvPr/>
        </p:nvPicPr>
        <p:blipFill rotWithShape="1">
          <a:blip r:embed="rId3">
            <a:alphaModFix/>
          </a:blip>
          <a:srcRect/>
          <a:stretch/>
        </p:blipFill>
        <p:spPr>
          <a:xfrm>
            <a:off x="4184276" y="4547643"/>
            <a:ext cx="876300" cy="314325"/>
          </a:xfrm>
          <a:prstGeom prst="rect">
            <a:avLst/>
          </a:prstGeom>
          <a:noFill/>
          <a:ln>
            <a:noFill/>
          </a:ln>
        </p:spPr>
      </p:pic>
      <p:sp>
        <p:nvSpPr>
          <p:cNvPr id="635" name="Google Shape;635;p60"/>
          <p:cNvSpPr txBox="1"/>
          <p:nvPr/>
        </p:nvSpPr>
        <p:spPr>
          <a:xfrm>
            <a:off x="4104715" y="4156564"/>
            <a:ext cx="14688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1"/>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Function with Arguments </a:t>
            </a:r>
            <a:endParaRPr b="1"/>
          </a:p>
        </p:txBody>
      </p:sp>
      <p:sp>
        <p:nvSpPr>
          <p:cNvPr id="641" name="Google Shape;641;p61"/>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42" name="Google Shape;642;p61"/>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43" name="Google Shape;643;p61"/>
          <p:cNvSpPr txBox="1"/>
          <p:nvPr/>
        </p:nvSpPr>
        <p:spPr>
          <a:xfrm>
            <a:off x="470647" y="853888"/>
            <a:ext cx="8162365"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Poppins"/>
                <a:ea typeface="Poppins"/>
                <a:cs typeface="Poppins"/>
                <a:sym typeface="Poppins"/>
              </a:rPr>
              <a:t>To add more functionality to a function, we can add parameters. A parameter is just like a variable. </a:t>
            </a:r>
            <a:endParaRPr/>
          </a:p>
          <a:p>
            <a:pPr marL="0" marR="0" lvl="0" indent="0" algn="l" rtl="0">
              <a:lnSpc>
                <a:spcPct val="100000"/>
              </a:lnSpc>
              <a:spcBef>
                <a:spcPts val="0"/>
              </a:spcBef>
              <a:spcAft>
                <a:spcPts val="0"/>
              </a:spcAft>
              <a:buNone/>
            </a:pPr>
            <a:r>
              <a:rPr lang="en-US" sz="1600" b="0" i="0" u="none" strike="noStrike" cap="none">
                <a:solidFill>
                  <a:srgbClr val="000000"/>
                </a:solidFill>
                <a:latin typeface="Poppins"/>
                <a:ea typeface="Poppins"/>
                <a:cs typeface="Poppins"/>
                <a:sym typeface="Poppins"/>
              </a:rPr>
              <a:t>Parameters are specified after the function name, inside the parentheses. </a:t>
            </a:r>
            <a:endParaRPr/>
          </a:p>
        </p:txBody>
      </p:sp>
      <p:sp>
        <p:nvSpPr>
          <p:cNvPr id="644" name="Google Shape;644;p61"/>
          <p:cNvSpPr txBox="1"/>
          <p:nvPr/>
        </p:nvSpPr>
        <p:spPr>
          <a:xfrm>
            <a:off x="828000" y="2141596"/>
            <a:ext cx="4935070" cy="24622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familyName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$fname</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$fname</a:t>
            </a:r>
            <a:r>
              <a:rPr lang="en-US" sz="1400" b="0" i="0" u="none" strike="noStrike" cap="none">
                <a:solidFill>
                  <a:srgbClr val="CE9178"/>
                </a:solidFill>
                <a:latin typeface="Consolas"/>
                <a:ea typeface="Consolas"/>
                <a:cs typeface="Consolas"/>
                <a:sym typeface="Consolas"/>
              </a:rPr>
              <a:t> .&lt;br&gt;"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familyName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"Naruto"</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familyName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"Boruto"</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familyName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"Himawari"</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familyName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"Hinata"</a:t>
            </a:r>
            <a:r>
              <a:rPr lang="en-US" sz="1400" b="0" i="0" u="none" strike="noStrike" cap="none">
                <a:solidFill>
                  <a:srgbClr val="D4D4D4"/>
                </a:solidFill>
                <a:latin typeface="Consolas"/>
                <a:ea typeface="Consolas"/>
                <a:cs typeface="Consolas"/>
                <a:sym typeface="Consolas"/>
              </a:rPr>
              <a:t>);</a:t>
            </a: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?&gt;</a:t>
            </a:r>
            <a:endParaRPr sz="1400" b="0" i="0" u="none" strike="noStrike" cap="none">
              <a:solidFill>
                <a:srgbClr val="CCCCCC"/>
              </a:solidFill>
              <a:latin typeface="Consolas"/>
              <a:ea typeface="Consolas"/>
              <a:cs typeface="Consolas"/>
              <a:sym typeface="Consolas"/>
            </a:endParaRPr>
          </a:p>
        </p:txBody>
      </p:sp>
      <p:pic>
        <p:nvPicPr>
          <p:cNvPr id="645" name="Google Shape;645;p61"/>
          <p:cNvPicPr preferRelativeResize="0"/>
          <p:nvPr/>
        </p:nvPicPr>
        <p:blipFill rotWithShape="1">
          <a:blip r:embed="rId3">
            <a:alphaModFix/>
          </a:blip>
          <a:srcRect/>
          <a:stretch/>
        </p:blipFill>
        <p:spPr>
          <a:xfrm>
            <a:off x="6016909" y="2840757"/>
            <a:ext cx="1648075" cy="1593139"/>
          </a:xfrm>
          <a:prstGeom prst="rect">
            <a:avLst/>
          </a:prstGeom>
          <a:noFill/>
          <a:ln>
            <a:noFill/>
          </a:ln>
        </p:spPr>
      </p:pic>
      <p:sp>
        <p:nvSpPr>
          <p:cNvPr id="646" name="Google Shape;646;p61"/>
          <p:cNvSpPr txBox="1"/>
          <p:nvPr/>
        </p:nvSpPr>
        <p:spPr>
          <a:xfrm>
            <a:off x="5925600" y="2215372"/>
            <a:ext cx="14688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62"/>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Function with Multiple Arguments  </a:t>
            </a:r>
            <a:endParaRPr b="1"/>
          </a:p>
        </p:txBody>
      </p:sp>
      <p:sp>
        <p:nvSpPr>
          <p:cNvPr id="652" name="Google Shape;652;p62"/>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53" name="Google Shape;653;p62"/>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4" name="Google Shape;654;p62"/>
          <p:cNvSpPr txBox="1"/>
          <p:nvPr/>
        </p:nvSpPr>
        <p:spPr>
          <a:xfrm>
            <a:off x="971070" y="2163681"/>
            <a:ext cx="4935070" cy="224676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deathNote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$fname</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$year</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$fname</a:t>
            </a:r>
            <a:r>
              <a:rPr lang="en-US" sz="1400" b="0" i="0" u="none" strike="noStrike" cap="none">
                <a:solidFill>
                  <a:srgbClr val="CE9178"/>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$year</a:t>
            </a:r>
            <a:r>
              <a:rPr lang="en-US" sz="1400" b="0" i="0" u="none" strike="noStrike" cap="none">
                <a:solidFill>
                  <a:srgbClr val="CE9178"/>
                </a:solidFill>
                <a:latin typeface="Consolas"/>
                <a:ea typeface="Consolas"/>
                <a:cs typeface="Consolas"/>
                <a:sym typeface="Consolas"/>
              </a:rPr>
              <a:t> &lt;br&gt;"</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deathNote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"Light"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"1999"</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deathNote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"Ryuk"</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"1878"</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deathNote</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"Near"</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"2022"</a:t>
            </a:r>
            <a:r>
              <a:rPr lang="en-US" sz="1400" b="0" i="0" u="none" strike="noStrike" cap="none">
                <a:solidFill>
                  <a:srgbClr val="D4D4D4"/>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?&gt;</a:t>
            </a:r>
            <a:br>
              <a:rPr lang="en-US" sz="1400" b="0" i="0" u="none" strike="noStrike" cap="none">
                <a:solidFill>
                  <a:srgbClr val="CCCCCC"/>
                </a:solidFill>
                <a:latin typeface="Consolas"/>
                <a:ea typeface="Consolas"/>
                <a:cs typeface="Consolas"/>
                <a:sym typeface="Consolas"/>
              </a:rPr>
            </a:br>
            <a:endParaRPr sz="1400" b="0" i="0" u="none" strike="noStrike" cap="none">
              <a:solidFill>
                <a:srgbClr val="CCCCCC"/>
              </a:solidFill>
              <a:latin typeface="Consolas"/>
              <a:ea typeface="Consolas"/>
              <a:cs typeface="Consolas"/>
              <a:sym typeface="Consolas"/>
            </a:endParaRPr>
          </a:p>
        </p:txBody>
      </p:sp>
      <p:pic>
        <p:nvPicPr>
          <p:cNvPr id="655" name="Google Shape;655;p62"/>
          <p:cNvPicPr preferRelativeResize="0"/>
          <p:nvPr/>
        </p:nvPicPr>
        <p:blipFill rotWithShape="1">
          <a:blip r:embed="rId3">
            <a:alphaModFix/>
          </a:blip>
          <a:srcRect/>
          <a:stretch/>
        </p:blipFill>
        <p:spPr>
          <a:xfrm>
            <a:off x="6103454" y="2571750"/>
            <a:ext cx="1950944" cy="1278205"/>
          </a:xfrm>
          <a:prstGeom prst="rect">
            <a:avLst/>
          </a:prstGeom>
          <a:noFill/>
          <a:ln>
            <a:noFill/>
          </a:ln>
        </p:spPr>
      </p:pic>
      <p:sp>
        <p:nvSpPr>
          <p:cNvPr id="656" name="Google Shape;656;p62"/>
          <p:cNvSpPr txBox="1"/>
          <p:nvPr/>
        </p:nvSpPr>
        <p:spPr>
          <a:xfrm>
            <a:off x="517712" y="813547"/>
            <a:ext cx="619237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Poppins"/>
                <a:ea typeface="Poppins"/>
                <a:cs typeface="Poppins"/>
                <a:sym typeface="Poppins"/>
              </a:rPr>
              <a:t>The following example has a function with two arguments ($fname, $year):</a:t>
            </a:r>
            <a:endParaRPr/>
          </a:p>
        </p:txBody>
      </p:sp>
      <p:sp>
        <p:nvSpPr>
          <p:cNvPr id="657" name="Google Shape;657;p62"/>
          <p:cNvSpPr txBox="1"/>
          <p:nvPr/>
        </p:nvSpPr>
        <p:spPr>
          <a:xfrm>
            <a:off x="6103454" y="2148285"/>
            <a:ext cx="14688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3"/>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b="1"/>
              <a:t>PHP Default Argument Value</a:t>
            </a:r>
            <a:endParaRPr/>
          </a:p>
        </p:txBody>
      </p:sp>
      <p:sp>
        <p:nvSpPr>
          <p:cNvPr id="663" name="Google Shape;663;p63"/>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64" name="Google Shape;664;p63"/>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65" name="Google Shape;665;p63"/>
          <p:cNvSpPr txBox="1"/>
          <p:nvPr/>
        </p:nvSpPr>
        <p:spPr>
          <a:xfrm>
            <a:off x="551329" y="961465"/>
            <a:ext cx="80480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following example shows how to use a default parameter. If we call the function setHeight() without arguments it takes the default value as argument:</a:t>
            </a:r>
            <a:endParaRPr/>
          </a:p>
        </p:txBody>
      </p:sp>
      <p:sp>
        <p:nvSpPr>
          <p:cNvPr id="666" name="Google Shape;666;p63"/>
          <p:cNvSpPr txBox="1"/>
          <p:nvPr/>
        </p:nvSpPr>
        <p:spPr>
          <a:xfrm>
            <a:off x="828000" y="1940071"/>
            <a:ext cx="5778502" cy="246221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setHeight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$minheight</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50</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"The height is : </a:t>
            </a:r>
            <a:r>
              <a:rPr lang="en-US" sz="1400" b="0" i="0" u="none" strike="noStrike" cap="none">
                <a:solidFill>
                  <a:srgbClr val="9CDCFE"/>
                </a:solidFill>
                <a:latin typeface="Consolas"/>
                <a:ea typeface="Consolas"/>
                <a:cs typeface="Consolas"/>
                <a:sym typeface="Consolas"/>
              </a:rPr>
              <a:t>$minheight</a:t>
            </a:r>
            <a:r>
              <a:rPr lang="en-US" sz="1400" b="0" i="0" u="none" strike="noStrike" cap="none">
                <a:solidFill>
                  <a:srgbClr val="CE9178"/>
                </a:solidFill>
                <a:latin typeface="Consolas"/>
                <a:ea typeface="Consolas"/>
                <a:cs typeface="Consolas"/>
                <a:sym typeface="Consolas"/>
              </a:rPr>
              <a:t> &lt;br&gt;"</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setHeight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350</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setHeight</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6A9955"/>
                </a:solidFill>
                <a:latin typeface="Consolas"/>
                <a:ea typeface="Consolas"/>
                <a:cs typeface="Consolas"/>
                <a:sym typeface="Consolas"/>
              </a:rPr>
              <a:t>// will use the default value of 50</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setHeight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135</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setHeight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80</a:t>
            </a:r>
            <a:r>
              <a:rPr lang="en-US" sz="1400" b="0" i="0" u="none" strike="noStrike" cap="none">
                <a:solidFill>
                  <a:srgbClr val="D4D4D4"/>
                </a:solidFill>
                <a:latin typeface="Consolas"/>
                <a:ea typeface="Consolas"/>
                <a:cs typeface="Consolas"/>
                <a:sym typeface="Consolas"/>
              </a:rPr>
              <a:t>);</a:t>
            </a: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?&gt;</a:t>
            </a:r>
            <a:br>
              <a:rPr lang="en-US" sz="1400" b="0" i="0" u="none" strike="noStrike" cap="none">
                <a:solidFill>
                  <a:srgbClr val="CCCCCC"/>
                </a:solidFill>
                <a:latin typeface="Consolas"/>
                <a:ea typeface="Consolas"/>
                <a:cs typeface="Consolas"/>
                <a:sym typeface="Consolas"/>
              </a:rPr>
            </a:br>
            <a:endParaRPr sz="1400" b="0" i="0" u="none" strike="noStrike" cap="none">
              <a:solidFill>
                <a:srgbClr val="CCCCCC"/>
              </a:solidFill>
              <a:latin typeface="Consolas"/>
              <a:ea typeface="Consolas"/>
              <a:cs typeface="Consolas"/>
              <a:sym typeface="Consolas"/>
            </a:endParaRPr>
          </a:p>
        </p:txBody>
      </p:sp>
      <p:pic>
        <p:nvPicPr>
          <p:cNvPr id="667" name="Google Shape;667;p63"/>
          <p:cNvPicPr preferRelativeResize="0"/>
          <p:nvPr/>
        </p:nvPicPr>
        <p:blipFill rotWithShape="1">
          <a:blip r:embed="rId3">
            <a:alphaModFix/>
          </a:blip>
          <a:srcRect l="464" r="8837"/>
          <a:stretch/>
        </p:blipFill>
        <p:spPr>
          <a:xfrm>
            <a:off x="6769286" y="1958155"/>
            <a:ext cx="1494552" cy="9429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64"/>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PHP Functions - Returning values</a:t>
            </a:r>
            <a:endParaRPr b="1"/>
          </a:p>
        </p:txBody>
      </p:sp>
      <p:sp>
        <p:nvSpPr>
          <p:cNvPr id="673" name="Google Shape;673;p64"/>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74" name="Google Shape;674;p64"/>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75" name="Google Shape;675;p64"/>
          <p:cNvSpPr txBox="1"/>
          <p:nvPr/>
        </p:nvSpPr>
        <p:spPr>
          <a:xfrm>
            <a:off x="551329" y="961465"/>
            <a:ext cx="80480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following example shows how to use a default parameter. If we call the function setHeight() without arguments it takes the default value as argument:</a:t>
            </a:r>
            <a:endParaRPr/>
          </a:p>
        </p:txBody>
      </p:sp>
      <p:sp>
        <p:nvSpPr>
          <p:cNvPr id="676" name="Google Shape;676;p64"/>
          <p:cNvSpPr txBox="1"/>
          <p:nvPr/>
        </p:nvSpPr>
        <p:spPr>
          <a:xfrm>
            <a:off x="629022" y="1848800"/>
            <a:ext cx="5778502" cy="267765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&lt;?php</a:t>
            </a:r>
            <a:r>
              <a:rPr lang="en-US" sz="14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sum</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 {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$z</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$x</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$y</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return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$z</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"7 + 13 =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sum</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7</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13</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CE9178"/>
                </a:solidFill>
                <a:latin typeface="Consolas"/>
                <a:ea typeface="Consolas"/>
                <a:cs typeface="Consolas"/>
                <a:sym typeface="Consolas"/>
              </a:rPr>
              <a:t>"&lt;br&gt;"</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"2 + 4 = "</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sum</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4</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?&gt;</a:t>
            </a:r>
            <a:br>
              <a:rPr lang="en-US" sz="1400" b="0" i="0" u="none" strike="noStrike" cap="none">
                <a:solidFill>
                  <a:srgbClr val="CCCCCC"/>
                </a:solidFill>
                <a:latin typeface="Consolas"/>
                <a:ea typeface="Consolas"/>
                <a:cs typeface="Consolas"/>
                <a:sym typeface="Consolas"/>
              </a:rPr>
            </a:br>
            <a:endParaRPr sz="1400" b="0" i="0" u="none" strike="noStrike" cap="none">
              <a:solidFill>
                <a:srgbClr val="CCCCCC"/>
              </a:solidFill>
              <a:latin typeface="Consolas"/>
              <a:ea typeface="Consolas"/>
              <a:cs typeface="Consolas"/>
              <a:sym typeface="Consolas"/>
            </a:endParaRPr>
          </a:p>
        </p:txBody>
      </p:sp>
      <p:pic>
        <p:nvPicPr>
          <p:cNvPr id="677" name="Google Shape;677;p64"/>
          <p:cNvPicPr preferRelativeResize="0"/>
          <p:nvPr/>
        </p:nvPicPr>
        <p:blipFill rotWithShape="1">
          <a:blip r:embed="rId3">
            <a:alphaModFix/>
          </a:blip>
          <a:srcRect/>
          <a:stretch/>
        </p:blipFill>
        <p:spPr>
          <a:xfrm>
            <a:off x="6624383" y="2199022"/>
            <a:ext cx="1685379" cy="74545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5"/>
          <p:cNvSpPr txBox="1">
            <a:spLocks noGrp="1"/>
          </p:cNvSpPr>
          <p:nvPr>
            <p:ph type="title"/>
          </p:nvPr>
        </p:nvSpPr>
        <p:spPr>
          <a:xfrm>
            <a:off x="367302" y="195127"/>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i="0">
                <a:solidFill>
                  <a:schemeClr val="accent2"/>
                </a:solidFill>
              </a:rPr>
              <a:t>Variable Number of Arguments</a:t>
            </a:r>
            <a:br>
              <a:rPr lang="en-US" sz="2400" i="0">
                <a:solidFill>
                  <a:schemeClr val="accent2"/>
                </a:solidFill>
              </a:rPr>
            </a:br>
            <a:br>
              <a:rPr lang="en-US" sz="2400">
                <a:solidFill>
                  <a:schemeClr val="accent2"/>
                </a:solidFill>
              </a:rPr>
            </a:br>
            <a:endParaRPr sz="2400">
              <a:solidFill>
                <a:schemeClr val="accent2"/>
              </a:solidFill>
            </a:endParaRPr>
          </a:p>
        </p:txBody>
      </p:sp>
      <p:sp>
        <p:nvSpPr>
          <p:cNvPr id="683" name="Google Shape;683;p65"/>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84" name="Google Shape;684;p65"/>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5" name="Google Shape;685;p65"/>
          <p:cNvSpPr txBox="1"/>
          <p:nvPr/>
        </p:nvSpPr>
        <p:spPr>
          <a:xfrm>
            <a:off x="547967" y="779646"/>
            <a:ext cx="8048065"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By using the </a:t>
            </a:r>
            <a:r>
              <a:rPr lang="en-US" sz="2800" b="0" i="0" u="none" strike="noStrike" cap="none">
                <a:solidFill>
                  <a:schemeClr val="lt1"/>
                </a:solidFill>
                <a:latin typeface="Poppins"/>
                <a:ea typeface="Poppins"/>
                <a:cs typeface="Poppins"/>
                <a:sym typeface="Poppins"/>
              </a:rPr>
              <a:t>...</a:t>
            </a:r>
            <a:r>
              <a:rPr lang="en-US" sz="1400" b="0" i="0" u="none" strike="noStrike" cap="none">
                <a:solidFill>
                  <a:srgbClr val="000000"/>
                </a:solidFill>
                <a:latin typeface="Arial"/>
                <a:ea typeface="Arial"/>
                <a:cs typeface="Arial"/>
                <a:sym typeface="Arial"/>
              </a:rPr>
              <a:t> operator in front of the function parameter, the function accepts an unknown number of arguments. This is also called a </a:t>
            </a:r>
            <a:r>
              <a:rPr lang="en-US" sz="1400" b="1" i="0" u="none" strike="noStrike" cap="none">
                <a:solidFill>
                  <a:srgbClr val="000000"/>
                </a:solidFill>
                <a:latin typeface="Arial"/>
                <a:ea typeface="Arial"/>
                <a:cs typeface="Arial"/>
                <a:sym typeface="Arial"/>
              </a:rPr>
              <a:t>variadic function</a:t>
            </a:r>
            <a:r>
              <a:rPr lang="en-US"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Verdana"/>
                <a:ea typeface="Verdana"/>
                <a:cs typeface="Verdana"/>
                <a:sym typeface="Verdana"/>
              </a:rPr>
              <a:t>The variadic function argument becomes an array.</a:t>
            </a:r>
            <a:endParaRPr sz="1400" b="0" i="0" u="none" strike="noStrike" cap="none">
              <a:solidFill>
                <a:srgbClr val="000000"/>
              </a:solidFill>
              <a:latin typeface="Arial"/>
              <a:ea typeface="Arial"/>
              <a:cs typeface="Arial"/>
              <a:sym typeface="Arial"/>
            </a:endParaRPr>
          </a:p>
        </p:txBody>
      </p:sp>
      <p:sp>
        <p:nvSpPr>
          <p:cNvPr id="686" name="Google Shape;686;p65"/>
          <p:cNvSpPr txBox="1"/>
          <p:nvPr/>
        </p:nvSpPr>
        <p:spPr>
          <a:xfrm>
            <a:off x="657822" y="1864726"/>
            <a:ext cx="5778502" cy="28931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function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sumMyNumbers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$numbers</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$total</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$len</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count</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$numbers</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for</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B5CEA8"/>
                </a:solidFill>
                <a:latin typeface="Consolas"/>
                <a:ea typeface="Consolas"/>
                <a:cs typeface="Consolas"/>
                <a:sym typeface="Consolas"/>
              </a:rPr>
              <a:t>0</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&lt; </a:t>
            </a:r>
            <a:r>
              <a:rPr lang="en-US" sz="1400" b="0" i="0" u="none" strike="noStrike" cap="none">
                <a:solidFill>
                  <a:srgbClr val="9CDCFE"/>
                </a:solidFill>
                <a:latin typeface="Consolas"/>
                <a:ea typeface="Consolas"/>
                <a:cs typeface="Consolas"/>
                <a:sym typeface="Consolas"/>
              </a:rPr>
              <a:t>$len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$total</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9CDCFE"/>
                </a:solidFill>
                <a:latin typeface="Consolas"/>
                <a:ea typeface="Consolas"/>
                <a:cs typeface="Consolas"/>
                <a:sym typeface="Consolas"/>
              </a:rPr>
              <a:t>$numbers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$i</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C586C0"/>
                </a:solidFill>
                <a:latin typeface="Consolas"/>
                <a:ea typeface="Consolas"/>
                <a:cs typeface="Consolas"/>
                <a:sym typeface="Consolas"/>
              </a:rPr>
              <a:t>return</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$total</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$sum</a:t>
            </a:r>
            <a:r>
              <a:rPr lang="en-US" sz="1400" b="0" i="0" u="none" strike="noStrike" cap="none">
                <a:solidFill>
                  <a:srgbClr val="D4D4D4"/>
                </a:solidFill>
                <a:latin typeface="Consolas"/>
                <a:ea typeface="Consolas"/>
                <a:cs typeface="Consolas"/>
                <a:sym typeface="Consolas"/>
              </a:rPr>
              <a:t> = </a:t>
            </a:r>
            <a:r>
              <a:rPr lang="en-US" sz="1400" b="0" i="0" u="none" strike="noStrike" cap="none">
                <a:solidFill>
                  <a:srgbClr val="DCDCAA"/>
                </a:solidFill>
                <a:latin typeface="Consolas"/>
                <a:ea typeface="Consolas"/>
                <a:cs typeface="Consolas"/>
                <a:sym typeface="Consolas"/>
              </a:rPr>
              <a:t>sumMyNumbers</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B5CEA8"/>
                </a:solidFill>
                <a:latin typeface="Consolas"/>
                <a:ea typeface="Consolas"/>
                <a:cs typeface="Consolas"/>
                <a:sym typeface="Consolas"/>
              </a:rPr>
              <a:t>5</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echo</a:t>
            </a:r>
            <a:r>
              <a:rPr lang="en-US" sz="1400" b="0" i="0" u="none" strike="noStrike" cap="none">
                <a:solidFill>
                  <a:srgbClr val="D4D4D4"/>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$sum</a:t>
            </a:r>
            <a:r>
              <a:rPr lang="en-US" sz="1400" b="0" i="0" u="none" strike="noStrike" cap="none">
                <a:solidFill>
                  <a:srgbClr val="D4D4D4"/>
                </a:solidFill>
                <a:latin typeface="Consolas"/>
                <a:ea typeface="Consolas"/>
                <a:cs typeface="Consolas"/>
                <a:sym typeface="Consolas"/>
              </a:rPr>
              <a:t>;</a:t>
            </a:r>
            <a:endParaRPr sz="14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endParaRPr sz="1400" b="0" i="0" u="none" strike="noStrike" cap="none">
              <a:solidFill>
                <a:srgbClr val="CCCCCC"/>
              </a:solidFill>
              <a:latin typeface="Consolas"/>
              <a:ea typeface="Consolas"/>
              <a:cs typeface="Consolas"/>
              <a:sym typeface="Consolas"/>
            </a:endParaRPr>
          </a:p>
        </p:txBody>
      </p:sp>
      <p:sp>
        <p:nvSpPr>
          <p:cNvPr id="687" name="Google Shape;687;p65"/>
          <p:cNvSpPr txBox="1"/>
          <p:nvPr/>
        </p:nvSpPr>
        <p:spPr>
          <a:xfrm>
            <a:off x="6508562" y="1946613"/>
            <a:ext cx="14688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a:t>
            </a:r>
            <a:endParaRPr sz="1400" b="1" i="0" u="none" strike="noStrike" cap="none">
              <a:solidFill>
                <a:srgbClr val="000000"/>
              </a:solidFill>
              <a:latin typeface="Arial"/>
              <a:ea typeface="Arial"/>
              <a:cs typeface="Arial"/>
              <a:sym typeface="Arial"/>
            </a:endParaRPr>
          </a:p>
        </p:txBody>
      </p:sp>
      <p:sp>
        <p:nvSpPr>
          <p:cNvPr id="688" name="Google Shape;688;p65"/>
          <p:cNvSpPr txBox="1"/>
          <p:nvPr/>
        </p:nvSpPr>
        <p:spPr>
          <a:xfrm>
            <a:off x="6508562" y="2333661"/>
            <a:ext cx="848508"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30</a:t>
            </a:r>
            <a:endParaRPr sz="3200" b="1" i="0" u="none" strike="noStrike" cap="non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66"/>
          <p:cNvSpPr txBox="1">
            <a:spLocks noGrp="1"/>
          </p:cNvSpPr>
          <p:nvPr>
            <p:ph type="title"/>
          </p:nvPr>
        </p:nvSpPr>
        <p:spPr>
          <a:xfrm>
            <a:off x="331200" y="153513"/>
            <a:ext cx="5953346"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Variable Local and Global Scope </a:t>
            </a:r>
            <a:endParaRPr b="1"/>
          </a:p>
        </p:txBody>
      </p:sp>
      <p:sp>
        <p:nvSpPr>
          <p:cNvPr id="694" name="Google Shape;694;p66"/>
          <p:cNvSpPr txBox="1"/>
          <p:nvPr/>
        </p:nvSpPr>
        <p:spPr>
          <a:xfrm>
            <a:off x="828000" y="1456325"/>
            <a:ext cx="72504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D4D4D4"/>
              </a:solidFill>
              <a:latin typeface="Consolas"/>
              <a:ea typeface="Consolas"/>
              <a:cs typeface="Consolas"/>
              <a:sym typeface="Consolas"/>
            </a:endParaRPr>
          </a:p>
        </p:txBody>
      </p:sp>
      <p:sp>
        <p:nvSpPr>
          <p:cNvPr id="695" name="Google Shape;695;p66"/>
          <p:cNvSpPr/>
          <p:nvPr/>
        </p:nvSpPr>
        <p:spPr>
          <a:xfrm>
            <a:off x="353854" y="684000"/>
            <a:ext cx="8458946" cy="4204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6" name="Google Shape;696;p66"/>
          <p:cNvSpPr txBox="1"/>
          <p:nvPr/>
        </p:nvSpPr>
        <p:spPr>
          <a:xfrm>
            <a:off x="403412" y="726213"/>
            <a:ext cx="838673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 variable declared outside a function has a GLOBAL SCOPE and can only be accessed outside a function.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 variable declared within a function has a LOCAL SCOPE and can only be accessed within that function. </a:t>
            </a:r>
            <a:endParaRPr/>
          </a:p>
        </p:txBody>
      </p:sp>
      <p:sp>
        <p:nvSpPr>
          <p:cNvPr id="697" name="Google Shape;697;p66"/>
          <p:cNvSpPr txBox="1"/>
          <p:nvPr/>
        </p:nvSpPr>
        <p:spPr>
          <a:xfrm>
            <a:off x="403412" y="1864108"/>
            <a:ext cx="4094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PHP The global Keyword </a:t>
            </a:r>
            <a:endParaRPr/>
          </a:p>
        </p:txBody>
      </p:sp>
      <p:sp>
        <p:nvSpPr>
          <p:cNvPr id="698" name="Google Shape;698;p66"/>
          <p:cNvSpPr txBox="1"/>
          <p:nvPr/>
        </p:nvSpPr>
        <p:spPr>
          <a:xfrm>
            <a:off x="526724" y="2628041"/>
            <a:ext cx="3203788"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The global keyword is used to access a global variable from within a function.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To do this, use the global keyword before the variables (inside the function): </a:t>
            </a:r>
            <a:endParaRPr/>
          </a:p>
        </p:txBody>
      </p:sp>
      <p:sp>
        <p:nvSpPr>
          <p:cNvPr id="699" name="Google Shape;699;p66"/>
          <p:cNvSpPr txBox="1"/>
          <p:nvPr/>
        </p:nvSpPr>
        <p:spPr>
          <a:xfrm>
            <a:off x="3903381" y="1960116"/>
            <a:ext cx="4202207" cy="267765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&lt;?php</a:t>
            </a:r>
            <a:r>
              <a:rPr lang="en-US" sz="1200" b="0" i="0" u="none" strike="noStrike" cap="none">
                <a:solidFill>
                  <a:srgbClr val="D4D4D4"/>
                </a:solidFill>
                <a:latin typeface="Consolas"/>
                <a:ea typeface="Consolas"/>
                <a:cs typeface="Consolas"/>
                <a:sym typeface="Consolas"/>
              </a:rPr>
              <a:t> </a:t>
            </a:r>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5</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9CDCFE"/>
                </a:solidFill>
                <a:latin typeface="Consolas"/>
                <a:ea typeface="Consolas"/>
                <a:cs typeface="Consolas"/>
                <a:sym typeface="Consolas"/>
              </a:rPr>
              <a:t>$y</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10</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function</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myTest</a:t>
            </a:r>
            <a:r>
              <a:rPr lang="en-US" sz="1200" b="0" i="0" u="none" strike="noStrike" cap="none">
                <a:solidFill>
                  <a:srgbClr val="D4D4D4"/>
                </a:solidFill>
                <a:latin typeface="Consolas"/>
                <a:ea typeface="Consolas"/>
                <a:cs typeface="Consolas"/>
                <a:sym typeface="Consolas"/>
              </a:rPr>
              <a:t>() {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global</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$y</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$y</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$x</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$y</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myTest</a:t>
            </a:r>
            <a:r>
              <a:rPr lang="en-US" sz="1200" b="0" i="0" u="none" strike="noStrike" cap="none">
                <a:solidFill>
                  <a:srgbClr val="D4D4D4"/>
                </a:solidFill>
                <a:latin typeface="Consolas"/>
                <a:ea typeface="Consolas"/>
                <a:cs typeface="Consolas"/>
                <a:sym typeface="Consolas"/>
              </a:rPr>
              <a:t>();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echo</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$y</a:t>
            </a:r>
            <a:r>
              <a:rPr lang="en-US" sz="1200" b="0" i="0" u="none" strike="noStrike" cap="none">
                <a:solidFill>
                  <a:srgbClr val="D4D4D4"/>
                </a:solidFill>
                <a:latin typeface="Consolas"/>
                <a:ea typeface="Consolas"/>
                <a:cs typeface="Consolas"/>
                <a:sym typeface="Consolas"/>
              </a:rPr>
              <a:t>; </a:t>
            </a:r>
            <a:r>
              <a:rPr lang="en-US" sz="1200" b="0" i="0" u="none" strike="noStrike" cap="none">
                <a:solidFill>
                  <a:srgbClr val="6A9955"/>
                </a:solidFill>
                <a:latin typeface="Consolas"/>
                <a:ea typeface="Consolas"/>
                <a:cs typeface="Consolas"/>
                <a:sym typeface="Consolas"/>
              </a:rPr>
              <a:t>// outputs 15 </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569CD6"/>
                </a:solidFill>
                <a:latin typeface="Consolas"/>
                <a:ea typeface="Consolas"/>
                <a:cs typeface="Consolas"/>
                <a:sym typeface="Consolas"/>
              </a:rPr>
              <a:t>?&gt;</a:t>
            </a:r>
            <a:br>
              <a:rPr lang="en-US" sz="1200" b="0" i="0" u="none" strike="noStrike" cap="none">
                <a:solidFill>
                  <a:srgbClr val="CCCCCC"/>
                </a:solidFill>
                <a:latin typeface="Consolas"/>
                <a:ea typeface="Consolas"/>
                <a:cs typeface="Consolas"/>
                <a:sym typeface="Consolas"/>
              </a:rPr>
            </a:br>
            <a:endParaRPr sz="1200" b="0" i="0" u="none" strike="noStrike" cap="none">
              <a:solidFill>
                <a:srgbClr val="CCCCCC"/>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name="Senior Frontend Developer Portfolio by Slidesgo">
  <a:themeElements>
    <a:clrScheme name="Simple Light">
      <a:dk1>
        <a:srgbClr val="FFFFFF"/>
      </a:dk1>
      <a:lt1>
        <a:srgbClr val="292828"/>
      </a:lt1>
      <a:dk2>
        <a:srgbClr val="A67FF1"/>
      </a:dk2>
      <a:lt2>
        <a:srgbClr val="F5B150"/>
      </a:lt2>
      <a:accent1>
        <a:srgbClr val="C0E67A"/>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5454</Words>
  <Application>Microsoft Office PowerPoint</Application>
  <PresentationFormat>On-screen Show (16:9)</PresentationFormat>
  <Paragraphs>638</Paragraphs>
  <Slides>66</Slides>
  <Notes>66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Open Sans</vt:lpstr>
      <vt:lpstr>Verdana</vt:lpstr>
      <vt:lpstr>Times New Roman</vt:lpstr>
      <vt:lpstr>Consolas</vt:lpstr>
      <vt:lpstr>Aldrich</vt:lpstr>
      <vt:lpstr>Arial</vt:lpstr>
      <vt:lpstr>Poppins</vt:lpstr>
      <vt:lpstr>Senior Frontend Developer Portfolio by Slidesgo</vt:lpstr>
      <vt:lpstr>Introduction to PHP</vt:lpstr>
      <vt:lpstr>Client-Side Programming</vt:lpstr>
      <vt:lpstr>Server-Side Programming</vt:lpstr>
      <vt:lpstr>Advantages of PHP over Other Languages</vt:lpstr>
      <vt:lpstr>WHAT IS PHP</vt:lpstr>
      <vt:lpstr>What is a PHP File?</vt:lpstr>
      <vt:lpstr>PHP Syntax</vt:lpstr>
      <vt:lpstr>Basic PHP Syntax </vt:lpstr>
      <vt:lpstr>Basic PHP Syntax </vt:lpstr>
      <vt:lpstr>PHP echo and print Statements ❮ PreviousNext ❯  </vt:lpstr>
      <vt:lpstr>PHP echo and print Statements ❮ PreviousNext ❯  </vt:lpstr>
      <vt:lpstr>Setting Up a Local Web Server</vt:lpstr>
      <vt:lpstr>Setting Up a Local Web Server</vt:lpstr>
      <vt:lpstr>Setting Up a Local Web Server</vt:lpstr>
      <vt:lpstr>Example. Follow the steps below.</vt:lpstr>
      <vt:lpstr>Example. Follow the steps below.</vt:lpstr>
      <vt:lpstr>PHP Variables</vt:lpstr>
      <vt:lpstr>Variables in PHP</vt:lpstr>
      <vt:lpstr>Rules in Declaring Variables </vt:lpstr>
      <vt:lpstr>Variables in PHP</vt:lpstr>
      <vt:lpstr>PowerPoint Presentation</vt:lpstr>
      <vt:lpstr>PHP Concatenation </vt:lpstr>
      <vt:lpstr>Loosely typed language</vt:lpstr>
      <vt:lpstr>PHP 5 Data Types </vt:lpstr>
      <vt:lpstr>PHP Operators</vt:lpstr>
      <vt:lpstr>Arithmetic Operators</vt:lpstr>
      <vt:lpstr>Assignment Operators </vt:lpstr>
      <vt:lpstr>Comparison Operators </vt:lpstr>
      <vt:lpstr>Logical Operators </vt:lpstr>
      <vt:lpstr>Example</vt:lpstr>
      <vt:lpstr>Conditional Statements </vt:lpstr>
      <vt:lpstr>Conditional Statements </vt:lpstr>
      <vt:lpstr>PHP IF STATEMENT </vt:lpstr>
      <vt:lpstr>PHP IF-ELSE STATEMENT </vt:lpstr>
      <vt:lpstr>PHP ELSE-IF STATEMENT </vt:lpstr>
      <vt:lpstr>The Switch Statement </vt:lpstr>
      <vt:lpstr>Exercise 1 (operators)</vt:lpstr>
      <vt:lpstr>Exercise</vt:lpstr>
      <vt:lpstr>Exercise output</vt:lpstr>
      <vt:lpstr>Loops</vt:lpstr>
      <vt:lpstr>PHP Looping</vt:lpstr>
      <vt:lpstr>PHP while Statement </vt:lpstr>
      <vt:lpstr>The do...while Statement </vt:lpstr>
      <vt:lpstr>The for Statement </vt:lpstr>
      <vt:lpstr>The foreach Statement </vt:lpstr>
      <vt:lpstr>PHP Arrays </vt:lpstr>
      <vt:lpstr>PHP Arrays</vt:lpstr>
      <vt:lpstr>In PHP, there are three kinds of arrays:</vt:lpstr>
      <vt:lpstr>Create Array</vt:lpstr>
      <vt:lpstr>Multiple Lines</vt:lpstr>
      <vt:lpstr>PHP Numeric Arrays</vt:lpstr>
      <vt:lpstr>PHP Associative Arrays </vt:lpstr>
      <vt:lpstr>PHP Associative Arrays </vt:lpstr>
      <vt:lpstr>PHP Multidimensional Arrays </vt:lpstr>
      <vt:lpstr>PHP - Two-dimensional Arrays  </vt:lpstr>
      <vt:lpstr>PHP - Two-dimensional Arrays  </vt:lpstr>
      <vt:lpstr>PHP - Two-dimensional Arrays  </vt:lpstr>
      <vt:lpstr>PHP - Two-dimensional Arrays  </vt:lpstr>
      <vt:lpstr>Functions</vt:lpstr>
      <vt:lpstr>PHP Functions – User Defined </vt:lpstr>
      <vt:lpstr>Function with Arguments </vt:lpstr>
      <vt:lpstr>Function with Multiple Arguments  </vt:lpstr>
      <vt:lpstr>PHP Default Argument Value</vt:lpstr>
      <vt:lpstr>PHP Functions - Returning values</vt:lpstr>
      <vt:lpstr>Variable Number of Arguments  </vt:lpstr>
      <vt:lpstr>Variable Local and Global Scope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Bryan Emmanuel Paz</cp:lastModifiedBy>
  <cp:revision>1</cp:revision>
  <dcterms:modified xsi:type="dcterms:W3CDTF">2026-10-02T20:49:03Z</dcterms:modified>
</cp:coreProperties>
</file>